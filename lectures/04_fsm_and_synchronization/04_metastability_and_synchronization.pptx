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2" r:id="rId4"/>
    <p:sldId id="273" r:id="rId5"/>
    <p:sldId id="274" r:id="rId6"/>
    <p:sldId id="317" r:id="rId7"/>
    <p:sldId id="275" r:id="rId8"/>
    <p:sldId id="262" r:id="rId9"/>
    <p:sldId id="258" r:id="rId10"/>
    <p:sldId id="271" r:id="rId11"/>
    <p:sldId id="260" r:id="rId12"/>
    <p:sldId id="259" r:id="rId13"/>
    <p:sldId id="263" r:id="rId14"/>
    <p:sldId id="261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96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6CC22-A22C-478D-8B11-F013F531467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8D963-6D62-45AC-B220-7F9E45F83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1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8D963-6D62-45AC-B220-7F9E45F83C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36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6E15-D7BE-1DF1-BE78-084CC98EB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34B48-AE21-2A94-84AF-B7C32A993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83F57-E221-9267-91B2-E217172F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07BCA-34A0-5FDD-D72D-5B10FA0C0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0A7B6-601B-9B26-A578-75549EDC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4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6763-F8CB-49AC-EE31-E9A61AEF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670FC-B7AC-21EF-F9EF-0CEC634A4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29171-A27F-F3A9-F4C9-EC4459CB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900E6-6465-45D5-A4A7-DB3943838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C4777-01E9-50F1-E840-6BBAC856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85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74A3-046C-9E2F-C460-D807A7FC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1C7F8-0DD6-038C-660F-782F8D5AB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A0516-453F-AC42-766B-6600056D9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E7DDC-3119-3E4C-8BFC-262C147C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35A56-2E50-F1D9-C5EF-F2060DAD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2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80808-23ED-C442-FD06-36005FC5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9D454-C5FB-23DD-7CBC-B080A65F7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11C1A-9D37-06F8-D488-5C9C08958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AA97E-4033-79B8-C163-CAE23B44F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E26C4-AF68-C7C0-7E8D-33C14DE4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F210-6658-96AD-80C5-8F079E35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1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2044-2148-946C-78AC-2452795A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3CD46-5C0F-A810-8D27-F55E0BE73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D032E-5BB7-3AA3-A791-6826DD13E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88022-4FB4-776C-D665-196A13B79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02D30-0EE8-23D2-529A-7327771AD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2E294-EEAD-3719-4AB1-009DCCAA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05592-F8B9-DB69-75D1-6AE6B49D1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5E1167-02DC-2D2D-B80E-7DC5DBD6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3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A85AE-6FBA-4890-E51E-75BCA616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E28FE4-F7CA-E767-021F-182514FA4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4F6BF-D910-775E-9955-E4DC2347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76CFA-7F9F-CF5E-101B-159253E1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7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F7121-F307-ED27-E4EB-248230F9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F846E-C80B-A669-DF4C-64414DB4F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66ADE-AE4C-096B-A908-B8D46EF8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13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1057F-8D21-4211-EC9F-E4AEB419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013FA-77FB-AC07-5B19-6AD376FB7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D3948-CD58-C1D5-77D7-AC4988A11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16590-42FE-4279-0ABD-E3DE4AF8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993FC-720F-60A4-CDDB-0C3C56621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64C75-17C4-FEDE-C42B-A15E4D2B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9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3D8F-3C45-3AD2-8559-20750329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BE9002-E7F2-4568-2BAE-1800EC965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6B633-B2B9-EB63-645C-878DCDCA5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22CEC-DF1D-2D03-CB43-0EA263E9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F9502-ABC1-E64C-C3F8-0FA16478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88469-A77F-7230-CB2B-9923C423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A19A-35C0-861C-72F6-10AF4B8D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B10AF-555F-C7EA-328E-8968F6EB3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B099B-F08B-1A95-5D6C-4201C377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E0FC5-8315-C3F4-3613-55286EDE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EDA12-CE8E-817D-917A-2F8D581C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8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CCAC0E-C941-A0E6-5A78-CA5B6533D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435E8-D040-64D4-1132-717E4AD0B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6B80D-DC35-1AE0-D72A-A467812D3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26995-7830-E8D2-5620-D22FAA10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04E62-B710-2D06-A104-73ABF66F0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CED090-7AFA-B449-3BCF-4E4A1EBA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CB170-2706-24ED-8823-30950E347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1121B-19AF-CCFD-582E-3114BE3B2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28508-B3BF-4476-A9C9-5E0D62ED271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A2F45-81E8-E9F0-4256-E0043142B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02232-7EFC-ACDF-99DB-CFE035781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BFA-421A-43E5-A91D-2FFABF17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drdv2-public.intel.com/650346/wp-01082-quartus-ii-metastability.pdf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picture.iczhiku.com/resource/eetop/shiwuYyKkIJsqVcm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A86F-13E7-019B-482D-38A76657F1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Метастабильность и синхронизация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B22CD-729A-3858-DFB5-DDDC353B161B}"/>
              </a:ext>
            </a:extLst>
          </p:cNvPr>
          <p:cNvSpPr txBox="1"/>
          <p:nvPr/>
        </p:nvSpPr>
        <p:spPr>
          <a:xfrm>
            <a:off x="4240941" y="3841750"/>
            <a:ext cx="3710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Literature:</a:t>
            </a: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Understanding metastability in FPGAs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747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5FAEC1-606E-8621-5B6E-3D317DAF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 </a:t>
            </a:r>
            <a:r>
              <a:rPr lang="ru-RU" dirty="0"/>
              <a:t>триггер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86C34-AAC0-C08C-BB5F-05D3261F4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377" y="1524000"/>
            <a:ext cx="4645547" cy="5022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8C34A6-B34A-5577-5BB3-F0F328C47079}"/>
              </a:ext>
            </a:extLst>
          </p:cNvPr>
          <p:cNvSpPr txBox="1"/>
          <p:nvPr/>
        </p:nvSpPr>
        <p:spPr>
          <a:xfrm>
            <a:off x="692150" y="2630438"/>
            <a:ext cx="48641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+mj-lt"/>
              <a:buAutoNum type="arabicPeriod"/>
            </a:pPr>
            <a:r>
              <a:rPr lang="ru-RU" sz="1600" b="1" i="1" dirty="0" err="1">
                <a:solidFill>
                  <a:srgbClr val="4C4B4A"/>
                </a:solidFill>
                <a:effectLst/>
                <a:latin typeface="inherit"/>
              </a:rPr>
              <a:t>Tsetup</a:t>
            </a:r>
            <a:r>
              <a:rPr lang="ru-RU" sz="1600" b="1" i="1" dirty="0">
                <a:solidFill>
                  <a:srgbClr val="4C4B4A"/>
                </a:solidFill>
                <a:effectLst/>
                <a:latin typeface="inherit"/>
              </a:rPr>
              <a:t> (</a:t>
            </a:r>
            <a:r>
              <a:rPr lang="ru-RU" sz="1600" b="1" i="1" dirty="0" err="1">
                <a:solidFill>
                  <a:srgbClr val="4C4B4A"/>
                </a:solidFill>
                <a:effectLst/>
                <a:latin typeface="inherit"/>
              </a:rPr>
              <a:t>tsu</a:t>
            </a:r>
            <a:r>
              <a:rPr lang="ru-RU" sz="1600" b="1" i="1" dirty="0">
                <a:solidFill>
                  <a:srgbClr val="4C4B4A"/>
                </a:solidFill>
                <a:effectLst/>
                <a:latin typeface="inherit"/>
              </a:rPr>
              <a:t>)</a:t>
            </a:r>
            <a:r>
              <a:rPr lang="ru-RU" sz="1600" b="0" i="0" dirty="0">
                <a:solidFill>
                  <a:srgbClr val="4C4B4A"/>
                </a:solidFill>
                <a:effectLst/>
                <a:latin typeface="inherit"/>
              </a:rPr>
              <a:t> — время предустановки данных (время, в течение которого данные на входе триггера должны быть неизменны до фронта тактовой частоты).</a:t>
            </a:r>
          </a:p>
          <a:p>
            <a:pPr algn="l" fontAlgn="base">
              <a:buFont typeface="+mj-lt"/>
              <a:buAutoNum type="arabicPeriod"/>
            </a:pPr>
            <a:r>
              <a:rPr lang="ru-RU" sz="1600" b="1" i="1" dirty="0" err="1">
                <a:solidFill>
                  <a:srgbClr val="4C4B4A"/>
                </a:solidFill>
                <a:effectLst/>
                <a:latin typeface="inherit"/>
              </a:rPr>
              <a:t>Thold</a:t>
            </a:r>
            <a:r>
              <a:rPr lang="ru-RU" sz="1600" b="1" i="1" dirty="0">
                <a:solidFill>
                  <a:srgbClr val="4C4B4A"/>
                </a:solidFill>
                <a:effectLst/>
                <a:latin typeface="inherit"/>
              </a:rPr>
              <a:t> (</a:t>
            </a:r>
            <a:r>
              <a:rPr lang="ru-RU" sz="1600" b="1" i="1" dirty="0" err="1">
                <a:solidFill>
                  <a:srgbClr val="4C4B4A"/>
                </a:solidFill>
                <a:effectLst/>
                <a:latin typeface="inherit"/>
              </a:rPr>
              <a:t>th</a:t>
            </a:r>
            <a:r>
              <a:rPr lang="ru-RU" sz="1600" b="1" i="1" dirty="0">
                <a:solidFill>
                  <a:srgbClr val="4C4B4A"/>
                </a:solidFill>
                <a:effectLst/>
                <a:latin typeface="inherit"/>
              </a:rPr>
              <a:t>)</a:t>
            </a:r>
            <a:r>
              <a:rPr lang="ru-RU" sz="1600" b="0" i="0" dirty="0">
                <a:solidFill>
                  <a:srgbClr val="4C4B4A"/>
                </a:solidFill>
                <a:effectLst/>
                <a:latin typeface="inherit"/>
              </a:rPr>
              <a:t> — время удержания данных (время, в течение которого данные на входе триггера должны быть неизменны после фронта тактовой частоты).</a:t>
            </a:r>
          </a:p>
          <a:p>
            <a:pPr algn="l" fontAlgn="base">
              <a:buFont typeface="+mj-lt"/>
              <a:buAutoNum type="arabicPeriod"/>
            </a:pPr>
            <a:r>
              <a:rPr lang="ru-RU" sz="1600" b="1" i="1" dirty="0" err="1">
                <a:solidFill>
                  <a:srgbClr val="4C4B4A"/>
                </a:solidFill>
                <a:effectLst/>
                <a:latin typeface="inherit"/>
              </a:rPr>
              <a:t>Tclock-to-out</a:t>
            </a:r>
            <a:r>
              <a:rPr lang="ru-RU" sz="1600" b="1" i="1" dirty="0">
                <a:solidFill>
                  <a:srgbClr val="4C4B4A"/>
                </a:solidFill>
                <a:effectLst/>
                <a:latin typeface="inherit"/>
              </a:rPr>
              <a:t> (</a:t>
            </a:r>
            <a:r>
              <a:rPr lang="ru-RU" sz="1600" b="1" i="1" dirty="0" err="1">
                <a:solidFill>
                  <a:srgbClr val="4C4B4A"/>
                </a:solidFill>
                <a:effectLst/>
                <a:latin typeface="inherit"/>
              </a:rPr>
              <a:t>tco</a:t>
            </a:r>
            <a:r>
              <a:rPr lang="ru-RU" sz="1600" b="1" i="1" dirty="0">
                <a:solidFill>
                  <a:srgbClr val="4C4B4A"/>
                </a:solidFill>
                <a:effectLst/>
                <a:latin typeface="inherit"/>
              </a:rPr>
              <a:t>)</a:t>
            </a:r>
            <a:r>
              <a:rPr lang="ru-RU" sz="1600" b="0" i="0" dirty="0">
                <a:solidFill>
                  <a:srgbClr val="4C4B4A"/>
                </a:solidFill>
                <a:effectLst/>
                <a:latin typeface="inherit"/>
              </a:rPr>
              <a:t> — время появления данных на выходе триггера после фронта тактовой частоты.</a:t>
            </a:r>
          </a:p>
        </p:txBody>
      </p:sp>
    </p:spTree>
    <p:extLst>
      <p:ext uri="{BB962C8B-B14F-4D97-AF65-F5344CB8AC3E}">
        <p14:creationId xmlns:p14="http://schemas.microsoft.com/office/powerpoint/2010/main" val="2772546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37FB-EEF0-F977-4C36-A7A584FB5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constraint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72DD8-F53D-FD92-816A-0D68AE170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2667270"/>
            <a:ext cx="10515600" cy="41391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D97123-BBC6-42AE-EC00-63601B570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783" y="594102"/>
            <a:ext cx="4793267" cy="191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91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861EC-48D4-8EAB-AE1F-D89E56B0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DC2C-74C9-0E4E-1832-449F39971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Hold constraint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C1435-EF70-EEC4-5985-189ADFE1D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783" y="594102"/>
            <a:ext cx="4793267" cy="19194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16D57F-0EEA-5B73-53EC-628572808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2814636"/>
            <a:ext cx="10071100" cy="37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4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DEC2-2DB9-CD6E-971C-C077ECA0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corners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F034B-1870-8677-1B51-0486CE9E5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900363"/>
            <a:ext cx="2558190" cy="1125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99254E-5DE9-83B3-7B6C-4011CBF283D2}"/>
              </a:ext>
            </a:extLst>
          </p:cNvPr>
          <p:cNvSpPr txBox="1"/>
          <p:nvPr/>
        </p:nvSpPr>
        <p:spPr>
          <a:xfrm>
            <a:off x="1022350" y="1574800"/>
            <a:ext cx="110357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 зависимости от внешних условий время распространения сигнала в схеме может отличаться.</a:t>
            </a:r>
          </a:p>
          <a:p>
            <a:r>
              <a:rPr lang="ru-RU" dirty="0"/>
              <a:t>Поэтому обычно предоставляется несколько конфигураций.</a:t>
            </a:r>
          </a:p>
          <a:p>
            <a:r>
              <a:rPr lang="ru-RU" dirty="0"/>
              <a:t>Для </a:t>
            </a:r>
            <a:r>
              <a:rPr lang="en-US" dirty="0"/>
              <a:t>setup constraints </a:t>
            </a:r>
            <a:r>
              <a:rPr lang="ru-RU" dirty="0"/>
              <a:t>обычно используется самый медленный угол, а для </a:t>
            </a:r>
            <a:r>
              <a:rPr lang="en-US" dirty="0"/>
              <a:t>hold </a:t>
            </a:r>
            <a:r>
              <a:rPr lang="ru-RU" dirty="0"/>
              <a:t>соответственно самый быстрый.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207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492FB-A563-D490-1E68-BB8071CC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Избегайте циклов в комбинационной логике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75323E-04C7-48B1-E5AB-8F1A2AAE7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83" y="2886262"/>
            <a:ext cx="4298950" cy="1819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452E29-0E6F-53FD-75AC-57FE4A5C6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768" y="2831585"/>
            <a:ext cx="3530732" cy="21979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FDA1B8-80FF-A778-B99C-0CF9A48AECBB}"/>
              </a:ext>
            </a:extLst>
          </p:cNvPr>
          <p:cNvSpPr txBox="1"/>
          <p:nvPr/>
        </p:nvSpPr>
        <p:spPr>
          <a:xfrm>
            <a:off x="838200" y="1506022"/>
            <a:ext cx="10771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Циклы в комбинационной логике делают невозможным просчет задержки, а порой приводят к генерации.</a:t>
            </a:r>
          </a:p>
          <a:p>
            <a:r>
              <a:rPr lang="ru-RU" dirty="0"/>
              <a:t>Базово такие вещи не допускаются синтезатором и требуют особой обработки.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17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5E5EAD-12BE-608C-442F-309E26A8A717}"/>
              </a:ext>
            </a:extLst>
          </p:cNvPr>
          <p:cNvSpPr/>
          <p:nvPr/>
        </p:nvSpPr>
        <p:spPr>
          <a:xfrm>
            <a:off x="1066800" y="3908107"/>
            <a:ext cx="5105400" cy="80853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E8193-14C0-8EC8-AE97-C2C4EB8A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задать ограничения</a:t>
            </a:r>
            <a:r>
              <a:rPr lang="en-US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77ED5-822B-09B1-875F-AA1E129B7833}"/>
              </a:ext>
            </a:extLst>
          </p:cNvPr>
          <p:cNvSpPr txBox="1"/>
          <p:nvPr/>
        </p:nvSpPr>
        <p:spPr>
          <a:xfrm>
            <a:off x="1066800" y="3908107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create_clock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-period 50MHz -name clk [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get_ports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clk]</a:t>
            </a:r>
          </a:p>
          <a:p>
            <a:pPr marL="0" marR="0" indent="0" algn="l">
              <a:buNone/>
            </a:pP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derive_pll_clocks</a:t>
            </a:r>
            <a:endParaRPr lang="en-US" sz="105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>
              <a:buNone/>
            </a:pP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derive_clock_uncertainty</a:t>
            </a:r>
            <a:endParaRPr lang="en-US" sz="105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>
              <a:buNone/>
            </a:pP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set_false_path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-from [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get_registers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{led*}] -to [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get_ports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{led*}]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D53DA6-496F-5092-C80E-7D79274DC889}"/>
              </a:ext>
            </a:extLst>
          </p:cNvPr>
          <p:cNvSpPr txBox="1"/>
          <p:nvPr/>
        </p:nvSpPr>
        <p:spPr>
          <a:xfrm>
            <a:off x="781050" y="2953742"/>
            <a:ext cx="707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>
              <a:buFont typeface="Arial" panose="020B0604020202020204" pitchFamily="34" charset="0"/>
              <a:buChar char="•"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Создаем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*.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sdc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файл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File-&gt;New-&gt;Synopsys design constraints</a:t>
            </a:r>
            <a:endParaRPr lang="en-US" sz="1050" dirty="0">
              <a:solidFill>
                <a:srgbClr val="000000"/>
              </a:solidFill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записываем</a:t>
            </a:r>
            <a:r>
              <a:rPr lang="en-US" dirty="0"/>
              <a:t> в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: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609E7-3C07-DBDD-0EB6-2B695D35DB9D}"/>
              </a:ext>
            </a:extLst>
          </p:cNvPr>
          <p:cNvSpPr txBox="1"/>
          <p:nvPr/>
        </p:nvSpPr>
        <p:spPr>
          <a:xfrm>
            <a:off x="977900" y="1860550"/>
            <a:ext cx="9715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Если все источниками всех сигналов являются регистры, то все пути можно просчитать и синтезировать схему таким образом чтобы она удовлетворяла требованиям (вплоть до некоторой максимально достижимой тактовой частоты)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E1B3DF-3AE5-81E8-03C5-178F670BA55D}"/>
              </a:ext>
            </a:extLst>
          </p:cNvPr>
          <p:cNvSpPr txBox="1"/>
          <p:nvPr/>
        </p:nvSpPr>
        <p:spPr>
          <a:xfrm>
            <a:off x="977900" y="5219700"/>
            <a:ext cx="3712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В каких случаях такое невозможно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76634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22F49C-96AA-6941-12B8-42AA84479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950" y="996949"/>
            <a:ext cx="4613081" cy="5578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EA0D2B-00D8-C29E-0CDF-DA40BC2B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Нарушение </a:t>
            </a:r>
            <a:r>
              <a:rPr lang="en-US" dirty="0"/>
              <a:t>T-setup/T-hold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D4963-1C5E-573F-6FA2-6C9155FB2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087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обычных условиях, когда сигналы синхронны, синтезатор сам позаботится о соблюдении ограничений.</a:t>
            </a:r>
          </a:p>
          <a:p>
            <a:pPr marL="0" indent="0">
              <a:buNone/>
            </a:pPr>
            <a:r>
              <a:rPr lang="ru-RU" sz="2000" dirty="0"/>
              <a:t>Наиболее частые причины нарушений </a:t>
            </a:r>
            <a:r>
              <a:rPr lang="en-US" sz="2000" dirty="0"/>
              <a:t>T-setup/T-hold:</a:t>
            </a:r>
          </a:p>
          <a:p>
            <a:r>
              <a:rPr lang="ru-RU" sz="2000" dirty="0"/>
              <a:t>Сэмплирование внешних сигналов</a:t>
            </a:r>
          </a:p>
          <a:p>
            <a:r>
              <a:rPr lang="en-US" sz="2000" dirty="0"/>
              <a:t>Crossing clock domain</a:t>
            </a:r>
            <a:r>
              <a:rPr lang="ru-RU" sz="2000" dirty="0"/>
              <a:t> </a:t>
            </a:r>
          </a:p>
          <a:p>
            <a:endParaRPr lang="ru-RU" sz="2000" dirty="0"/>
          </a:p>
          <a:p>
            <a:pPr marL="0" indent="0">
              <a:buNone/>
            </a:pPr>
            <a:r>
              <a:rPr lang="ru-RU" sz="2000" b="1" dirty="0"/>
              <a:t>Синхронная передача </a:t>
            </a:r>
            <a:r>
              <a:rPr lang="ru-RU" sz="2000" dirty="0"/>
              <a:t>– когда оба регистра (передающий и принимающий) тактируются от одного</a:t>
            </a:r>
            <a:r>
              <a:rPr lang="en-US" sz="2000" dirty="0"/>
              <a:t> </a:t>
            </a:r>
            <a:r>
              <a:rPr lang="ru-RU" sz="2000" dirty="0"/>
              <a:t>тактового сигнала </a:t>
            </a:r>
            <a:r>
              <a:rPr lang="ru-RU" sz="1600" dirty="0"/>
              <a:t>(или от синхронных источников).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95671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D272-4594-3967-9C62-69A7E8B1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912"/>
            <a:ext cx="6232301" cy="866887"/>
          </a:xfrm>
        </p:spPr>
        <p:txBody>
          <a:bodyPr/>
          <a:lstStyle/>
          <a:p>
            <a:r>
              <a:rPr lang="ru-RU" dirty="0"/>
              <a:t>Метастабильность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95A41-2068-D680-DF48-D501FE26E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15789"/>
            <a:ext cx="10096500" cy="40967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FF2214-EA63-21A1-8683-673A2DEFC7BD}"/>
              </a:ext>
            </a:extLst>
          </p:cNvPr>
          <p:cNvSpPr txBox="1"/>
          <p:nvPr/>
        </p:nvSpPr>
        <p:spPr>
          <a:xfrm>
            <a:off x="838200" y="1115590"/>
            <a:ext cx="10271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В случае если </a:t>
            </a:r>
            <a:r>
              <a:rPr lang="en-US" sz="1600" b="1" dirty="0"/>
              <a:t>T</a:t>
            </a:r>
            <a:r>
              <a:rPr lang="ru-RU" sz="1600" b="1" dirty="0"/>
              <a:t>-</a:t>
            </a:r>
            <a:r>
              <a:rPr lang="en-US" sz="1600" b="1" dirty="0"/>
              <a:t>setup </a:t>
            </a:r>
            <a:r>
              <a:rPr lang="ru-RU" sz="1600" b="1" dirty="0"/>
              <a:t>или </a:t>
            </a:r>
            <a:r>
              <a:rPr lang="en-US" sz="1600" b="1" dirty="0"/>
              <a:t>T-hold </a:t>
            </a:r>
            <a:r>
              <a:rPr lang="ru-RU" sz="1600" b="1" dirty="0"/>
              <a:t>не соблюдены</a:t>
            </a:r>
            <a:r>
              <a:rPr lang="ru-RU" sz="1600" dirty="0"/>
              <a:t>, то триггер может попасть в </a:t>
            </a:r>
            <a:r>
              <a:rPr lang="ru-RU" sz="1600" b="1" dirty="0"/>
              <a:t>метастабильное состояние</a:t>
            </a:r>
            <a:r>
              <a:rPr lang="ru-RU" sz="1600" dirty="0"/>
              <a:t>. Попав в данное состояние, напряжение на выходе регистра может какое-то время может быть неопределенным и разрешиться в любое из двух состояний </a:t>
            </a:r>
            <a:r>
              <a:rPr lang="en-US" sz="1600" dirty="0"/>
              <a:t>‘0’ </a:t>
            </a:r>
            <a:r>
              <a:rPr lang="ru-RU" sz="1600" dirty="0"/>
              <a:t>или </a:t>
            </a:r>
            <a:r>
              <a:rPr lang="en-US" sz="1600" dirty="0"/>
              <a:t>‘1’.</a:t>
            </a:r>
          </a:p>
        </p:txBody>
      </p:sp>
    </p:spTree>
    <p:extLst>
      <p:ext uri="{BB962C8B-B14F-4D97-AF65-F5344CB8AC3E}">
        <p14:creationId xmlns:p14="http://schemas.microsoft.com/office/powerpoint/2010/main" val="2969253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C683-5D7F-CCB1-EA39-0B4B89D6D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16681"/>
            <a:ext cx="4876800" cy="911225"/>
          </a:xfrm>
        </p:spPr>
        <p:txBody>
          <a:bodyPr/>
          <a:lstStyle/>
          <a:p>
            <a:r>
              <a:rPr lang="ru-RU" dirty="0" err="1"/>
              <a:t>Метастабильность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5D109-F1CE-F750-0AC8-BFF887442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799" y="4424524"/>
            <a:ext cx="6853851" cy="2316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CBECA2-D6EF-52DA-5B39-E59D84EE6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020" y="1027906"/>
            <a:ext cx="5808408" cy="308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17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7D8F-FA10-250D-7D44-33CAFA67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275"/>
            <a:ext cx="10515600" cy="1325563"/>
          </a:xfrm>
        </p:spPr>
        <p:txBody>
          <a:bodyPr/>
          <a:lstStyle/>
          <a:p>
            <a:r>
              <a:rPr lang="ru-RU" dirty="0"/>
              <a:t>Решение проблемы метастабильности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4DEE80-791F-1166-2CDB-9ED0F0684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35" y="1164904"/>
            <a:ext cx="5494071" cy="55248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35F4A8-47AB-53DA-E67C-E4D6F40570FC}"/>
              </a:ext>
            </a:extLst>
          </p:cNvPr>
          <p:cNvSpPr txBox="1"/>
          <p:nvPr/>
        </p:nvSpPr>
        <p:spPr>
          <a:xfrm>
            <a:off x="4992694" y="5712146"/>
            <a:ext cx="1443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FF0000"/>
                </a:solidFill>
              </a:rPr>
              <a:t>Сценарий маловероятен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F167B8-4F5D-14A6-C79A-C1AF5EBD0DC4}"/>
              </a:ext>
            </a:extLst>
          </p:cNvPr>
          <p:cNvSpPr txBox="1"/>
          <p:nvPr/>
        </p:nvSpPr>
        <p:spPr>
          <a:xfrm>
            <a:off x="4841875" y="3665704"/>
            <a:ext cx="1593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FF0000"/>
                </a:solidFill>
              </a:rPr>
              <a:t>Фронт может смещаться на 1 </a:t>
            </a:r>
            <a:r>
              <a:rPr lang="en-US" sz="1400" dirty="0">
                <a:solidFill>
                  <a:srgbClr val="FF0000"/>
                </a:solidFill>
              </a:rPr>
              <a:t>clk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FEB5AF-EA68-68F1-3EF8-00684F469DEF}"/>
              </a:ext>
            </a:extLst>
          </p:cNvPr>
          <p:cNvCxnSpPr>
            <a:cxnSpLocks/>
          </p:cNvCxnSpPr>
          <p:nvPr/>
        </p:nvCxnSpPr>
        <p:spPr>
          <a:xfrm>
            <a:off x="9626600" y="3740150"/>
            <a:ext cx="1422400" cy="123825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15A6D2-3C86-E219-55CF-F47DAA59E25E}"/>
              </a:ext>
            </a:extLst>
          </p:cNvPr>
          <p:cNvSpPr txBox="1"/>
          <p:nvPr/>
        </p:nvSpPr>
        <p:spPr>
          <a:xfrm>
            <a:off x="408667" y="3650315"/>
            <a:ext cx="43084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Подобная схема называется </a:t>
            </a:r>
            <a:r>
              <a:rPr lang="ru-RU" sz="1600" b="1" dirty="0"/>
              <a:t>синхронизатором</a:t>
            </a:r>
            <a:r>
              <a:rPr lang="en-US" sz="1600" dirty="0"/>
              <a:t>:</a:t>
            </a:r>
          </a:p>
          <a:p>
            <a:r>
              <a:rPr lang="ru-RU" sz="1600" dirty="0"/>
              <a:t>Она принимает на </a:t>
            </a:r>
            <a:r>
              <a:rPr lang="ru-RU" sz="1600" b="1" dirty="0"/>
              <a:t>вход асинхронный </a:t>
            </a:r>
            <a:r>
              <a:rPr lang="ru-RU" sz="1600" dirty="0"/>
              <a:t>сигнал, а на выходе выдает </a:t>
            </a:r>
            <a:r>
              <a:rPr lang="en-US" sz="1600" dirty="0"/>
              <a:t>‘</a:t>
            </a:r>
            <a:r>
              <a:rPr lang="ru-RU" sz="1600" dirty="0"/>
              <a:t>синхронную версию</a:t>
            </a:r>
            <a:r>
              <a:rPr lang="en-US" sz="1600" dirty="0"/>
              <a:t>’</a:t>
            </a:r>
            <a:r>
              <a:rPr lang="ru-RU" sz="1600" dirty="0"/>
              <a:t> этого сигнала.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73F64A9-AC28-DCFD-9854-92F445200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94" y="1253791"/>
            <a:ext cx="6103527" cy="211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8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85179-B653-9860-CF56-9B40ABDD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0" y="71172"/>
            <a:ext cx="9004300" cy="812800"/>
          </a:xfrm>
        </p:spPr>
        <p:txBody>
          <a:bodyPr/>
          <a:lstStyle/>
          <a:p>
            <a:r>
              <a:rPr lang="en-US" dirty="0"/>
              <a:t>MTBF (Mean Time Between Failures)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F5E04-9199-52D9-9197-3080C73CD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1005398"/>
            <a:ext cx="3519360" cy="11600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8429D6-52D1-721F-7967-E03AF268E2A8}"/>
                  </a:ext>
                </a:extLst>
              </p:cNvPr>
              <p:cNvSpPr txBox="1"/>
              <p:nvPr/>
            </p:nvSpPr>
            <p:spPr>
              <a:xfrm>
                <a:off x="603250" y="2443914"/>
                <a:ext cx="71628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константы зависящие от технологического процесса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</m:oMath>
                </a14:m>
                <a:r>
                  <a:rPr lang="en-US" dirty="0"/>
                  <a:t>- </a:t>
                </a:r>
                <a:r>
                  <a:rPr lang="ru-RU" dirty="0"/>
                  <a:t>частота тактирования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</m:oMath>
                </a14:m>
                <a:r>
                  <a:rPr lang="ru-RU" dirty="0"/>
                  <a:t> - средняя частота переключения входного сигнала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𝑚𝑒𝑡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время доступное для установления сигнала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8429D6-52D1-721F-7967-E03AF268E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" y="2443914"/>
                <a:ext cx="7162800" cy="1200329"/>
              </a:xfrm>
              <a:prstGeom prst="rect">
                <a:avLst/>
              </a:prstGeom>
              <a:blipFill>
                <a:blip r:embed="rId3"/>
                <a:stretch>
                  <a:fillRect l="-596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0A7CDC5-46EF-7456-F80D-19E7B87F0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444" y="1022034"/>
            <a:ext cx="4567105" cy="15807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40B632-527A-54B9-E3E5-62D2FE1A599A}"/>
              </a:ext>
            </a:extLst>
          </p:cNvPr>
          <p:cNvSpPr txBox="1"/>
          <p:nvPr/>
        </p:nvSpPr>
        <p:spPr>
          <a:xfrm>
            <a:off x="647700" y="3778250"/>
            <a:ext cx="105151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Quartus </a:t>
            </a:r>
            <a:r>
              <a:rPr lang="ru-RU" dirty="0"/>
              <a:t>может посчитать вам </a:t>
            </a:r>
            <a:r>
              <a:rPr lang="en-US" dirty="0"/>
              <a:t>MTBF </a:t>
            </a:r>
            <a:r>
              <a:rPr lang="ru-RU" dirty="0"/>
              <a:t>для всех синхронизаторов в дизайне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</a:t>
            </a:r>
            <a:r>
              <a:rPr lang="en-US" dirty="0"/>
              <a:t>Assignments-&gt;Settings-&gt;Timing Analyzer</a:t>
            </a:r>
            <a:r>
              <a:rPr lang="ru-RU" dirty="0"/>
              <a:t>-</a:t>
            </a:r>
            <a:r>
              <a:rPr lang="en-US" dirty="0"/>
              <a:t>&gt;Synchronizer identification </a:t>
            </a:r>
            <a:r>
              <a:rPr lang="ru-RU" dirty="0"/>
              <a:t>установите в </a:t>
            </a:r>
            <a:r>
              <a:rPr lang="en-US" dirty="0"/>
              <a:t>Force if asynchronous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После синтеза в разделе </a:t>
            </a:r>
            <a:r>
              <a:rPr lang="en-US" dirty="0"/>
              <a:t>Timing Analyzer-&gt;</a:t>
            </a:r>
            <a:r>
              <a:rPr lang="ru-RU" dirty="0"/>
              <a:t>Сценарий(например 1200 </a:t>
            </a:r>
            <a:r>
              <a:rPr lang="en-US" dirty="0"/>
              <a:t>slow)</a:t>
            </a:r>
            <a:r>
              <a:rPr lang="ru-RU" dirty="0"/>
              <a:t>-</a:t>
            </a:r>
            <a:r>
              <a:rPr lang="en-US" dirty="0"/>
              <a:t>&gt; metastability summary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F50D1F-F9E2-73E1-FE9A-BB35DA2C4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4835587"/>
            <a:ext cx="6477904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97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5D153-5AD2-BE92-E21C-C6E90629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ru-RU" dirty="0"/>
              <a:t>Ограничения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A17A3B-96CA-0AB2-2FDF-62485519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76" y="3997325"/>
            <a:ext cx="3193024" cy="2516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472021-B271-A777-37B8-CED85BEBC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805" y="1270000"/>
            <a:ext cx="6550343" cy="545465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D272729-EB1F-8362-44F6-044249B53F2D}"/>
              </a:ext>
            </a:extLst>
          </p:cNvPr>
          <p:cNvCxnSpPr/>
          <p:nvPr/>
        </p:nvCxnSpPr>
        <p:spPr>
          <a:xfrm>
            <a:off x="9194800" y="4597400"/>
            <a:ext cx="1638300" cy="15875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8145FD8-F3F6-7BF1-152A-96FFD1E05088}"/>
              </a:ext>
            </a:extLst>
          </p:cNvPr>
          <p:cNvSpPr txBox="1"/>
          <p:nvPr/>
        </p:nvSpPr>
        <p:spPr>
          <a:xfrm>
            <a:off x="9425042" y="4297318"/>
            <a:ext cx="140805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FF0000"/>
                </a:solidFill>
              </a:rPr>
              <a:t>Фронты сдвинулись друг относительно друга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F0EBC6-645D-ABCF-A2A5-751418475247}"/>
              </a:ext>
            </a:extLst>
          </p:cNvPr>
          <p:cNvSpPr txBox="1"/>
          <p:nvPr/>
        </p:nvSpPr>
        <p:spPr>
          <a:xfrm>
            <a:off x="686425" y="1725770"/>
            <a:ext cx="469538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Можно синхронизировать только независимые друг от друга сигналы.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Таким образом нельзя синхронизировать целую шину данных.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25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191F1-9149-738B-C8DB-2A2093F9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050" y="390525"/>
            <a:ext cx="4921250" cy="752475"/>
          </a:xfrm>
        </p:spPr>
        <p:txBody>
          <a:bodyPr/>
          <a:lstStyle/>
          <a:p>
            <a:r>
              <a:rPr lang="en-US" dirty="0"/>
              <a:t>Asynchronous FIFO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7D12F-B02A-2882-3AA4-56ED394B6A77}"/>
              </a:ext>
            </a:extLst>
          </p:cNvPr>
          <p:cNvSpPr txBox="1"/>
          <p:nvPr/>
        </p:nvSpPr>
        <p:spPr>
          <a:xfrm>
            <a:off x="908050" y="6098143"/>
            <a:ext cx="942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Clifford E. Cummings “Simulation and Synthesis Techniques for Asynchronous FIFO Design”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AE7F9-7CA2-E7E4-01D0-9C3D58961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47" y="3156308"/>
            <a:ext cx="5077534" cy="2219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AF8F40-5972-99F3-FC39-D1549D831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396" y="2194053"/>
            <a:ext cx="5297925" cy="31818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F8F5DE-5890-F95C-18B8-12D9F37CFC39}"/>
              </a:ext>
            </a:extLst>
          </p:cNvPr>
          <p:cNvSpPr txBox="1"/>
          <p:nvPr/>
        </p:nvSpPr>
        <p:spPr>
          <a:xfrm>
            <a:off x="908050" y="1295069"/>
            <a:ext cx="7829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Если необходимо синхронизировать параллельную шину данных, то потребуется использовать более сложную структуру – </a:t>
            </a:r>
            <a:r>
              <a:rPr lang="en-US" dirty="0"/>
              <a:t>Asynchronous FIFO</a:t>
            </a:r>
          </a:p>
        </p:txBody>
      </p:sp>
    </p:spTree>
    <p:extLst>
      <p:ext uri="{BB962C8B-B14F-4D97-AF65-F5344CB8AC3E}">
        <p14:creationId xmlns:p14="http://schemas.microsoft.com/office/powerpoint/2010/main" val="3466254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A5DD45-4B53-62CA-69DB-6F46BFBC8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060" y="1676858"/>
            <a:ext cx="3981450" cy="2935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02F15D-74B4-9C6E-17BA-7AD353E7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260" y="249397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Простейший пример (Кнопка)</a:t>
            </a:r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896F2C-9D4D-E1B2-D1E6-99E8599C3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117" y="2933965"/>
            <a:ext cx="2895029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411BBB-F6D7-FCAA-E38B-60D8B6486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364" y="4808856"/>
            <a:ext cx="6130012" cy="17997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6CC7E3-3848-9DB0-C019-1190D629D7B7}"/>
              </a:ext>
            </a:extLst>
          </p:cNvPr>
          <p:cNvSpPr txBox="1"/>
          <p:nvPr/>
        </p:nvSpPr>
        <p:spPr>
          <a:xfrm>
            <a:off x="8540764" y="1771915"/>
            <a:ext cx="3065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В отпущенном состоянии – 1.</a:t>
            </a:r>
          </a:p>
          <a:p>
            <a:r>
              <a:rPr lang="ru-RU" dirty="0">
                <a:solidFill>
                  <a:srgbClr val="FF0000"/>
                </a:solidFill>
              </a:rPr>
              <a:t>В нажатом – 0.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472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4480-63D7-0018-73D9-CD648371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Простейшее устройство с кнопкой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EF756-2DEE-375D-FB55-32A0D57A4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50" y="3782740"/>
            <a:ext cx="5492750" cy="1612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E51F9E-0060-5EB7-F59A-AEE1A98CFF03}"/>
              </a:ext>
            </a:extLst>
          </p:cNvPr>
          <p:cNvSpPr txBox="1"/>
          <p:nvPr/>
        </p:nvSpPr>
        <p:spPr>
          <a:xfrm>
            <a:off x="838200" y="2449772"/>
            <a:ext cx="35433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button_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btn,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 = btn;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91CD6-6994-E042-1545-E574CEB8CA01}"/>
              </a:ext>
            </a:extLst>
          </p:cNvPr>
          <p:cNvSpPr txBox="1"/>
          <p:nvPr/>
        </p:nvSpPr>
        <p:spPr>
          <a:xfrm>
            <a:off x="838200" y="1606975"/>
            <a:ext cx="10322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Простейший модуль, который делает так, чтобы диод горел при нажатой кнопке.</a:t>
            </a:r>
            <a:endParaRPr lang="en-US" dirty="0"/>
          </a:p>
          <a:p>
            <a:r>
              <a:rPr lang="ru-RU" dirty="0"/>
              <a:t>Но зачастую мы хотим произвести некоторое действие по нажатию.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8E9DFA-09F2-EE83-1899-278B9E261B63}"/>
              </a:ext>
            </a:extLst>
          </p:cNvPr>
          <p:cNvSpPr txBox="1"/>
          <p:nvPr/>
        </p:nvSpPr>
        <p:spPr>
          <a:xfrm>
            <a:off x="838200" y="4490717"/>
            <a:ext cx="2986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Задача</a:t>
            </a:r>
            <a:r>
              <a:rPr lang="en-US" b="1" dirty="0"/>
              <a:t>:</a:t>
            </a:r>
          </a:p>
          <a:p>
            <a:r>
              <a:rPr lang="ru-RU" dirty="0"/>
              <a:t>Написать модуль, который будет включать</a:t>
            </a:r>
            <a:r>
              <a:rPr lang="en-US" dirty="0"/>
              <a:t>/</a:t>
            </a:r>
            <a:r>
              <a:rPr lang="ru-RU" dirty="0"/>
              <a:t>выключать диод по нажатию кнопки.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7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4127E-00BD-216F-6BD6-D589FD1C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048" y="107547"/>
            <a:ext cx="10515600" cy="1325563"/>
          </a:xfrm>
        </p:spPr>
        <p:txBody>
          <a:bodyPr/>
          <a:lstStyle/>
          <a:p>
            <a:r>
              <a:rPr lang="ru-RU" dirty="0"/>
              <a:t>Детекция фронта сигнала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8A06CB-8ACC-BBB0-15AD-DACFE7CAA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749" y="2332037"/>
            <a:ext cx="5806122" cy="36833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B2896D-9CF7-DCA5-E185-579B60543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19" y="3429000"/>
            <a:ext cx="4566495" cy="21167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ADEA1D-2CC2-98B9-54E2-A702CDAB8FCB}"/>
              </a:ext>
            </a:extLst>
          </p:cNvPr>
          <p:cNvSpPr txBox="1"/>
          <p:nvPr/>
        </p:nvSpPr>
        <p:spPr>
          <a:xfrm>
            <a:off x="748048" y="1433110"/>
            <a:ext cx="7080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Детектировать фронты сигнала можно с помощью следующей схемы.</a:t>
            </a:r>
          </a:p>
        </p:txBody>
      </p:sp>
    </p:spTree>
    <p:extLst>
      <p:ext uri="{BB962C8B-B14F-4D97-AF65-F5344CB8AC3E}">
        <p14:creationId xmlns:p14="http://schemas.microsoft.com/office/powerpoint/2010/main" val="2241837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BCA750-3527-7A9E-5043-4A1567D4D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018" y="3812789"/>
            <a:ext cx="7817106" cy="28755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697B87-4FE1-5595-77B3-4C0ED30BB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00882" cy="1038672"/>
          </a:xfrm>
        </p:spPr>
        <p:txBody>
          <a:bodyPr/>
          <a:lstStyle/>
          <a:p>
            <a:r>
              <a:rPr lang="ru-RU" dirty="0"/>
              <a:t>Переключение диода по нажатию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70B97-DBEC-9D1F-2F37-5CE0AC39220A}"/>
              </a:ext>
            </a:extLst>
          </p:cNvPr>
          <p:cNvSpPr txBox="1"/>
          <p:nvPr/>
        </p:nvSpPr>
        <p:spPr>
          <a:xfrm>
            <a:off x="838200" y="1599228"/>
            <a:ext cx="609492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button(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clk,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btn,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first 2 registers for synchronization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and one more for detection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btn_delay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2'b1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btn_syn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btn_syn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btn_syn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&lt;= btn;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btn_press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btn_press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(~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btn_syn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&amp;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btn_syn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led_state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btn_press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led_state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~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led_state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 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led_state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538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F88AF-D6BA-58DA-9C99-130838D68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Дребезг контактов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528F27-DFAE-E7FF-6DDC-3464580EB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75" y="3429000"/>
            <a:ext cx="5259725" cy="25831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C051FA-E0A3-0ED5-52F9-64669A62EE67}"/>
              </a:ext>
            </a:extLst>
          </p:cNvPr>
          <p:cNvSpPr txBox="1"/>
          <p:nvPr/>
        </p:nvSpPr>
        <p:spPr>
          <a:xfrm>
            <a:off x="838200" y="1811338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Кнопка замыкается не единомоментно а </a:t>
            </a:r>
            <a:r>
              <a:rPr lang="ru-RU" dirty="0" err="1"/>
              <a:t>сдребезгом</a:t>
            </a:r>
            <a:r>
              <a:rPr lang="ru-RU" dirty="0"/>
              <a:t>. Поэтому вместо одного нажатия может быть сгенерировано множественное нажатие. Есть разные способы борьбы с дребезгом. Простейший способ - подождать ~10 </a:t>
            </a:r>
            <a:r>
              <a:rPr lang="ru-RU" dirty="0" err="1"/>
              <a:t>мсек</a:t>
            </a:r>
            <a:r>
              <a:rPr lang="ru-RU" dirty="0"/>
              <a:t> после первого срабатывания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326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291DFD-352C-AD62-BB76-9857E7DFC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293" y="1262733"/>
            <a:ext cx="4059657" cy="32168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65B0B7-97F1-E716-FBE3-5A84297D0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149225"/>
            <a:ext cx="10515600" cy="1325563"/>
          </a:xfrm>
        </p:spPr>
        <p:txBody>
          <a:bodyPr/>
          <a:lstStyle/>
          <a:p>
            <a:r>
              <a:rPr lang="ru-RU" dirty="0"/>
              <a:t>Реализация устранения дребезга</a:t>
            </a:r>
            <a:br>
              <a:rPr lang="ru-RU" dirty="0"/>
            </a:br>
            <a:r>
              <a:rPr lang="en-US" sz="3600" dirty="0"/>
              <a:t>state machine</a:t>
            </a:r>
            <a:r>
              <a:rPr lang="ru-RU" sz="3600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1406B3-E5F5-D244-3867-C0BBAFCCACD1}"/>
              </a:ext>
            </a:extLst>
          </p:cNvPr>
          <p:cNvSpPr txBox="1"/>
          <p:nvPr/>
        </p:nvSpPr>
        <p:spPr>
          <a:xfrm>
            <a:off x="539750" y="1849438"/>
            <a:ext cx="83439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DENOISE_DELAY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BW_DENOISE_CNT = $clog2(DENOISE_DELAY);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[BW_DENOISE_CNT-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denoise_cnt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{BW_DENOISE_CNT{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DENOISE_ST_READY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DENOISE_ST_WAITING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DENOISE_ST_READY;</a:t>
            </a:r>
          </a:p>
          <a:p>
            <a:pPr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==DENOISE_ST_READY &amp;&amp;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btn_press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DENOISE_ST_WAITING;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denoise_cnt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{BW_DENOISE_CNT{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==DENOISE_ST_WAITING &amp;&amp;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denoise_cnt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==DENOISE_DELAY-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DENOISE_ST_READY;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denoise_cnt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denoise_cnt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200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C0B7-6A2C-0384-148E-6A9BCAF3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Полный модуль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B2E73-B2C5-8C23-9FEE-9644EACD4D45}"/>
              </a:ext>
            </a:extLst>
          </p:cNvPr>
          <p:cNvSpPr txBox="1"/>
          <p:nvPr/>
        </p:nvSpPr>
        <p:spPr>
          <a:xfrm>
            <a:off x="196849" y="1690688"/>
            <a:ext cx="5137149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button(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clk,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btn,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btn_delay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2'b1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btn_delay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btn_delay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btn_delay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&lt;= btn;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btn_press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btn_press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(~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btn_delay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&amp;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btn_delay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DENOISE_DELAY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BW_DENOISE_CNT = $clog2(DENOISE_DELAY);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[BW_DENOISE_CNT-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denoise_cnt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{BW_DENOISE_CNT{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DENOISE_ST_READY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DENOISE_ST_WAITING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DENOISE_ST_READY;</a:t>
            </a:r>
          </a:p>
          <a:p>
            <a:pPr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B693D-6197-2D83-7A1F-64952ED5B669}"/>
              </a:ext>
            </a:extLst>
          </p:cNvPr>
          <p:cNvSpPr txBox="1"/>
          <p:nvPr/>
        </p:nvSpPr>
        <p:spPr>
          <a:xfrm>
            <a:off x="5264151" y="1616332"/>
            <a:ext cx="6781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05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==DENOISE_ST_READY &amp;&amp;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btn_press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DENOISE_ST_WAITING;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denoise_cnt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{BW_DENOISE_CNT{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==DENOISE_ST_WAITING &amp;&amp;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denoise_cnt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==DENOISE_DELAY-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DENOISE_ST_READY;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denoise_cnt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denoise_cnt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led_state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btn_press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denoise_st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==DENOISE_ST_READY)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led_state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~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led_state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 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led_state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0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217E4C-57C2-080A-5213-0269CA01FB85}"/>
              </a:ext>
            </a:extLst>
          </p:cNvPr>
          <p:cNvCxnSpPr/>
          <p:nvPr/>
        </p:nvCxnSpPr>
        <p:spPr>
          <a:xfrm>
            <a:off x="5264150" y="1334850"/>
            <a:ext cx="0" cy="4387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65A2D6-41FD-9050-69BC-1C0C10072D21}"/>
              </a:ext>
            </a:extLst>
          </p:cNvPr>
          <p:cNvCxnSpPr>
            <a:cxnSpLocks/>
          </p:cNvCxnSpPr>
          <p:nvPr/>
        </p:nvCxnSpPr>
        <p:spPr>
          <a:xfrm>
            <a:off x="196850" y="1444994"/>
            <a:ext cx="0" cy="4387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578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1333</Words>
  <Application>Microsoft Office PowerPoint</Application>
  <PresentationFormat>Widescreen</PresentationFormat>
  <Paragraphs>163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-apple-system</vt:lpstr>
      <vt:lpstr>Arial</vt:lpstr>
      <vt:lpstr>Calibri</vt:lpstr>
      <vt:lpstr>Calibri Light</vt:lpstr>
      <vt:lpstr>Cambria Math</vt:lpstr>
      <vt:lpstr>Consolas</vt:lpstr>
      <vt:lpstr>inherit</vt:lpstr>
      <vt:lpstr>Office Theme</vt:lpstr>
      <vt:lpstr>Метастабильность и синхронизация</vt:lpstr>
      <vt:lpstr>D триггер</vt:lpstr>
      <vt:lpstr>Setup constraint</vt:lpstr>
      <vt:lpstr>Hold constraint</vt:lpstr>
      <vt:lpstr>Timing corners</vt:lpstr>
      <vt:lpstr>Избегайте циклов в комбинационной логике</vt:lpstr>
      <vt:lpstr>Как задать ограничения?</vt:lpstr>
      <vt:lpstr>Нарушение T-setup/T-hold</vt:lpstr>
      <vt:lpstr>Метастабильность</vt:lpstr>
      <vt:lpstr>Метастабильность</vt:lpstr>
      <vt:lpstr>Решение проблемы метастабильности</vt:lpstr>
      <vt:lpstr>MTBF (Mean Time Between Failures)</vt:lpstr>
      <vt:lpstr>Ограничения</vt:lpstr>
      <vt:lpstr>Asynchronous FIFO</vt:lpstr>
      <vt:lpstr>Простейший пример (Кнопка)</vt:lpstr>
      <vt:lpstr>Простейшее устройство с кнопкой</vt:lpstr>
      <vt:lpstr>Детекция фронта сигнала</vt:lpstr>
      <vt:lpstr>Переключение диода по нажатию</vt:lpstr>
      <vt:lpstr>Дребезг контактов</vt:lpstr>
      <vt:lpstr>Реализация устранения дребезга state machine </vt:lpstr>
      <vt:lpstr>Полный модуль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саша буссе</dc:creator>
  <cp:lastModifiedBy>саша буссе</cp:lastModifiedBy>
  <cp:revision>19</cp:revision>
  <dcterms:created xsi:type="dcterms:W3CDTF">2025-11-09T15:22:50Z</dcterms:created>
  <dcterms:modified xsi:type="dcterms:W3CDTF">2026-10-05T21:24:13Z</dcterms:modified>
</cp:coreProperties>
</file>