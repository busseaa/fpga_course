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8" r:id="rId2"/>
    <p:sldId id="321" r:id="rId3"/>
    <p:sldId id="323" r:id="rId4"/>
    <p:sldId id="322" r:id="rId5"/>
    <p:sldId id="324" r:id="rId6"/>
    <p:sldId id="325" r:id="rId7"/>
    <p:sldId id="327" r:id="rId8"/>
    <p:sldId id="32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E71E8-3C03-4698-8A5F-D437D8EB43B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331FB-1429-4FBE-9E02-B700F3C8E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11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4C7D-B0AB-4B3D-1192-FF0A2F547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02C7C-699A-CB53-0FDA-116EEA92F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29891-55BE-2783-5230-B82011CFB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F1B59-5C91-5D6B-539F-43DC14B1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42F2D-0F3D-30EF-B217-A7B1A04F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3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D74C-7BD6-DBA2-33E2-8DA41EDE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74F53-B056-7B98-2F0C-90D284E26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C7354-3001-BC8C-792C-BE0189B3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BA1CD-940A-A358-51BC-CB4B9EE8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B9612-9B25-1459-D451-90EA7A64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B63B-1B27-41FC-7661-6967FF4C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822D0-629C-8D5D-3D4D-867C56FFC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0CBEB-C779-7636-35A7-D67966E8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C3C36-F129-0AA6-3AA9-9D3861CE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49B31-06E3-CF1D-4F85-A9FBC56F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0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E09F-82FD-3224-C05F-518CB5A4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25646-5B8D-E98F-64A6-7887AF565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C4967-00DA-6EF8-C489-DA8C425EB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D72AF-E436-4E69-03B6-4138A8A7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FBF81-E7E5-6824-ACFB-C3867B2CB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DD77C-7B3F-4B81-5B04-4665CB607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1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BB8F-1BDF-70CC-57FA-15A812CE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0D018-B195-E5D3-0150-5AABA2824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9F82F-BF18-61CB-56B3-24429A3F7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88985-8059-C8DD-D6C5-172677AB3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3348F-D79B-A46A-50DF-FB8AB26D7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6C6881-960D-B988-0D4E-A74343EC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AE59C6-0DDE-7C4D-A345-B79F09BF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9E8145-249F-B4C4-8096-0C87E6B1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9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7BD4-FAC3-2BC3-DC90-00E8FFD57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2D193-0DF6-9916-04F1-C3235158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C302C-4ABF-FF51-23F3-2A6935FE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87FC7-EEAF-8724-C402-D25250ED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7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90B19-9658-9521-6472-60A90187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F63067-56E4-B1B7-FE59-51F48DC29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4E7DD-F0FB-ADCA-EA98-1FF699EE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1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8CB2-EA58-87DE-82E8-C58E04732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0A61-737B-C06B-9526-456086066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46B16-7C04-CE80-054B-F12B921F1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559B5-640F-1B53-7DA7-CE593320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E95CB-87A6-7B21-7605-BD5995B9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A46CA-3F1B-0ADA-75BD-6DDCFBB9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01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4138-CA55-3EC8-2406-28840418E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EC3BE9-74CA-DD02-D605-C9B057685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F976E-9D23-D9C7-58AD-F79253310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E68F3-BD45-C342-54D3-A33FEE91D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57242-0E25-E9B4-A922-58996A85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FA587-ACA9-66DB-1B50-D7B3AE77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67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D7E-624E-A91D-232C-C3D108A0B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E098F-EA3F-4284-3A08-E8AEF0F29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3084F-E69E-2D35-C1C9-12A18990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AC0C3-D166-1CD6-D4DC-AAAE1A16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53001-D067-8CBD-C30E-1DD191C0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EB9E4-7492-3BD2-9B01-AEFC7AA5C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CDF78-5172-40CE-CFC8-CA435B88D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75CF3-79F5-B580-F4DD-43C0F2F6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1A240-6BFB-DDF9-B9A6-EFD6FFD8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EC98A-78EA-15C9-8520-301459B8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6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393DB6-3859-565E-F26E-F300F6D93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B8B6B-041C-2456-8E29-6EF598A63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F3FF-13BB-1118-40C0-234226913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13061-C592-EF60-E15C-B6E6481F6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19A3D-E48A-A24A-CEC9-2704D62F0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7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C3A1-297D-DABE-DB94-80543F87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Machine</a:t>
            </a:r>
            <a:br>
              <a:rPr lang="ru-RU" dirty="0"/>
            </a:br>
            <a:r>
              <a:rPr lang="ru-RU" sz="3200" dirty="0"/>
              <a:t>(или о том как делать вещи последовательно)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C07962-CC5B-FDE4-803B-A2A621431774}"/>
              </a:ext>
            </a:extLst>
          </p:cNvPr>
          <p:cNvSpPr txBox="1"/>
          <p:nvPr/>
        </p:nvSpPr>
        <p:spPr>
          <a:xfrm>
            <a:off x="901700" y="1887837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Типичная задача</a:t>
            </a:r>
            <a:r>
              <a:rPr lang="en-US" dirty="0"/>
              <a:t>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9B25A5-32A6-2BF8-BE53-9EF2373D4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2" y="2209801"/>
            <a:ext cx="6335812" cy="1590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7D718B-BED5-424F-867D-70D9CC510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73541"/>
            <a:ext cx="7455283" cy="131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32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1356-60DA-CF96-0144-43D16FBA7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Простейший пример</a:t>
            </a:r>
            <a:r>
              <a:rPr lang="en-US" dirty="0"/>
              <a:t>: </a:t>
            </a:r>
            <a:r>
              <a:rPr lang="ru-RU" dirty="0"/>
              <a:t>Счетчик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C97B7-BC38-3FFE-B366-C32B1CAE3E6E}"/>
              </a:ext>
            </a:extLst>
          </p:cNvPr>
          <p:cNvSpPr txBox="1"/>
          <p:nvPr/>
        </p:nvSpPr>
        <p:spPr>
          <a:xfrm>
            <a:off x="838200" y="1476073"/>
            <a:ext cx="3714750" cy="4829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 (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rst_i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cnt_o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P_PERIOD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PW_CNT = $clog2(P_PERIOD);</a:t>
            </a: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rst_i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[PW_CNT-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cnt_o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[PW_CNT-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{PW_CNT{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rst_i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{PW_CNT{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P_PERIOD-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{PW_CNT{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cnt_o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2AF7FF-C159-3A33-6AE1-CD2430476686}"/>
              </a:ext>
            </a:extLst>
          </p:cNvPr>
          <p:cNvSpPr/>
          <p:nvPr/>
        </p:nvSpPr>
        <p:spPr>
          <a:xfrm>
            <a:off x="1143000" y="3155950"/>
            <a:ext cx="2152650" cy="2222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128589-9AC8-6377-B98E-C70B0780AF62}"/>
              </a:ext>
            </a:extLst>
          </p:cNvPr>
          <p:cNvCxnSpPr/>
          <p:nvPr/>
        </p:nvCxnSpPr>
        <p:spPr>
          <a:xfrm flipH="1">
            <a:off x="3295650" y="3028950"/>
            <a:ext cx="488950" cy="184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870549-A0BE-FECD-C0CB-1F21E6B30976}"/>
              </a:ext>
            </a:extLst>
          </p:cNvPr>
          <p:cNvSpPr txBox="1"/>
          <p:nvPr/>
        </p:nvSpPr>
        <p:spPr>
          <a:xfrm>
            <a:off x="3727498" y="2844284"/>
            <a:ext cx="188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Состояние (</a:t>
            </a:r>
            <a:r>
              <a:rPr lang="en-US" dirty="0"/>
              <a:t>State)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CC59A9-95B0-6137-9F7C-B98850B08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385" y="3890708"/>
            <a:ext cx="5442230" cy="18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7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8D916D-DC1C-6A94-FB47-8D84ADC0BC56}"/>
              </a:ext>
            </a:extLst>
          </p:cNvPr>
          <p:cNvSpPr txBox="1"/>
          <p:nvPr/>
        </p:nvSpPr>
        <p:spPr>
          <a:xfrm>
            <a:off x="838200" y="1180840"/>
            <a:ext cx="2139950" cy="231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sequence_detector_1011 (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reset,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detected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S_IDLE 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S_1    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S_10   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3'd2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S_101  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3'd3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S_1011 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3'd4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state;</a:t>
            </a: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88D285-74EF-8090-DC72-BC7969B2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26650" cy="593725"/>
          </a:xfrm>
        </p:spPr>
        <p:txBody>
          <a:bodyPr>
            <a:normAutofit/>
          </a:bodyPr>
          <a:lstStyle/>
          <a:p>
            <a:r>
              <a:rPr lang="ru-RU" sz="3600" dirty="0"/>
              <a:t>Пример детектор последовательности 1011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45FAD4-4295-F02E-F9C4-7914E06B57BA}"/>
              </a:ext>
            </a:extLst>
          </p:cNvPr>
          <p:cNvSpPr txBox="1"/>
          <p:nvPr/>
        </p:nvSpPr>
        <p:spPr>
          <a:xfrm>
            <a:off x="3181350" y="1180840"/>
            <a:ext cx="3848100" cy="537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always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posedge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clk)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(reset)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state    &lt;= S_IDLE;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detected &lt;=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1'b0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detected &lt;=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1'b0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(state)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S_IDLE: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state &lt;=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bit_in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? S_1 : S_IDLE;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S_1: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state &lt;=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bit_in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? S_1 : S_10;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S_10: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state &lt;=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bit_in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? S_101 : S_IDLE;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S_101: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state    &lt;=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bit_in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? S_1011 : S_10;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detected &lt;=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bit_in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S_1011: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state &lt;=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bit_in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? S_1 : S_10;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default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state &lt;= S_IDLE;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endcase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endmodule</a:t>
            </a:r>
            <a:endParaRPr lang="en-US" dirty="0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C9C3D0B4-7026-58F7-172F-4091F0CC025F}"/>
              </a:ext>
            </a:extLst>
          </p:cNvPr>
          <p:cNvSpPr/>
          <p:nvPr/>
        </p:nvSpPr>
        <p:spPr>
          <a:xfrm>
            <a:off x="762001" y="2091109"/>
            <a:ext cx="177800" cy="12319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6FA0A4-8C3E-B670-165B-3879C8AC3890}"/>
              </a:ext>
            </a:extLst>
          </p:cNvPr>
          <p:cNvSpPr txBox="1"/>
          <p:nvPr/>
        </p:nvSpPr>
        <p:spPr>
          <a:xfrm rot="16200000">
            <a:off x="-206808" y="2576254"/>
            <a:ext cx="15680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Объявление состояний</a:t>
            </a:r>
            <a:endParaRPr lang="en-US" sz="1100" dirty="0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6E3F4723-A9B0-27E2-A549-4329B0C58DDF}"/>
              </a:ext>
            </a:extLst>
          </p:cNvPr>
          <p:cNvSpPr/>
          <p:nvPr/>
        </p:nvSpPr>
        <p:spPr>
          <a:xfrm>
            <a:off x="2990850" y="1279292"/>
            <a:ext cx="177800" cy="5213583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6A85C1-CB9E-1B14-CD44-BB384784A44E}"/>
              </a:ext>
            </a:extLst>
          </p:cNvPr>
          <p:cNvSpPr txBox="1"/>
          <p:nvPr/>
        </p:nvSpPr>
        <p:spPr>
          <a:xfrm rot="16200000">
            <a:off x="1009510" y="3514448"/>
            <a:ext cx="35051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Описание переходов (и возможно действий)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5D92AE9-64F6-2304-1AF8-D79FDEAAD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951" y="1633453"/>
            <a:ext cx="2306785" cy="42885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93F8BD-39AD-D44B-A79C-CED396A45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150" y="1774115"/>
            <a:ext cx="2059843" cy="148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8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CABB-8B27-8911-1213-A845E0EF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26650" cy="593725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Пример детектор последовательности 1011</a:t>
            </a:r>
            <a:br>
              <a:rPr lang="en-US" sz="3600" dirty="0"/>
            </a:br>
            <a:r>
              <a:rPr lang="en-US" sz="3600" dirty="0"/>
              <a:t>(</a:t>
            </a:r>
            <a:r>
              <a:rPr lang="ru-RU" sz="3600" dirty="0"/>
              <a:t>вариант описания через 2 </a:t>
            </a:r>
            <a:r>
              <a:rPr lang="en-US" sz="3600" dirty="0"/>
              <a:t>always </a:t>
            </a:r>
            <a:r>
              <a:rPr lang="ru-RU" sz="3600" dirty="0"/>
              <a:t>блока)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F31BE-1154-5803-28CF-1A662B94C4B2}"/>
              </a:ext>
            </a:extLst>
          </p:cNvPr>
          <p:cNvSpPr txBox="1"/>
          <p:nvPr/>
        </p:nvSpPr>
        <p:spPr>
          <a:xfrm>
            <a:off x="3409950" y="1802934"/>
            <a:ext cx="4114800" cy="4814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Next-state logic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@*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S_IDLE;</a:t>
            </a: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(state)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S_IDLE: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S_1;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S_IDLE;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S_1: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S_1;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S_10;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ru-RU" sz="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....</a:t>
            </a:r>
            <a:endParaRPr lang="ru-RU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S_1011: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Preserve the suffix that can start another match.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S_1;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S_10;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S_IDLE;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endcase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Moore output: depends only on the current state.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detected = (state == S_1011);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30676D-9A16-5A77-140B-D1DDAD608902}"/>
              </a:ext>
            </a:extLst>
          </p:cNvPr>
          <p:cNvSpPr txBox="1"/>
          <p:nvPr/>
        </p:nvSpPr>
        <p:spPr>
          <a:xfrm>
            <a:off x="838200" y="1802934"/>
            <a:ext cx="2946400" cy="3423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sequence_detector_1011 (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reset,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detected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S_IDLE 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S_1    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S_10   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3'd2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S_101  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3'd3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S_1011 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3'd4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state;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State register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(reset)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state &lt;= S_IDLE;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state &lt;=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CEA3B8BB-B631-1FCB-1911-3492D90E0E8F}"/>
              </a:ext>
            </a:extLst>
          </p:cNvPr>
          <p:cNvSpPr/>
          <p:nvPr/>
        </p:nvSpPr>
        <p:spPr>
          <a:xfrm>
            <a:off x="946151" y="2800350"/>
            <a:ext cx="177800" cy="12319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525198FE-E3FC-ED92-8A9C-A745CCD5F101}"/>
              </a:ext>
            </a:extLst>
          </p:cNvPr>
          <p:cNvSpPr/>
          <p:nvPr/>
        </p:nvSpPr>
        <p:spPr>
          <a:xfrm>
            <a:off x="946151" y="4210324"/>
            <a:ext cx="177800" cy="964926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15E09D-3FB0-FAB1-E0F5-9525D25D0F9D}"/>
              </a:ext>
            </a:extLst>
          </p:cNvPr>
          <p:cNvSpPr txBox="1"/>
          <p:nvPr/>
        </p:nvSpPr>
        <p:spPr>
          <a:xfrm rot="16200000">
            <a:off x="-22658" y="3285495"/>
            <a:ext cx="15680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Объявление состояний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7EF556-4234-CB93-66AD-BBBEEC9F56EA}"/>
              </a:ext>
            </a:extLst>
          </p:cNvPr>
          <p:cNvSpPr txBox="1"/>
          <p:nvPr/>
        </p:nvSpPr>
        <p:spPr>
          <a:xfrm rot="16200000">
            <a:off x="-299500" y="4676359"/>
            <a:ext cx="20604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Непосредственное переключение состояний</a:t>
            </a:r>
            <a:endParaRPr lang="en-US" sz="1100" dirty="0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3AE30D75-CDF9-69EB-C5BD-C506C4980218}"/>
              </a:ext>
            </a:extLst>
          </p:cNvPr>
          <p:cNvSpPr/>
          <p:nvPr/>
        </p:nvSpPr>
        <p:spPr>
          <a:xfrm>
            <a:off x="3536951" y="1802934"/>
            <a:ext cx="177800" cy="4299416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5CF1D9-DFBF-0626-96BA-4C216C909789}"/>
              </a:ext>
            </a:extLst>
          </p:cNvPr>
          <p:cNvSpPr txBox="1"/>
          <p:nvPr/>
        </p:nvSpPr>
        <p:spPr>
          <a:xfrm rot="16200000">
            <a:off x="1799413" y="3730789"/>
            <a:ext cx="2890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Описание переходов (и возможно действий)</a:t>
            </a: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4EADF-21F5-3E40-7649-984A7F386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951" y="1633453"/>
            <a:ext cx="2306785" cy="4288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192008-39AA-51CB-6271-CC0A6B5E6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150" y="1774115"/>
            <a:ext cx="2059843" cy="148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22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C7DEA1-4015-64B4-D06C-7C0F0E592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63" y="381000"/>
            <a:ext cx="11254468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4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8BB2-7362-A413-1264-BF1FB93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Transmitter State Machine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3F80C7-E33B-8FC9-B1B2-1707632F2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267" y="2351893"/>
            <a:ext cx="7547554" cy="24132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D920E3-51BD-E314-B271-EA2D8BBF898D}"/>
              </a:ext>
            </a:extLst>
          </p:cNvPr>
          <p:cNvSpPr txBox="1"/>
          <p:nvPr/>
        </p:nvSpPr>
        <p:spPr>
          <a:xfrm>
            <a:off x="838200" y="2696125"/>
            <a:ext cx="2712720" cy="172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S_IDLE  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2'd0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S_START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2'd1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S_DATA  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2'd2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S_STOP  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2'd3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state;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bit_index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2618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BC43-22E6-682E-D0CF-11031457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Transmitter state machine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4F7575-B575-F540-E7B5-794D47A78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976" y="2595057"/>
            <a:ext cx="4642004" cy="543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3CD99C-27E8-EAEA-3EDF-A9B9ACA1D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586" y="3831064"/>
            <a:ext cx="7547554" cy="2413294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EF35B000-CA35-C375-95AB-1073EDD410A6}"/>
              </a:ext>
            </a:extLst>
          </p:cNvPr>
          <p:cNvSpPr/>
          <p:nvPr/>
        </p:nvSpPr>
        <p:spPr>
          <a:xfrm rot="5400000">
            <a:off x="6872008" y="1106134"/>
            <a:ext cx="413943" cy="45720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DB5F2B-5A72-1A2C-3C85-32620591EFB6}"/>
              </a:ext>
            </a:extLst>
          </p:cNvPr>
          <p:cNvSpPr txBox="1"/>
          <p:nvPr/>
        </p:nvSpPr>
        <p:spPr>
          <a:xfrm>
            <a:off x="838200" y="1533141"/>
            <a:ext cx="971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самом деле каждое состояние можно еще подразделить на множество состояний ожидания.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965522-19D9-F559-CCED-D5E1306003CD}"/>
              </a:ext>
            </a:extLst>
          </p:cNvPr>
          <p:cNvSpPr txBox="1"/>
          <p:nvPr/>
        </p:nvSpPr>
        <p:spPr>
          <a:xfrm>
            <a:off x="295756" y="2855624"/>
            <a:ext cx="4427220" cy="629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CLKS_PER_BIT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COUNT_WIDTH = $clog2(CLKS_PER_BIT);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[COUNT_WIDTH-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count;</a:t>
            </a:r>
          </a:p>
        </p:txBody>
      </p:sp>
    </p:spTree>
    <p:extLst>
      <p:ext uri="{BB962C8B-B14F-4D97-AF65-F5344CB8AC3E}">
        <p14:creationId xmlns:p14="http://schemas.microsoft.com/office/powerpoint/2010/main" val="370422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7507-AA23-3EB0-98DF-53F113C65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136525"/>
            <a:ext cx="5029200" cy="1325563"/>
          </a:xfrm>
        </p:spPr>
        <p:txBody>
          <a:bodyPr/>
          <a:lstStyle/>
          <a:p>
            <a:r>
              <a:rPr lang="en-US" dirty="0"/>
              <a:t>UART Transmitter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B0A9DE-61D1-497C-9BC8-27CF21081C4E}"/>
              </a:ext>
            </a:extLst>
          </p:cNvPr>
          <p:cNvSpPr txBox="1"/>
          <p:nvPr/>
        </p:nvSpPr>
        <p:spPr>
          <a:xfrm>
            <a:off x="431800" y="1236202"/>
            <a:ext cx="35179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uart_tx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#(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CLKS_PER_BIT 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clk,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reset,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start,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data_in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busy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COUNT_WIDTH =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(CLKS_PER_BIT &gt;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clog2(CLKS_PER_BIT -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IDLE  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2'd0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START 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2'd1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DATA  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2'd2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STOP  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2'd3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state;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[COUNT_WIDTH-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count;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bit_index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data_reg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bit_done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(count == CLKS_PER_BIT -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busy = (state != IDLE);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wire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accept = start &amp;&amp; !busy;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(reset)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count &lt;= {COUNT_WIDTH{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((state == IDLE) ||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bit_done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count &lt;= {COUNT_WIDTH{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count &lt;= count +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AF267E-BD38-EF0D-051C-2DFA31A79D1F}"/>
              </a:ext>
            </a:extLst>
          </p:cNvPr>
          <p:cNvSpPr txBox="1"/>
          <p:nvPr/>
        </p:nvSpPr>
        <p:spPr>
          <a:xfrm>
            <a:off x="4826000" y="501092"/>
            <a:ext cx="4984750" cy="5788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(reset)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state     &lt;= IDLE;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bit_index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data_reg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8'd0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&lt;=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(state)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IDLE: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&lt;=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bit_index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(accept)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data_reg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data_in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&lt;=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state     &lt;= START;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b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START: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bit_done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&lt;=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data_reg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state &lt;= DATA;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DATA: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bit_done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bit_index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bit_index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&lt;=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data_reg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800" dirty="0" err="1">
                <a:latin typeface="Consolas" panose="020B0609020204030204" pitchFamily="49" charset="0"/>
              </a:rPr>
              <a:t>bit_index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bit_index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3'd7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state &lt;= STOP;</a:t>
            </a:r>
          </a:p>
          <a:p>
            <a:pPr>
              <a:lnSpc>
                <a:spcPct val="11309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tx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sz="800" dirty="0">
                <a:solidFill>
                  <a:srgbClr val="098658"/>
                </a:solidFill>
                <a:latin typeface="Consolas" panose="020B0609020204030204" pitchFamily="49" charset="0"/>
              </a:rPr>
              <a:t>1'b1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STOP: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bit_done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state &lt;= IDLE;</a:t>
            </a:r>
            <a:b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state &lt;= IDLE;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tx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&lt;=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endcase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85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1334</Words>
  <Application>Microsoft Office PowerPoint</Application>
  <PresentationFormat>Widescreen</PresentationFormat>
  <Paragraphs>230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Office Theme</vt:lpstr>
      <vt:lpstr>Finite State Machine (или о том как делать вещи последовательно)</vt:lpstr>
      <vt:lpstr>Простейший пример: Счетчик</vt:lpstr>
      <vt:lpstr>Пример детектор последовательности 1011</vt:lpstr>
      <vt:lpstr>Пример детектор последовательности 1011 (вариант описания через 2 always блока)</vt:lpstr>
      <vt:lpstr>PowerPoint Presentation</vt:lpstr>
      <vt:lpstr>Transmitter State Machine</vt:lpstr>
      <vt:lpstr>Transmitter state machine</vt:lpstr>
      <vt:lpstr>UART Transmitter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саша буссе</dc:creator>
  <cp:lastModifiedBy>саша буссе</cp:lastModifiedBy>
  <cp:revision>54</cp:revision>
  <dcterms:created xsi:type="dcterms:W3CDTF">2025-10-31T18:28:41Z</dcterms:created>
  <dcterms:modified xsi:type="dcterms:W3CDTF">2026-10-05T22:13:49Z</dcterms:modified>
</cp:coreProperties>
</file>