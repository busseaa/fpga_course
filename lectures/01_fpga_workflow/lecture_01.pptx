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9"/>
  </p:notesMasterIdLst>
  <p:sldIdLst>
    <p:sldId id="256" r:id="rId2"/>
    <p:sldId id="257" r:id="rId3"/>
    <p:sldId id="273" r:id="rId4"/>
    <p:sldId id="275" r:id="rId5"/>
    <p:sldId id="259" r:id="rId6"/>
    <p:sldId id="279" r:id="rId7"/>
    <p:sldId id="300" r:id="rId8"/>
    <p:sldId id="301" r:id="rId9"/>
    <p:sldId id="293" r:id="rId10"/>
    <p:sldId id="294" r:id="rId11"/>
    <p:sldId id="297" r:id="rId12"/>
    <p:sldId id="298" r:id="rId13"/>
    <p:sldId id="291" r:id="rId14"/>
    <p:sldId id="292" r:id="rId15"/>
    <p:sldId id="299" r:id="rId16"/>
    <p:sldId id="303" r:id="rId17"/>
    <p:sldId id="304" r:id="rId18"/>
    <p:sldId id="305" r:id="rId19"/>
    <p:sldId id="302" r:id="rId20"/>
    <p:sldId id="278" r:id="rId21"/>
    <p:sldId id="286" r:id="rId22"/>
    <p:sldId id="287" r:id="rId23"/>
    <p:sldId id="288" r:id="rId24"/>
    <p:sldId id="281" r:id="rId25"/>
    <p:sldId id="282" r:id="rId26"/>
    <p:sldId id="284" r:id="rId27"/>
    <p:sldId id="285" r:id="rId2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0" d="100"/>
          <a:sy n="70" d="100"/>
        </p:scale>
        <p:origin x="512"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t>F01 · Пара 1, 00–10, 10 мин</a:t>
            </a:r>
          </a:p>
          <a:p>
            <a:endParaRPr/>
          </a:p>
          <a:p>
            <a:r>
              <a:t>7 встреч по две пары 90 минут, перерыв 10 минут. В аудитории инструменты запускает преподаватель. Дома у каждого своя плата. Даты со второй по седьмую рассчитаны через две недели от 08.09.2026.</a:t>
            </a:r>
          </a:p>
          <a:p>
            <a:r>
              <a:t>ДЗ 1 выдаётся 08.09, сдаётся лично в конце 22.09. Сдача 06.10: −10 баллов, 20.10: −20. Сроки ДЗ 2–6: 06.10, 20.10, 03.11, 17.11, 01.12. При переносе встречи срок следует за лекцией. На лекции 7 нового обязательного ДЗ нет.</a:t>
            </a:r>
          </a:p>
          <a:p>
            <a:r>
              <a:t>Рубрика: функция 35, тесты 15, синтез/плата 20, объяснение 10, расширение 20. База достаточна для зачёта, расширение для высшей оценки. Среднее шести работ остаётся предложенной шкалой баллов; официальную оценку, пересдачи и сдачу после лекции 7 преподаватель уточнит отдельно.</a:t>
            </a:r>
          </a:p>
          <a:p>
            <a:endParaRPr/>
          </a:p>
          <a:p>
            <a:r>
              <a:t>Источники и материалы: Введение в проектирование ПЛИС · Плановые даты, занятия раз в две недели</a:t>
            </a:r>
          </a:p>
          <a:p>
            <a:r>
              <a:t>Сопроводительные ссылки и происхождение изображений: README.md.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t>F02 · Пара 1, 10–16, 6 мин</a:t>
            </a:r>
          </a:p>
          <a:p>
            <a:endParaRPr/>
          </a:p>
          <a:p>
            <a:r>
              <a:t>Начать с задачи: сложить несколько независимых пар измерений. У программы есть данные и операции. Компилятор создаёт инструкции для выбранной архитектуры. Готовый процессор выполняет инструкции, используя свои вычислительные блоки и память.</a:t>
            </a:r>
          </a:p>
          <a:p>
            <a:r>
              <a:t>Схема показывает роли, а не количество тактов. Современные CPU используют конвейеры, SIMD, несколько ядер. Не говорить, что процессор всегда делает только одну операцию за раз. Названия стадий внутреннего конвейера сейчас не нужны. Изображение взято из старого курса; конкретная модель процессора не установлена.</a:t>
            </a:r>
          </a:p>
          <a:p>
            <a:endParaRPr/>
          </a:p>
          <a:p>
            <a:r>
              <a:t>Источники и материалы: CPU — Central Processing Unit · Изображение: старый курс, lecture_1.pdf, с. 4</a:t>
            </a:r>
          </a:p>
          <a:p>
            <a:r>
              <a:t>Сопроводительные ссылки и происхождение изображений: README.md.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C93FFB-CF65-29F9-22AA-EE0BB70039D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6C48B0B-97B4-FE44-710F-27DBBAADAF67}"/>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9B9E589F-1C03-0F93-510A-6FDD753E54ED}"/>
              </a:ext>
            </a:extLst>
          </p:cNvPr>
          <p:cNvSpPr>
            <a:spLocks noGrp="1"/>
          </p:cNvSpPr>
          <p:nvPr>
            <p:ph type="body" idx="1"/>
          </p:nvPr>
        </p:nvSpPr>
        <p:spPr/>
        <p:txBody>
          <a:bodyPr/>
          <a:lstStyle/>
          <a:p>
            <a:r>
              <a:t>F02 · Пара 1, 10–16, 6 мин</a:t>
            </a:r>
          </a:p>
          <a:p>
            <a:endParaRPr/>
          </a:p>
          <a:p>
            <a:r>
              <a:t>Начать с задачи: сложить несколько независимых пар измерений. У программы есть данные и операции. Компилятор создаёт инструкции для выбранной архитектуры. Готовый процессор выполняет инструкции, используя свои вычислительные блоки и память.</a:t>
            </a:r>
          </a:p>
          <a:p>
            <a:r>
              <a:t>Схема показывает роли, а не количество тактов. Современные CPU используют конвейеры, SIMD, несколько ядер. Не говорить, что процессор всегда делает только одну операцию за раз. Названия стадий внутреннего конвейера сейчас не нужны. Изображение взято из старого курса; конкретная модель процессора не установлена.</a:t>
            </a:r>
          </a:p>
          <a:p>
            <a:endParaRPr/>
          </a:p>
          <a:p>
            <a:r>
              <a:t>Источники и материалы: CPU — Central Processing Unit · Изображение: старый курс, lecture_1.pdf, с. 4</a:t>
            </a:r>
          </a:p>
          <a:p>
            <a:r>
              <a:t>Сопроводительные ссылки и происхождение изображений: README.md.</a:t>
            </a:r>
          </a:p>
        </p:txBody>
      </p:sp>
      <p:sp>
        <p:nvSpPr>
          <p:cNvPr id="4" name="Slide Number Placeholder 3">
            <a:extLst>
              <a:ext uri="{FF2B5EF4-FFF2-40B4-BE49-F238E27FC236}">
                <a16:creationId xmlns:a16="http://schemas.microsoft.com/office/drawing/2014/main" id="{7D606F36-467C-1E4D-390B-7B4952882225}"/>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11265816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2A70A9-07F3-2F34-9535-89B52DCAD8F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128253E-4690-1C31-BC7F-0D0DB5399067}"/>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9474D9A2-BE09-89A7-A774-E7D9CFB8C5E1}"/>
              </a:ext>
            </a:extLst>
          </p:cNvPr>
          <p:cNvSpPr>
            <a:spLocks noGrp="1"/>
          </p:cNvSpPr>
          <p:nvPr>
            <p:ph type="body" idx="1"/>
          </p:nvPr>
        </p:nvSpPr>
        <p:spPr/>
        <p:txBody>
          <a:bodyPr/>
          <a:lstStyle/>
          <a:p>
            <a:r>
              <a:t>F02 · Пара 1, 10–16, 6 мин</a:t>
            </a:r>
          </a:p>
          <a:p>
            <a:endParaRPr/>
          </a:p>
          <a:p>
            <a:r>
              <a:t>Начать с задачи: сложить несколько независимых пар измерений. У программы есть данные и операции. Компилятор создаёт инструкции для выбранной архитектуры. Готовый процессор выполняет инструкции, используя свои вычислительные блоки и память.</a:t>
            </a:r>
          </a:p>
          <a:p>
            <a:r>
              <a:t>Схема показывает роли, а не количество тактов. Современные CPU используют конвейеры, SIMD, несколько ядер. Не говорить, что процессор всегда делает только одну операцию за раз. Названия стадий внутреннего конвейера сейчас не нужны. Изображение взято из старого курса; конкретная модель процессора не установлена.</a:t>
            </a:r>
          </a:p>
          <a:p>
            <a:endParaRPr/>
          </a:p>
          <a:p>
            <a:r>
              <a:t>Источники и материалы: CPU — Central Processing Unit · Изображение: старый курс, lecture_1.pdf, с. 4</a:t>
            </a:r>
          </a:p>
          <a:p>
            <a:r>
              <a:t>Сопроводительные ссылки и происхождение изображений: README.md.</a:t>
            </a:r>
          </a:p>
        </p:txBody>
      </p:sp>
      <p:sp>
        <p:nvSpPr>
          <p:cNvPr id="4" name="Slide Number Placeholder 3">
            <a:extLst>
              <a:ext uri="{FF2B5EF4-FFF2-40B4-BE49-F238E27FC236}">
                <a16:creationId xmlns:a16="http://schemas.microsoft.com/office/drawing/2014/main" id="{5EBF2F9A-5AD2-BC18-D080-4AD26FB3BE3A}"/>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234024470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t>F04 · Пара 1, 22–30, 8 мин</a:t>
            </a:r>
          </a:p>
          <a:p>
            <a:endParaRPr/>
          </a:p>
          <a:p>
            <a:r>
              <a:t>ПЛИС — программируемая логическая интегральная схема. FPGA — Field-Programmable Gate Array. Кристалл уже изготовлен; конфигурация задаёт функции логических блоков и соединения.</a:t>
            </a:r>
          </a:p>
          <a:p>
            <a:r>
              <a:t>Кратко вспомнить логический элемент, мультиплексор и триггер: функция, выбор, хранение. LUT реализует таблицу логической функции, триггер хранит бит между фронтами. Сейчас достаточно ролей. На рисунке общая архитектура FPGA, не физический план Cyclone IV. CLB и PSM — подписи исходной иллюстрации. Два сумматора справа являются концептуальным примером, не отчётом синтеза.</a:t>
            </a:r>
          </a:p>
          <a:p>
            <a:r>
              <a:t>Изменение схемы ограничено ресурсами и интерфейсами имеющегося кристалла.</a:t>
            </a:r>
          </a:p>
          <a:p>
            <a:endParaRPr/>
          </a:p>
          <a:p>
            <a:r>
              <a:t>Источники и материалы: FPGA — Field-Programmable Gate Array · Общая архитектура: старый курс, lecture_1.pdf, с. 7</a:t>
            </a:r>
          </a:p>
          <a:p>
            <a:r>
              <a:t>Сопроводительные ссылки и происхождение изображений: README.md.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0FE797-5A30-C10B-BB8D-22EF74D2802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FF12CE6-A3B0-285B-E0FE-81405EBD453D}"/>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2C24D4D6-B793-B11B-B5AB-2E0172346FEF}"/>
              </a:ext>
            </a:extLst>
          </p:cNvPr>
          <p:cNvSpPr>
            <a:spLocks noGrp="1"/>
          </p:cNvSpPr>
          <p:nvPr>
            <p:ph type="body" idx="1"/>
          </p:nvPr>
        </p:nvSpPr>
        <p:spPr/>
        <p:txBody>
          <a:bodyPr/>
          <a:lstStyle/>
          <a:p>
            <a:r>
              <a:t>F04 · Пара 1, 22–30, 8 мин</a:t>
            </a:r>
          </a:p>
          <a:p>
            <a:endParaRPr/>
          </a:p>
          <a:p>
            <a:r>
              <a:t>ПЛИС — программируемая логическая интегральная схема. FPGA — Field-Programmable Gate Array. Кристалл уже изготовлен; конфигурация задаёт функции логических блоков и соединения.</a:t>
            </a:r>
          </a:p>
          <a:p>
            <a:r>
              <a:t>Кратко вспомнить логический элемент, мультиплексор и триггер: функция, выбор, хранение. LUT реализует таблицу логической функции, триггер хранит бит между фронтами. Сейчас достаточно ролей. На рисунке общая архитектура FPGA, не физический план Cyclone IV. CLB и PSM — подписи исходной иллюстрации. Два сумматора справа являются концептуальным примером, не отчётом синтеза.</a:t>
            </a:r>
          </a:p>
          <a:p>
            <a:r>
              <a:t>Изменение схемы ограничено ресурсами и интерфейсами имеющегося кристалла.</a:t>
            </a:r>
          </a:p>
          <a:p>
            <a:endParaRPr/>
          </a:p>
          <a:p>
            <a:r>
              <a:t>Источники и материалы: FPGA — Field-Programmable Gate Array · Общая архитектура: старый курс, lecture_1.pdf, с. 7</a:t>
            </a:r>
          </a:p>
          <a:p>
            <a:r>
              <a:t>Сопроводительные ссылки и происхождение изображений: README.md.</a:t>
            </a:r>
          </a:p>
        </p:txBody>
      </p:sp>
      <p:sp>
        <p:nvSpPr>
          <p:cNvPr id="4" name="Slide Number Placeholder 3">
            <a:extLst>
              <a:ext uri="{FF2B5EF4-FFF2-40B4-BE49-F238E27FC236}">
                <a16:creationId xmlns:a16="http://schemas.microsoft.com/office/drawing/2014/main" id="{A9EAA6A5-10D7-0401-91FF-F505582CB83C}"/>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382398485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ABE479-E78D-C871-C2C3-84BDF23A0A0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7554042-B0A6-895F-FC0F-62E64AC12A74}"/>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54058A53-F211-ED83-CEAE-B72491BCB83C}"/>
              </a:ext>
            </a:extLst>
          </p:cNvPr>
          <p:cNvSpPr>
            <a:spLocks noGrp="1"/>
          </p:cNvSpPr>
          <p:nvPr>
            <p:ph type="body" idx="1"/>
          </p:nvPr>
        </p:nvSpPr>
        <p:spPr/>
        <p:txBody>
          <a:bodyPr/>
          <a:lstStyle/>
          <a:p>
            <a:r>
              <a:t>F04 · Пара 1, 22–30, 8 мин</a:t>
            </a:r>
          </a:p>
          <a:p>
            <a:endParaRPr/>
          </a:p>
          <a:p>
            <a:r>
              <a:t>ПЛИС — программируемая логическая интегральная схема. FPGA — Field-Programmable Gate Array. Кристалл уже изготовлен; конфигурация задаёт функции логических блоков и соединения.</a:t>
            </a:r>
          </a:p>
          <a:p>
            <a:r>
              <a:t>Кратко вспомнить логический элемент, мультиплексор и триггер: функция, выбор, хранение. LUT реализует таблицу логической функции, триггер хранит бит между фронтами. Сейчас достаточно ролей. На рисунке общая архитектура FPGA, не физический план Cyclone IV. CLB и PSM — подписи исходной иллюстрации. Два сумматора справа являются концептуальным примером, не отчётом синтеза.</a:t>
            </a:r>
          </a:p>
          <a:p>
            <a:r>
              <a:t>Изменение схемы ограничено ресурсами и интерфейсами имеющегося кристалла.</a:t>
            </a:r>
          </a:p>
          <a:p>
            <a:endParaRPr/>
          </a:p>
          <a:p>
            <a:r>
              <a:t>Источники и материалы: FPGA — Field-Programmable Gate Array · Общая архитектура: старый курс, lecture_1.pdf, с. 7</a:t>
            </a:r>
          </a:p>
          <a:p>
            <a:r>
              <a:t>Сопроводительные ссылки и происхождение изображений: README.md.</a:t>
            </a:r>
          </a:p>
        </p:txBody>
      </p:sp>
      <p:sp>
        <p:nvSpPr>
          <p:cNvPr id="4" name="Slide Number Placeholder 3">
            <a:extLst>
              <a:ext uri="{FF2B5EF4-FFF2-40B4-BE49-F238E27FC236}">
                <a16:creationId xmlns:a16="http://schemas.microsoft.com/office/drawing/2014/main" id="{3F443281-A154-FFDE-25B0-3407B4362A96}"/>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89505718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99AA55-C212-F073-FE83-DBD1CDFB553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E4D740A-39C3-92B9-0E2F-E6B5028D0C58}"/>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2118B8EC-222B-4A90-A783-5D9B252904D4}"/>
              </a:ext>
            </a:extLst>
          </p:cNvPr>
          <p:cNvSpPr>
            <a:spLocks noGrp="1"/>
          </p:cNvSpPr>
          <p:nvPr>
            <p:ph type="body" idx="1"/>
          </p:nvPr>
        </p:nvSpPr>
        <p:spPr/>
        <p:txBody>
          <a:bodyPr/>
          <a:lstStyle/>
          <a:p>
            <a:r>
              <a:t>F04 · Пара 1, 22–30, 8 мин</a:t>
            </a:r>
          </a:p>
          <a:p>
            <a:endParaRPr/>
          </a:p>
          <a:p>
            <a:r>
              <a:t>ПЛИС — программируемая логическая интегральная схема. FPGA — Field-Programmable Gate Array. Кристалл уже изготовлен; конфигурация задаёт функции логических блоков и соединения.</a:t>
            </a:r>
          </a:p>
          <a:p>
            <a:r>
              <a:t>Кратко вспомнить логический элемент, мультиплексор и триггер: функция, выбор, хранение. LUT реализует таблицу логической функции, триггер хранит бит между фронтами. Сейчас достаточно ролей. На рисунке общая архитектура FPGA, не физический план Cyclone IV. CLB и PSM — подписи исходной иллюстрации. Два сумматора справа являются концептуальным примером, не отчётом синтеза.</a:t>
            </a:r>
          </a:p>
          <a:p>
            <a:r>
              <a:t>Изменение схемы ограничено ресурсами и интерфейсами имеющегося кристалла.</a:t>
            </a:r>
          </a:p>
          <a:p>
            <a:endParaRPr/>
          </a:p>
          <a:p>
            <a:r>
              <a:t>Источники и материалы: FPGA — Field-Programmable Gate Array · Общая архитектура: старый курс, lecture_1.pdf, с. 7</a:t>
            </a:r>
          </a:p>
          <a:p>
            <a:r>
              <a:t>Сопроводительные ссылки и происхождение изображений: README.md.</a:t>
            </a:r>
          </a:p>
        </p:txBody>
      </p:sp>
      <p:sp>
        <p:nvSpPr>
          <p:cNvPr id="4" name="Slide Number Placeholder 3">
            <a:extLst>
              <a:ext uri="{FF2B5EF4-FFF2-40B4-BE49-F238E27FC236}">
                <a16:creationId xmlns:a16="http://schemas.microsoft.com/office/drawing/2014/main" id="{EC405DC5-0EB7-EE81-DB43-CCE296AD53E8}"/>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356130549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C642FD-D1A8-B4EB-60E4-C72BD50348D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39AD3C7-9E65-BFCA-A28D-7F7ED7A07BFC}"/>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723ECC1C-E144-6C93-5563-9E75F5366761}"/>
              </a:ext>
            </a:extLst>
          </p:cNvPr>
          <p:cNvSpPr>
            <a:spLocks noGrp="1"/>
          </p:cNvSpPr>
          <p:nvPr>
            <p:ph type="body" idx="1"/>
          </p:nvPr>
        </p:nvSpPr>
        <p:spPr/>
        <p:txBody>
          <a:bodyPr/>
          <a:lstStyle/>
          <a:p>
            <a:r>
              <a:t>F04 · Пара 1, 22–30, 8 мин</a:t>
            </a:r>
          </a:p>
          <a:p>
            <a:endParaRPr/>
          </a:p>
          <a:p>
            <a:r>
              <a:t>ПЛИС — программируемая логическая интегральная схема. FPGA — Field-Programmable Gate Array. Кристалл уже изготовлен; конфигурация задаёт функции логических блоков и соединения.</a:t>
            </a:r>
          </a:p>
          <a:p>
            <a:r>
              <a:t>Кратко вспомнить логический элемент, мультиплексор и триггер: функция, выбор, хранение. LUT реализует таблицу логической функции, триггер хранит бит между фронтами. Сейчас достаточно ролей. На рисунке общая архитектура FPGA, не физический план Cyclone IV. CLB и PSM — подписи исходной иллюстрации. Два сумматора справа являются концептуальным примером, не отчётом синтеза.</a:t>
            </a:r>
          </a:p>
          <a:p>
            <a:r>
              <a:t>Изменение схемы ограничено ресурсами и интерфейсами имеющегося кристалла.</a:t>
            </a:r>
          </a:p>
          <a:p>
            <a:endParaRPr/>
          </a:p>
          <a:p>
            <a:r>
              <a:t>Источники и материалы: FPGA — Field-Programmable Gate Array · Общая архитектура: старый курс, lecture_1.pdf, с. 7</a:t>
            </a:r>
          </a:p>
          <a:p>
            <a:r>
              <a:t>Сопроводительные ссылки и происхождение изображений: README.md.</a:t>
            </a:r>
          </a:p>
        </p:txBody>
      </p:sp>
      <p:sp>
        <p:nvSpPr>
          <p:cNvPr id="4" name="Slide Number Placeholder 3">
            <a:extLst>
              <a:ext uri="{FF2B5EF4-FFF2-40B4-BE49-F238E27FC236}">
                <a16:creationId xmlns:a16="http://schemas.microsoft.com/office/drawing/2014/main" id="{516E3163-9C86-3BBF-7A37-F4DCBCAC5D63}"/>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2033816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C4A0EA-ADE9-1664-56B8-31DBEE47856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7E1F187-F9E4-D017-C89D-DD478D59028B}"/>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F51C645F-AA2D-9118-9833-9ADF377F4CE4}"/>
              </a:ext>
            </a:extLst>
          </p:cNvPr>
          <p:cNvSpPr>
            <a:spLocks noGrp="1"/>
          </p:cNvSpPr>
          <p:nvPr>
            <p:ph type="body" idx="1"/>
          </p:nvPr>
        </p:nvSpPr>
        <p:spPr/>
        <p:txBody>
          <a:bodyPr/>
          <a:lstStyle/>
          <a:p>
            <a:r>
              <a:t>F04 · Пара 1, 22–30, 8 мин</a:t>
            </a:r>
          </a:p>
          <a:p>
            <a:endParaRPr/>
          </a:p>
          <a:p>
            <a:r>
              <a:t>ПЛИС — программируемая логическая интегральная схема. FPGA — Field-Programmable Gate Array. Кристалл уже изготовлен; конфигурация задаёт функции логических блоков и соединения.</a:t>
            </a:r>
          </a:p>
          <a:p>
            <a:r>
              <a:t>Кратко вспомнить логический элемент, мультиплексор и триггер: функция, выбор, хранение. LUT реализует таблицу логической функции, триггер хранит бит между фронтами. Сейчас достаточно ролей. На рисунке общая архитектура FPGA, не физический план Cyclone IV. CLB и PSM — подписи исходной иллюстрации. Два сумматора справа являются концептуальным примером, не отчётом синтеза.</a:t>
            </a:r>
          </a:p>
          <a:p>
            <a:r>
              <a:t>Изменение схемы ограничено ресурсами и интерфейсами имеющегося кристалла.</a:t>
            </a:r>
          </a:p>
          <a:p>
            <a:endParaRPr/>
          </a:p>
          <a:p>
            <a:r>
              <a:t>Источники и материалы: FPGA — Field-Programmable Gate Array · Общая архитектура: старый курс, lecture_1.pdf, с. 7</a:t>
            </a:r>
          </a:p>
          <a:p>
            <a:r>
              <a:t>Сопроводительные ссылки и происхождение изображений: README.md.</a:t>
            </a:r>
          </a:p>
        </p:txBody>
      </p:sp>
      <p:sp>
        <p:nvSpPr>
          <p:cNvPr id="4" name="Slide Number Placeholder 3">
            <a:extLst>
              <a:ext uri="{FF2B5EF4-FFF2-40B4-BE49-F238E27FC236}">
                <a16:creationId xmlns:a16="http://schemas.microsoft.com/office/drawing/2014/main" id="{07E1DD8F-A71F-C002-4FBF-29C015BDDD38}"/>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314179479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29BBFF-885D-44DD-5ECD-CC3D852927B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F62609D-FFBF-9811-5A3D-F1111AE87BB0}"/>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7073984A-B1BC-82CC-A1CC-A2937972A53B}"/>
              </a:ext>
            </a:extLst>
          </p:cNvPr>
          <p:cNvSpPr>
            <a:spLocks noGrp="1"/>
          </p:cNvSpPr>
          <p:nvPr>
            <p:ph type="body" idx="1"/>
          </p:nvPr>
        </p:nvSpPr>
        <p:spPr/>
        <p:txBody>
          <a:bodyPr/>
          <a:lstStyle/>
          <a:p>
            <a:r>
              <a:t>F04 · Пара 1, 22–30, 8 мин</a:t>
            </a:r>
          </a:p>
          <a:p>
            <a:endParaRPr/>
          </a:p>
          <a:p>
            <a:r>
              <a:t>ПЛИС — программируемая логическая интегральная схема. FPGA — Field-Programmable Gate Array. Кристалл уже изготовлен; конфигурация задаёт функции логических блоков и соединения.</a:t>
            </a:r>
          </a:p>
          <a:p>
            <a:r>
              <a:t>Кратко вспомнить логический элемент, мультиплексор и триггер: функция, выбор, хранение. LUT реализует таблицу логической функции, триггер хранит бит между фронтами. Сейчас достаточно ролей. На рисунке общая архитектура FPGA, не физический план Cyclone IV. CLB и PSM — подписи исходной иллюстрации. Два сумматора справа являются концептуальным примером, не отчётом синтеза.</a:t>
            </a:r>
          </a:p>
          <a:p>
            <a:r>
              <a:t>Изменение схемы ограничено ресурсами и интерфейсами имеющегося кристалла.</a:t>
            </a:r>
          </a:p>
          <a:p>
            <a:endParaRPr/>
          </a:p>
          <a:p>
            <a:r>
              <a:t>Источники и материалы: FPGA — Field-Programmable Gate Array · Общая архитектура: старый курс, lecture_1.pdf, с. 7</a:t>
            </a:r>
          </a:p>
          <a:p>
            <a:r>
              <a:t>Сопроводительные ссылки и происхождение изображений: README.md.</a:t>
            </a:r>
          </a:p>
        </p:txBody>
      </p:sp>
      <p:sp>
        <p:nvSpPr>
          <p:cNvPr id="4" name="Slide Number Placeholder 3">
            <a:extLst>
              <a:ext uri="{FF2B5EF4-FFF2-40B4-BE49-F238E27FC236}">
                <a16:creationId xmlns:a16="http://schemas.microsoft.com/office/drawing/2014/main" id="{CB330F2B-595A-D526-5307-C20A0EA507DE}"/>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252689860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15C19F-5B46-0456-7E99-AFA5D830DCB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6102AFD-A38F-E294-F60F-BE5724932A04}"/>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81ABEC3D-ADE4-949F-3300-E428E9CA5DFF}"/>
              </a:ext>
            </a:extLst>
          </p:cNvPr>
          <p:cNvSpPr>
            <a:spLocks noGrp="1"/>
          </p:cNvSpPr>
          <p:nvPr>
            <p:ph type="body" idx="1"/>
          </p:nvPr>
        </p:nvSpPr>
        <p:spPr/>
        <p:txBody>
          <a:bodyPr/>
          <a:lstStyle/>
          <a:p>
            <a:r>
              <a:t>F04 · Пара 1, 22–30, 8 мин</a:t>
            </a:r>
          </a:p>
          <a:p>
            <a:endParaRPr/>
          </a:p>
          <a:p>
            <a:r>
              <a:t>ПЛИС — программируемая логическая интегральная схема. FPGA — Field-Programmable Gate Array. Кристалл уже изготовлен; конфигурация задаёт функции логических блоков и соединения.</a:t>
            </a:r>
          </a:p>
          <a:p>
            <a:r>
              <a:t>Кратко вспомнить логический элемент, мультиплексор и триггер: функция, выбор, хранение. LUT реализует таблицу логической функции, триггер хранит бит между фронтами. Сейчас достаточно ролей. На рисунке общая архитектура FPGA, не физический план Cyclone IV. CLB и PSM — подписи исходной иллюстрации. Два сумматора справа являются концептуальным примером, не отчётом синтеза.</a:t>
            </a:r>
          </a:p>
          <a:p>
            <a:r>
              <a:t>Изменение схемы ограничено ресурсами и интерфейсами имеющегося кристалла.</a:t>
            </a:r>
          </a:p>
          <a:p>
            <a:endParaRPr/>
          </a:p>
          <a:p>
            <a:r>
              <a:t>Источники и материалы: FPGA — Field-Programmable Gate Array · Общая архитектура: старый курс, lecture_1.pdf, с. 7</a:t>
            </a:r>
          </a:p>
          <a:p>
            <a:r>
              <a:t>Сопроводительные ссылки и происхождение изображений: README.md.</a:t>
            </a:r>
          </a:p>
        </p:txBody>
      </p:sp>
      <p:sp>
        <p:nvSpPr>
          <p:cNvPr id="4" name="Slide Number Placeholder 3">
            <a:extLst>
              <a:ext uri="{FF2B5EF4-FFF2-40B4-BE49-F238E27FC236}">
                <a16:creationId xmlns:a16="http://schemas.microsoft.com/office/drawing/2014/main" id="{806424E7-933A-D649-3DF6-10318E9AA614}"/>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248261866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B3B674-F86A-C4C4-5C09-FFC9B85435E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63658A8-9830-FE01-2BB2-AF0BB87CF37A}"/>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A2E6CCD6-E832-EDE1-61FB-6C850F8EB66A}"/>
              </a:ext>
            </a:extLst>
          </p:cNvPr>
          <p:cNvSpPr>
            <a:spLocks noGrp="1"/>
          </p:cNvSpPr>
          <p:nvPr>
            <p:ph type="body" idx="1"/>
          </p:nvPr>
        </p:nvSpPr>
        <p:spPr/>
        <p:txBody>
          <a:bodyPr/>
          <a:lstStyle/>
          <a:p>
            <a:r>
              <a:t>F04 · Пара 1, 22–30, 8 мин</a:t>
            </a:r>
          </a:p>
          <a:p>
            <a:endParaRPr/>
          </a:p>
          <a:p>
            <a:r>
              <a:t>ПЛИС — программируемая логическая интегральная схема. FPGA — Field-Programmable Gate Array. Кристалл уже изготовлен; конфигурация задаёт функции логических блоков и соединения.</a:t>
            </a:r>
          </a:p>
          <a:p>
            <a:r>
              <a:t>Кратко вспомнить логический элемент, мультиплексор и триггер: функция, выбор, хранение. LUT реализует таблицу логической функции, триггер хранит бит между фронтами. Сейчас достаточно ролей. На рисунке общая архитектура FPGA, не физический план Cyclone IV. CLB и PSM — подписи исходной иллюстрации. Два сумматора справа являются концептуальным примером, не отчётом синтеза.</a:t>
            </a:r>
          </a:p>
          <a:p>
            <a:r>
              <a:t>Изменение схемы ограничено ресурсами и интерфейсами имеющегося кристалла.</a:t>
            </a:r>
          </a:p>
          <a:p>
            <a:endParaRPr/>
          </a:p>
          <a:p>
            <a:r>
              <a:t>Источники и материалы: FPGA — Field-Programmable Gate Array · Общая архитектура: старый курс, lecture_1.pdf, с. 7</a:t>
            </a:r>
          </a:p>
          <a:p>
            <a:r>
              <a:t>Сопроводительные ссылки и происхождение изображений: README.md.</a:t>
            </a:r>
          </a:p>
        </p:txBody>
      </p:sp>
      <p:sp>
        <p:nvSpPr>
          <p:cNvPr id="4" name="Slide Number Placeholder 3">
            <a:extLst>
              <a:ext uri="{FF2B5EF4-FFF2-40B4-BE49-F238E27FC236}">
                <a16:creationId xmlns:a16="http://schemas.microsoft.com/office/drawing/2014/main" id="{26BBB6A9-7A14-487A-8B2E-D983E5CD5A3B}"/>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152330840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625315-78C3-3B68-DDDC-5F0EA8BC898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AFD1CC3-E99C-A986-6B02-E6F227B6E389}"/>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BD5EFCE3-162F-5C1D-B1C2-13D3F299F519}"/>
              </a:ext>
            </a:extLst>
          </p:cNvPr>
          <p:cNvSpPr>
            <a:spLocks noGrp="1"/>
          </p:cNvSpPr>
          <p:nvPr>
            <p:ph type="body" idx="1"/>
          </p:nvPr>
        </p:nvSpPr>
        <p:spPr/>
        <p:txBody>
          <a:bodyPr/>
          <a:lstStyle/>
          <a:p>
            <a:r>
              <a:t>F04 · Пара 1, 22–30, 8 мин</a:t>
            </a:r>
          </a:p>
          <a:p>
            <a:endParaRPr/>
          </a:p>
          <a:p>
            <a:r>
              <a:t>ПЛИС — программируемая логическая интегральная схема. FPGA — Field-Programmable Gate Array. Кристалл уже изготовлен; конфигурация задаёт функции логических блоков и соединения.</a:t>
            </a:r>
          </a:p>
          <a:p>
            <a:r>
              <a:t>Кратко вспомнить логический элемент, мультиплексор и триггер: функция, выбор, хранение. LUT реализует таблицу логической функции, триггер хранит бит между фронтами. Сейчас достаточно ролей. На рисунке общая архитектура FPGA, не физический план Cyclone IV. CLB и PSM — подписи исходной иллюстрации. Два сумматора справа являются концептуальным примером, не отчётом синтеза.</a:t>
            </a:r>
          </a:p>
          <a:p>
            <a:r>
              <a:t>Изменение схемы ограничено ресурсами и интерфейсами имеющегося кристалла.</a:t>
            </a:r>
          </a:p>
          <a:p>
            <a:endParaRPr/>
          </a:p>
          <a:p>
            <a:r>
              <a:t>Источники и материалы: FPGA — Field-Programmable Gate Array · Общая архитектура: старый курс, lecture_1.pdf, с. 7</a:t>
            </a:r>
          </a:p>
          <a:p>
            <a:r>
              <a:t>Сопроводительные ссылки и происхождение изображений: README.md.</a:t>
            </a:r>
          </a:p>
        </p:txBody>
      </p:sp>
      <p:sp>
        <p:nvSpPr>
          <p:cNvPr id="4" name="Slide Number Placeholder 3">
            <a:extLst>
              <a:ext uri="{FF2B5EF4-FFF2-40B4-BE49-F238E27FC236}">
                <a16:creationId xmlns:a16="http://schemas.microsoft.com/office/drawing/2014/main" id="{9587FF46-E326-3268-056A-6E8AAA981601}"/>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412979361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B3DF8C-FF70-C584-147E-898FAFD856A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12502DE-76C0-97FD-475E-6ED698FA4486}"/>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C00203DB-698E-5DCC-CC9D-CE51CC8F2BDE}"/>
              </a:ext>
            </a:extLst>
          </p:cNvPr>
          <p:cNvSpPr>
            <a:spLocks noGrp="1"/>
          </p:cNvSpPr>
          <p:nvPr>
            <p:ph type="body" idx="1"/>
          </p:nvPr>
        </p:nvSpPr>
        <p:spPr/>
        <p:txBody>
          <a:bodyPr/>
          <a:lstStyle/>
          <a:p>
            <a:r>
              <a:t>F04 · Пара 1, 22–30, 8 мин</a:t>
            </a:r>
          </a:p>
          <a:p>
            <a:endParaRPr/>
          </a:p>
          <a:p>
            <a:r>
              <a:t>ПЛИС — программируемая логическая интегральная схема. FPGA — Field-Programmable Gate Array. Кристалл уже изготовлен; конфигурация задаёт функции логических блоков и соединения.</a:t>
            </a:r>
          </a:p>
          <a:p>
            <a:r>
              <a:t>Кратко вспомнить логический элемент, мультиплексор и триггер: функция, выбор, хранение. LUT реализует таблицу логической функции, триггер хранит бит между фронтами. Сейчас достаточно ролей. На рисунке общая архитектура FPGA, не физический план Cyclone IV. CLB и PSM — подписи исходной иллюстрации. Два сумматора справа являются концептуальным примером, не отчётом синтеза.</a:t>
            </a:r>
          </a:p>
          <a:p>
            <a:r>
              <a:t>Изменение схемы ограничено ресурсами и интерфейсами имеющегося кристалла.</a:t>
            </a:r>
          </a:p>
          <a:p>
            <a:endParaRPr/>
          </a:p>
          <a:p>
            <a:r>
              <a:t>Источники и материалы: FPGA — Field-Programmable Gate Array · Общая архитектура: старый курс, lecture_1.pdf, с. 7</a:t>
            </a:r>
          </a:p>
          <a:p>
            <a:r>
              <a:t>Сопроводительные ссылки и происхождение изображений: README.md.</a:t>
            </a:r>
          </a:p>
        </p:txBody>
      </p:sp>
      <p:sp>
        <p:nvSpPr>
          <p:cNvPr id="4" name="Slide Number Placeholder 3">
            <a:extLst>
              <a:ext uri="{FF2B5EF4-FFF2-40B4-BE49-F238E27FC236}">
                <a16:creationId xmlns:a16="http://schemas.microsoft.com/office/drawing/2014/main" id="{31893D23-1CCF-A1B1-4946-66E842125D66}"/>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247367781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671584-4680-98CB-23F8-871E61C902B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B97F56C-5482-FF5E-A105-6C739217523D}"/>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CB076329-1659-2535-F2B5-299A1AA7D422}"/>
              </a:ext>
            </a:extLst>
          </p:cNvPr>
          <p:cNvSpPr>
            <a:spLocks noGrp="1"/>
          </p:cNvSpPr>
          <p:nvPr>
            <p:ph type="body" idx="1"/>
          </p:nvPr>
        </p:nvSpPr>
        <p:spPr/>
        <p:txBody>
          <a:bodyPr/>
          <a:lstStyle/>
          <a:p>
            <a:r>
              <a:t>F04 · Пара 1, 22–30, 8 мин</a:t>
            </a:r>
          </a:p>
          <a:p>
            <a:endParaRPr/>
          </a:p>
          <a:p>
            <a:r>
              <a:t>ПЛИС — программируемая логическая интегральная схема. FPGA — Field-Programmable Gate Array. Кристалл уже изготовлен; конфигурация задаёт функции логических блоков и соединения.</a:t>
            </a:r>
          </a:p>
          <a:p>
            <a:r>
              <a:t>Кратко вспомнить логический элемент, мультиплексор и триггер: функция, выбор, хранение. LUT реализует таблицу логической функции, триггер хранит бит между фронтами. Сейчас достаточно ролей. На рисунке общая архитектура FPGA, не физический план Cyclone IV. CLB и PSM — подписи исходной иллюстрации. Два сумматора справа являются концептуальным примером, не отчётом синтеза.</a:t>
            </a:r>
          </a:p>
          <a:p>
            <a:r>
              <a:t>Изменение схемы ограничено ресурсами и интерфейсами имеющегося кристалла.</a:t>
            </a:r>
          </a:p>
          <a:p>
            <a:endParaRPr/>
          </a:p>
          <a:p>
            <a:r>
              <a:t>Источники и материалы: FPGA — Field-Programmable Gate Array · Общая архитектура: старый курс, lecture_1.pdf, с. 7</a:t>
            </a:r>
          </a:p>
          <a:p>
            <a:r>
              <a:t>Сопроводительные ссылки и происхождение изображений: README.md.</a:t>
            </a:r>
          </a:p>
        </p:txBody>
      </p:sp>
      <p:sp>
        <p:nvSpPr>
          <p:cNvPr id="4" name="Slide Number Placeholder 3">
            <a:extLst>
              <a:ext uri="{FF2B5EF4-FFF2-40B4-BE49-F238E27FC236}">
                <a16:creationId xmlns:a16="http://schemas.microsoft.com/office/drawing/2014/main" id="{1E27C912-7D2D-4508-A648-C367B66D97B4}"/>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295832695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256B56-3F2A-DE04-6F46-3445B7D196B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C440382-4D71-0F72-AE6F-ED0B53BFFB1A}"/>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16ADBCBD-4637-3736-A672-56E096D83690}"/>
              </a:ext>
            </a:extLst>
          </p:cNvPr>
          <p:cNvSpPr>
            <a:spLocks noGrp="1"/>
          </p:cNvSpPr>
          <p:nvPr>
            <p:ph type="body" idx="1"/>
          </p:nvPr>
        </p:nvSpPr>
        <p:spPr/>
        <p:txBody>
          <a:bodyPr/>
          <a:lstStyle/>
          <a:p>
            <a:r>
              <a:t>F04 · Пара 1, 22–30, 8 мин</a:t>
            </a:r>
          </a:p>
          <a:p>
            <a:endParaRPr/>
          </a:p>
          <a:p>
            <a:r>
              <a:t>ПЛИС — программируемая логическая интегральная схема. FPGA — Field-Programmable Gate Array. Кристалл уже изготовлен; конфигурация задаёт функции логических блоков и соединения.</a:t>
            </a:r>
          </a:p>
          <a:p>
            <a:r>
              <a:t>Кратко вспомнить логический элемент, мультиплексор и триггер: функция, выбор, хранение. LUT реализует таблицу логической функции, триггер хранит бит между фронтами. Сейчас достаточно ролей. На рисунке общая архитектура FPGA, не физический план Cyclone IV. CLB и PSM — подписи исходной иллюстрации. Два сумматора справа являются концептуальным примером, не отчётом синтеза.</a:t>
            </a:r>
          </a:p>
          <a:p>
            <a:r>
              <a:t>Изменение схемы ограничено ресурсами и интерфейсами имеющегося кристалла.</a:t>
            </a:r>
          </a:p>
          <a:p>
            <a:endParaRPr/>
          </a:p>
          <a:p>
            <a:r>
              <a:t>Источники и материалы: FPGA — Field-Programmable Gate Array · Общая архитектура: старый курс, lecture_1.pdf, с. 7</a:t>
            </a:r>
          </a:p>
          <a:p>
            <a:r>
              <a:t>Сопроводительные ссылки и происхождение изображений: README.md.</a:t>
            </a:r>
          </a:p>
        </p:txBody>
      </p:sp>
      <p:sp>
        <p:nvSpPr>
          <p:cNvPr id="4" name="Slide Number Placeholder 3">
            <a:extLst>
              <a:ext uri="{FF2B5EF4-FFF2-40B4-BE49-F238E27FC236}">
                <a16:creationId xmlns:a16="http://schemas.microsoft.com/office/drawing/2014/main" id="{D99F15BB-7423-91BA-935F-F7A23A40CAC8}"/>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212395787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119902-17E8-3651-4CF4-FF7068DF1F7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54063EF-E021-762D-6081-C42C81BE24E0}"/>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4EDEE206-6CE8-0F57-D4C9-107769FADEA5}"/>
              </a:ext>
            </a:extLst>
          </p:cNvPr>
          <p:cNvSpPr>
            <a:spLocks noGrp="1"/>
          </p:cNvSpPr>
          <p:nvPr>
            <p:ph type="body" idx="1"/>
          </p:nvPr>
        </p:nvSpPr>
        <p:spPr/>
        <p:txBody>
          <a:bodyPr/>
          <a:lstStyle/>
          <a:p>
            <a:r>
              <a:t>F04 · Пара 1, 22–30, 8 мин</a:t>
            </a:r>
          </a:p>
          <a:p>
            <a:endParaRPr/>
          </a:p>
          <a:p>
            <a:r>
              <a:t>ПЛИС — программируемая логическая интегральная схема. FPGA — Field-Programmable Gate Array. Кристалл уже изготовлен; конфигурация задаёт функции логических блоков и соединения.</a:t>
            </a:r>
          </a:p>
          <a:p>
            <a:r>
              <a:t>Кратко вспомнить логический элемент, мультиплексор и триггер: функция, выбор, хранение. LUT реализует таблицу логической функции, триггер хранит бит между фронтами. Сейчас достаточно ролей. На рисунке общая архитектура FPGA, не физический план Cyclone IV. CLB и PSM — подписи исходной иллюстрации. Два сумматора справа являются концептуальным примером, не отчётом синтеза.</a:t>
            </a:r>
          </a:p>
          <a:p>
            <a:r>
              <a:t>Изменение схемы ограничено ресурсами и интерфейсами имеющегося кристалла.</a:t>
            </a:r>
          </a:p>
          <a:p>
            <a:endParaRPr/>
          </a:p>
          <a:p>
            <a:r>
              <a:t>Источники и материалы: FPGA — Field-Programmable Gate Array · Общая архитектура: старый курс, lecture_1.pdf, с. 7</a:t>
            </a:r>
          </a:p>
          <a:p>
            <a:r>
              <a:t>Сопроводительные ссылки и происхождение изображений: README.md.</a:t>
            </a:r>
          </a:p>
        </p:txBody>
      </p:sp>
      <p:sp>
        <p:nvSpPr>
          <p:cNvPr id="4" name="Slide Number Placeholder 3">
            <a:extLst>
              <a:ext uri="{FF2B5EF4-FFF2-40B4-BE49-F238E27FC236}">
                <a16:creationId xmlns:a16="http://schemas.microsoft.com/office/drawing/2014/main" id="{CE8E1512-545E-A756-4679-C367122A49DC}"/>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255695330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E6F24D-A33A-9D79-3F95-6D29835EC9D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0BB16B7-8CF0-D0EE-E8AC-9D930C75C46D}"/>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C7B98D7F-94D2-00ED-AEC6-6F8EDEBB13C3}"/>
              </a:ext>
            </a:extLst>
          </p:cNvPr>
          <p:cNvSpPr>
            <a:spLocks noGrp="1"/>
          </p:cNvSpPr>
          <p:nvPr>
            <p:ph type="body" idx="1"/>
          </p:nvPr>
        </p:nvSpPr>
        <p:spPr/>
        <p:txBody>
          <a:bodyPr/>
          <a:lstStyle/>
          <a:p>
            <a:r>
              <a:t>F04 · Пара 1, 22–30, 8 мин</a:t>
            </a:r>
          </a:p>
          <a:p>
            <a:endParaRPr/>
          </a:p>
          <a:p>
            <a:r>
              <a:t>ПЛИС — программируемая логическая интегральная схема. FPGA — Field-Programmable Gate Array. Кристалл уже изготовлен; конфигурация задаёт функции логических блоков и соединения.</a:t>
            </a:r>
          </a:p>
          <a:p>
            <a:r>
              <a:t>Кратко вспомнить логический элемент, мультиплексор и триггер: функция, выбор, хранение. LUT реализует таблицу логической функции, триггер хранит бит между фронтами. Сейчас достаточно ролей. На рисунке общая архитектура FPGA, не физический план Cyclone IV. CLB и PSM — подписи исходной иллюстрации. Два сумматора справа являются концептуальным примером, не отчётом синтеза.</a:t>
            </a:r>
          </a:p>
          <a:p>
            <a:r>
              <a:t>Изменение схемы ограничено ресурсами и интерфейсами имеющегося кристалла.</a:t>
            </a:r>
          </a:p>
          <a:p>
            <a:endParaRPr/>
          </a:p>
          <a:p>
            <a:r>
              <a:t>Источники и материалы: FPGA — Field-Programmable Gate Array · Общая архитектура: старый курс, lecture_1.pdf, с. 7</a:t>
            </a:r>
          </a:p>
          <a:p>
            <a:r>
              <a:t>Сопроводительные ссылки и происхождение изображений: README.md.</a:t>
            </a:r>
          </a:p>
        </p:txBody>
      </p:sp>
      <p:sp>
        <p:nvSpPr>
          <p:cNvPr id="4" name="Slide Number Placeholder 3">
            <a:extLst>
              <a:ext uri="{FF2B5EF4-FFF2-40B4-BE49-F238E27FC236}">
                <a16:creationId xmlns:a16="http://schemas.microsoft.com/office/drawing/2014/main" id="{5E36F4EE-AF30-57E9-1B32-50E7E2AC3111}"/>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116006088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7461BC-82BB-0C72-7473-6EA3650E7C4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E499637-2F02-430F-24D3-DE95BE573C6B}"/>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6673E313-6319-0152-506F-2878A42A892A}"/>
              </a:ext>
            </a:extLst>
          </p:cNvPr>
          <p:cNvSpPr>
            <a:spLocks noGrp="1"/>
          </p:cNvSpPr>
          <p:nvPr>
            <p:ph type="body" idx="1"/>
          </p:nvPr>
        </p:nvSpPr>
        <p:spPr/>
        <p:txBody>
          <a:bodyPr/>
          <a:lstStyle/>
          <a:p>
            <a:r>
              <a:t>F04 · Пара 1, 22–30, 8 мин</a:t>
            </a:r>
          </a:p>
          <a:p>
            <a:endParaRPr/>
          </a:p>
          <a:p>
            <a:r>
              <a:t>ПЛИС — программируемая логическая интегральная схема. FPGA — Field-Programmable Gate Array. Кристалл уже изготовлен; конфигурация задаёт функции логических блоков и соединения.</a:t>
            </a:r>
          </a:p>
          <a:p>
            <a:r>
              <a:t>Кратко вспомнить логический элемент, мультиплексор и триггер: функция, выбор, хранение. LUT реализует таблицу логической функции, триггер хранит бит между фронтами. Сейчас достаточно ролей. На рисунке общая архитектура FPGA, не физический план Cyclone IV. CLB и PSM — подписи исходной иллюстрации. Два сумматора справа являются концептуальным примером, не отчётом синтеза.</a:t>
            </a:r>
          </a:p>
          <a:p>
            <a:r>
              <a:t>Изменение схемы ограничено ресурсами и интерфейсами имеющегося кристалла.</a:t>
            </a:r>
          </a:p>
          <a:p>
            <a:endParaRPr/>
          </a:p>
          <a:p>
            <a:r>
              <a:t>Источники и материалы: FPGA — Field-Programmable Gate Array · Общая архитектура: старый курс, lecture_1.pdf, с. 7</a:t>
            </a:r>
          </a:p>
          <a:p>
            <a:r>
              <a:t>Сопроводительные ссылки и происхождение изображений: README.md.</a:t>
            </a:r>
          </a:p>
        </p:txBody>
      </p:sp>
      <p:sp>
        <p:nvSpPr>
          <p:cNvPr id="4" name="Slide Number Placeholder 3">
            <a:extLst>
              <a:ext uri="{FF2B5EF4-FFF2-40B4-BE49-F238E27FC236}">
                <a16:creationId xmlns:a16="http://schemas.microsoft.com/office/drawing/2014/main" id="{BD9E4D6C-A7A9-0F49-7663-86BA96F5BFEE}"/>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393813473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A49CE5-FAB0-A50D-4EE7-D09D8E07C8A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473E071-2A26-CBD9-8A02-B8E612B557E7}"/>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0E308EBA-3FEB-596A-8BBA-C8825410E43B}"/>
              </a:ext>
            </a:extLst>
          </p:cNvPr>
          <p:cNvSpPr>
            <a:spLocks noGrp="1"/>
          </p:cNvSpPr>
          <p:nvPr>
            <p:ph type="body" idx="1"/>
          </p:nvPr>
        </p:nvSpPr>
        <p:spPr/>
        <p:txBody>
          <a:bodyPr/>
          <a:lstStyle/>
          <a:p>
            <a:r>
              <a:t>F04 · Пара 1, 22–30, 8 мин</a:t>
            </a:r>
          </a:p>
          <a:p>
            <a:endParaRPr/>
          </a:p>
          <a:p>
            <a:r>
              <a:t>ПЛИС — программируемая логическая интегральная схема. FPGA — Field-Programmable Gate Array. Кристалл уже изготовлен; конфигурация задаёт функции логических блоков и соединения.</a:t>
            </a:r>
          </a:p>
          <a:p>
            <a:r>
              <a:t>Кратко вспомнить логический элемент, мультиплексор и триггер: функция, выбор, хранение. LUT реализует таблицу логической функции, триггер хранит бит между фронтами. Сейчас достаточно ролей. На рисунке общая архитектура FPGA, не физический план Cyclone IV. CLB и PSM — подписи исходной иллюстрации. Два сумматора справа являются концептуальным примером, не отчётом синтеза.</a:t>
            </a:r>
          </a:p>
          <a:p>
            <a:r>
              <a:t>Изменение схемы ограничено ресурсами и интерфейсами имеющегося кристалла.</a:t>
            </a:r>
          </a:p>
          <a:p>
            <a:endParaRPr/>
          </a:p>
          <a:p>
            <a:r>
              <a:t>Источники и материалы: FPGA — Field-Programmable Gate Array · Общая архитектура: старый курс, lecture_1.pdf, с. 7</a:t>
            </a:r>
          </a:p>
          <a:p>
            <a:r>
              <a:t>Сопроводительные ссылки и происхождение изображений: README.md.</a:t>
            </a:r>
          </a:p>
        </p:txBody>
      </p:sp>
      <p:sp>
        <p:nvSpPr>
          <p:cNvPr id="4" name="Slide Number Placeholder 3">
            <a:extLst>
              <a:ext uri="{FF2B5EF4-FFF2-40B4-BE49-F238E27FC236}">
                <a16:creationId xmlns:a16="http://schemas.microsoft.com/office/drawing/2014/main" id="{2EA24C54-DC99-99B5-38F6-8C326C406CB2}"/>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245934192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jpe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4.jpeg"/></Relationships>
</file>

<file path=ppt/slides/_rels/slide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7.jpeg"/><Relationship Id="rId4" Type="http://schemas.openxmlformats.org/officeDocument/2006/relationships/image" Target="../media/image6.jpeg"/></Relationships>
</file>

<file path=ppt/slides/_rels/slide5.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 Id="rId9" Type="http://schemas.openxmlformats.org/officeDocument/2006/relationships/image" Target="../media/image18.png"/></Relationships>
</file>

<file path=ppt/slides/_rels/slide1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32.png"/></Relationships>
</file>

<file path=ppt/slides/_rels/slide21.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5.xml"/><Relationship Id="rId1" Type="http://schemas.openxmlformats.org/officeDocument/2006/relationships/slideLayout" Target="../slideLayouts/slideLayout1.xml"/><Relationship Id="rId5" Type="http://schemas.openxmlformats.org/officeDocument/2006/relationships/image" Target="../media/image34.png"/><Relationship Id="rId4" Type="http://schemas.openxmlformats.org/officeDocument/2006/relationships/image" Target="../media/image33.png"/></Relationships>
</file>

<file path=ppt/slides/_rels/slide22.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6.xml"/><Relationship Id="rId1" Type="http://schemas.openxmlformats.org/officeDocument/2006/relationships/slideLayout" Target="../slideLayouts/slideLayout1.xml"/><Relationship Id="rId5" Type="http://schemas.openxmlformats.org/officeDocument/2006/relationships/image" Target="../media/image34.png"/><Relationship Id="rId4" Type="http://schemas.openxmlformats.org/officeDocument/2006/relationships/image" Target="../media/image33.png"/></Relationships>
</file>

<file path=ppt/slides/_rels/slide23.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7.xml"/><Relationship Id="rId1" Type="http://schemas.openxmlformats.org/officeDocument/2006/relationships/slideLayout" Target="../slideLayouts/slideLayout1.xml"/><Relationship Id="rId5" Type="http://schemas.openxmlformats.org/officeDocument/2006/relationships/image" Target="../media/image35.png"/><Relationship Id="rId4" Type="http://schemas.openxmlformats.org/officeDocument/2006/relationships/image" Target="../media/image34.png"/></Relationships>
</file>

<file path=ppt/slides/_rels/slide2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image" Target="../media/image36.png"/></Relationships>
</file>

<file path=ppt/slides/_rels/slide25.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19.xml"/><Relationship Id="rId1" Type="http://schemas.openxmlformats.org/officeDocument/2006/relationships/slideLayout" Target="../slideLayouts/slideLayout1.xml"/><Relationship Id="rId4" Type="http://schemas.openxmlformats.org/officeDocument/2006/relationships/image" Target="../media/image38.jpeg"/></Relationships>
</file>

<file path=ppt/slides/_rels/slide26.xml.rels><?xml version="1.0" encoding="UTF-8" standalone="yes"?>
<Relationships xmlns="http://schemas.openxmlformats.org/package/2006/relationships"><Relationship Id="rId3" Type="http://schemas.openxmlformats.org/officeDocument/2006/relationships/image" Target="../media/image38.jpeg"/><Relationship Id="rId2" Type="http://schemas.openxmlformats.org/officeDocument/2006/relationships/notesSlide" Target="../notesSlides/notesSlide20.xml"/><Relationship Id="rId1" Type="http://schemas.openxmlformats.org/officeDocument/2006/relationships/slideLayout" Target="../slideLayouts/slideLayout1.xml"/><Relationship Id="rId4" Type="http://schemas.openxmlformats.org/officeDocument/2006/relationships/image" Target="../media/image39.png"/></Relationships>
</file>

<file path=ppt/slides/_rels/slide27.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21.xml"/><Relationship Id="rId1" Type="http://schemas.openxmlformats.org/officeDocument/2006/relationships/slideLayout" Target="../slideLayouts/slideLayout1.xml"/><Relationship Id="rId4" Type="http://schemas.openxmlformats.org/officeDocument/2006/relationships/image" Target="../media/image41.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 name="text_1">
            <a:extLst>
              <a:ext uri="{FF2B5EF4-FFF2-40B4-BE49-F238E27FC236}">
                <a16:creationId xmlns:a16="http://schemas.microsoft.com/office/drawing/2014/main" id="{233758F3-9405-472C-8A57-1CAB79E9EA24}"/>
              </a:ext>
            </a:extLst>
          </p:cNvPr>
          <p:cNvSpPr>
            <a:spLocks noGrp="1"/>
          </p:cNvSpPr>
          <p:nvPr/>
        </p:nvSpPr>
        <p:spPr>
          <a:xfrm>
            <a:off x="457200" y="333375"/>
            <a:ext cx="11277600" cy="762000"/>
          </a:xfrm>
          <a:prstGeom prst="rect">
            <a:avLst/>
          </a:prstGeom>
          <a:noFill/>
          <a:ln w="0">
            <a:noFill/>
          </a:ln>
        </p:spPr>
        <p:txBody>
          <a:bodyPr wrap="square" lIns="0" tIns="0" rIns="0" bIns="0">
            <a:noAutofit/>
          </a:bodyPr>
          <a:lstStyle/>
          <a:p>
            <a:pPr>
              <a:defRPr sz="3225" b="1">
                <a:solidFill>
                  <a:srgbClr val="182530"/>
                </a:solidFill>
                <a:latin typeface="Arial"/>
                <a:ea typeface="Arial"/>
                <a:cs typeface="Arial"/>
              </a:defRPr>
            </a:pPr>
            <a:r>
              <a:rPr sz="3225" b="1">
                <a:solidFill>
                  <a:srgbClr val="182530"/>
                </a:solidFill>
                <a:latin typeface="Arial"/>
                <a:ea typeface="Arial"/>
                <a:cs typeface="Arial"/>
              </a:rPr>
              <a:t>Структура курса и оценивание</a:t>
            </a:r>
          </a:p>
        </p:txBody>
      </p:sp>
      <p:sp>
        <p:nvSpPr>
          <p:cNvPr id="2" name="line_2">
            <a:extLst>
              <a:ext uri="{FF2B5EF4-FFF2-40B4-BE49-F238E27FC236}">
                <a16:creationId xmlns:a16="http://schemas.microsoft.com/office/drawing/2014/main" id="{3C4C8EA8-564C-4BB6-AB74-4615426F2621}"/>
              </a:ext>
            </a:extLst>
          </p:cNvPr>
          <p:cNvSpPr>
            <a:spLocks noGrp="1"/>
          </p:cNvSpPr>
          <p:nvPr/>
        </p:nvSpPr>
        <p:spPr>
          <a:xfrm>
            <a:off x="457200" y="1133475"/>
            <a:ext cx="11277600" cy="0"/>
          </a:xfrm>
          <a:prstGeom prst="line">
            <a:avLst/>
          </a:prstGeom>
          <a:noFill/>
          <a:ln w="9525">
            <a:solidFill>
              <a:srgbClr val="B9C4CC"/>
            </a:solidFill>
          </a:ln>
        </p:spPr>
        <p:txBody>
          <a:bodyPr/>
          <a:lstStyle/>
          <a:p>
            <a:endParaRPr lang="en-US"/>
          </a:p>
        </p:txBody>
      </p:sp>
      <p:sp>
        <p:nvSpPr>
          <p:cNvPr id="4" name="text_4">
            <a:extLst>
              <a:ext uri="{FF2B5EF4-FFF2-40B4-BE49-F238E27FC236}">
                <a16:creationId xmlns:a16="http://schemas.microsoft.com/office/drawing/2014/main" id="{85204B21-ADF3-4B4F-89B3-C90AE8C2DCC7}"/>
              </a:ext>
            </a:extLst>
          </p:cNvPr>
          <p:cNvSpPr>
            <a:spLocks noGrp="1"/>
          </p:cNvSpPr>
          <p:nvPr/>
        </p:nvSpPr>
        <p:spPr>
          <a:xfrm>
            <a:off x="11220450" y="6343650"/>
            <a:ext cx="514350" cy="304800"/>
          </a:xfrm>
          <a:prstGeom prst="rect">
            <a:avLst/>
          </a:prstGeom>
          <a:noFill/>
          <a:ln w="0">
            <a:noFill/>
          </a:ln>
        </p:spPr>
        <p:txBody>
          <a:bodyPr wrap="square" lIns="0" tIns="0" rIns="0" bIns="0">
            <a:noAutofit/>
          </a:bodyPr>
          <a:lstStyle/>
          <a:p>
            <a:pPr algn="r">
              <a:defRPr sz="1500">
                <a:solidFill>
                  <a:srgbClr val="56616A"/>
                </a:solidFill>
                <a:latin typeface="Arial"/>
                <a:ea typeface="Arial"/>
                <a:cs typeface="Arial"/>
              </a:defRPr>
            </a:pPr>
            <a:r>
              <a:rPr sz="1500">
                <a:solidFill>
                  <a:srgbClr val="56616A"/>
                </a:solidFill>
                <a:latin typeface="Arial"/>
                <a:ea typeface="Arial"/>
                <a:cs typeface="Arial"/>
              </a:rPr>
              <a:t>01</a:t>
            </a:r>
          </a:p>
        </p:txBody>
      </p:sp>
      <p:graphicFrame>
        <p:nvGraphicFramePr>
          <p:cNvPr id="18" name="Table 17"/>
          <p:cNvGraphicFramePr/>
          <p:nvPr>
            <p:extLst>
              <p:ext uri="{D42A27DB-BD31-4B8C-83A1-F6EECF244321}">
                <p14:modId xmlns:p14="http://schemas.microsoft.com/office/powerpoint/2010/main" val="4235808202"/>
              </p:ext>
            </p:extLst>
          </p:nvPr>
        </p:nvGraphicFramePr>
        <p:xfrm>
          <a:off x="457200" y="1447800"/>
          <a:ext cx="2076450" cy="4495800"/>
        </p:xfrm>
        <a:graphic>
          <a:graphicData uri="http://schemas.openxmlformats.org/drawingml/2006/table">
            <a:tbl>
              <a:tblPr firstRow="1"/>
              <a:tblGrid>
                <a:gridCol w="476250">
                  <a:extLst>
                    <a:ext uri="{9D8B030D-6E8A-4147-A177-3AD203B41FA5}">
                      <a16:colId xmlns:a16="http://schemas.microsoft.com/office/drawing/2014/main" val="20000"/>
                    </a:ext>
                  </a:extLst>
                </a:gridCol>
                <a:gridCol w="1600200">
                  <a:extLst>
                    <a:ext uri="{9D8B030D-6E8A-4147-A177-3AD203B41FA5}">
                      <a16:colId xmlns:a16="http://schemas.microsoft.com/office/drawing/2014/main" val="20001"/>
                    </a:ext>
                  </a:extLst>
                </a:gridCol>
              </a:tblGrid>
              <a:tr h="561975">
                <a:tc>
                  <a:txBody>
                    <a:bodyPr/>
                    <a:lstStyle/>
                    <a:p>
                      <a:pPr algn="l"/>
                      <a:r>
                        <a:rPr sz="1725" b="1" dirty="0">
                          <a:solidFill>
                            <a:srgbClr val="182530"/>
                          </a:solidFill>
                          <a:latin typeface="Arial"/>
                          <a:ea typeface="Arial"/>
                          <a:cs typeface="Arial"/>
                        </a:rPr>
                        <a:t>№</a:t>
                      </a:r>
                    </a:p>
                  </a:txBody>
                  <a:tcPr marL="95250" marR="76200" marT="47625" marB="47625" anchor="ctr">
                    <a:solidFill>
                      <a:srgbClr val="F0F4F7"/>
                    </a:solidFill>
                  </a:tcPr>
                </a:tc>
                <a:tc>
                  <a:txBody>
                    <a:bodyPr/>
                    <a:lstStyle/>
                    <a:p>
                      <a:pPr algn="l"/>
                      <a:r>
                        <a:rPr sz="1725" b="1">
                          <a:solidFill>
                            <a:srgbClr val="182530"/>
                          </a:solidFill>
                          <a:latin typeface="Arial"/>
                          <a:ea typeface="Arial"/>
                          <a:cs typeface="Arial"/>
                        </a:rPr>
                        <a:t>Дата</a:t>
                      </a:r>
                    </a:p>
                  </a:txBody>
                  <a:tcPr marL="95250" marR="76200" marT="47625" marB="47625" anchor="ctr">
                    <a:solidFill>
                      <a:srgbClr val="F0F4F7"/>
                    </a:solidFill>
                  </a:tcPr>
                </a:tc>
                <a:extLst>
                  <a:ext uri="{0D108BD9-81ED-4DB2-BD59-A6C34878D82A}">
                    <a16:rowId xmlns:a16="http://schemas.microsoft.com/office/drawing/2014/main" val="10000"/>
                  </a:ext>
                </a:extLst>
              </a:tr>
              <a:tr h="561975">
                <a:tc>
                  <a:txBody>
                    <a:bodyPr/>
                    <a:lstStyle/>
                    <a:p>
                      <a:pPr algn="l"/>
                      <a:r>
                        <a:rPr sz="1725" b="0">
                          <a:solidFill>
                            <a:srgbClr val="182530"/>
                          </a:solidFill>
                          <a:latin typeface="Arial"/>
                          <a:ea typeface="Arial"/>
                          <a:cs typeface="Arial"/>
                        </a:rPr>
                        <a:t>1</a:t>
                      </a:r>
                    </a:p>
                  </a:txBody>
                  <a:tcPr marL="95250" marR="76200" marT="47625" marB="47625" anchor="ctr">
                    <a:solidFill>
                      <a:srgbClr val="FFFFFF"/>
                    </a:solidFill>
                  </a:tcPr>
                </a:tc>
                <a:tc>
                  <a:txBody>
                    <a:bodyPr/>
                    <a:lstStyle/>
                    <a:p>
                      <a:pPr algn="l"/>
                      <a:r>
                        <a:rPr sz="1725" b="0">
                          <a:solidFill>
                            <a:srgbClr val="182530"/>
                          </a:solidFill>
                          <a:latin typeface="Arial"/>
                          <a:ea typeface="Arial"/>
                          <a:cs typeface="Arial"/>
                        </a:rPr>
                        <a:t>08.09.2026</a:t>
                      </a:r>
                    </a:p>
                  </a:txBody>
                  <a:tcPr marL="95250" marR="76200" marT="47625" marB="47625" anchor="ctr">
                    <a:solidFill>
                      <a:srgbClr val="FFFFFF"/>
                    </a:solidFill>
                  </a:tcPr>
                </a:tc>
                <a:extLst>
                  <a:ext uri="{0D108BD9-81ED-4DB2-BD59-A6C34878D82A}">
                    <a16:rowId xmlns:a16="http://schemas.microsoft.com/office/drawing/2014/main" val="10001"/>
                  </a:ext>
                </a:extLst>
              </a:tr>
              <a:tr h="561975">
                <a:tc>
                  <a:txBody>
                    <a:bodyPr/>
                    <a:lstStyle/>
                    <a:p>
                      <a:pPr algn="l"/>
                      <a:r>
                        <a:rPr sz="1725" b="0">
                          <a:solidFill>
                            <a:srgbClr val="182530"/>
                          </a:solidFill>
                          <a:latin typeface="Arial"/>
                          <a:ea typeface="Arial"/>
                          <a:cs typeface="Arial"/>
                        </a:rPr>
                        <a:t>2</a:t>
                      </a:r>
                    </a:p>
                  </a:txBody>
                  <a:tcPr marL="95250" marR="76200" marT="47625" marB="47625" anchor="ctr">
                    <a:solidFill>
                      <a:srgbClr val="FFFFFF"/>
                    </a:solidFill>
                  </a:tcPr>
                </a:tc>
                <a:tc>
                  <a:txBody>
                    <a:bodyPr/>
                    <a:lstStyle/>
                    <a:p>
                      <a:pPr algn="l"/>
                      <a:r>
                        <a:rPr sz="1725" b="0">
                          <a:solidFill>
                            <a:srgbClr val="182530"/>
                          </a:solidFill>
                          <a:latin typeface="Arial"/>
                          <a:ea typeface="Arial"/>
                          <a:cs typeface="Arial"/>
                        </a:rPr>
                        <a:t>22.09.2026</a:t>
                      </a:r>
                    </a:p>
                  </a:txBody>
                  <a:tcPr marL="95250" marR="76200" marT="47625" marB="47625" anchor="ctr">
                    <a:solidFill>
                      <a:srgbClr val="FFFFFF"/>
                    </a:solidFill>
                  </a:tcPr>
                </a:tc>
                <a:extLst>
                  <a:ext uri="{0D108BD9-81ED-4DB2-BD59-A6C34878D82A}">
                    <a16:rowId xmlns:a16="http://schemas.microsoft.com/office/drawing/2014/main" val="10002"/>
                  </a:ext>
                </a:extLst>
              </a:tr>
              <a:tr h="561975">
                <a:tc>
                  <a:txBody>
                    <a:bodyPr/>
                    <a:lstStyle/>
                    <a:p>
                      <a:pPr algn="l"/>
                      <a:r>
                        <a:rPr sz="1725" b="0">
                          <a:solidFill>
                            <a:srgbClr val="182530"/>
                          </a:solidFill>
                          <a:latin typeface="Arial"/>
                          <a:ea typeface="Arial"/>
                          <a:cs typeface="Arial"/>
                        </a:rPr>
                        <a:t>3</a:t>
                      </a:r>
                    </a:p>
                  </a:txBody>
                  <a:tcPr marL="95250" marR="76200" marT="47625" marB="47625" anchor="ctr">
                    <a:solidFill>
                      <a:srgbClr val="FFFFFF"/>
                    </a:solidFill>
                  </a:tcPr>
                </a:tc>
                <a:tc>
                  <a:txBody>
                    <a:bodyPr/>
                    <a:lstStyle/>
                    <a:p>
                      <a:pPr algn="l"/>
                      <a:r>
                        <a:rPr sz="1725" b="0">
                          <a:solidFill>
                            <a:srgbClr val="182530"/>
                          </a:solidFill>
                          <a:latin typeface="Arial"/>
                          <a:ea typeface="Arial"/>
                          <a:cs typeface="Arial"/>
                        </a:rPr>
                        <a:t>06.10.2026</a:t>
                      </a:r>
                    </a:p>
                  </a:txBody>
                  <a:tcPr marL="95250" marR="76200" marT="47625" marB="47625" anchor="ctr">
                    <a:solidFill>
                      <a:srgbClr val="FFFFFF"/>
                    </a:solidFill>
                  </a:tcPr>
                </a:tc>
                <a:extLst>
                  <a:ext uri="{0D108BD9-81ED-4DB2-BD59-A6C34878D82A}">
                    <a16:rowId xmlns:a16="http://schemas.microsoft.com/office/drawing/2014/main" val="10003"/>
                  </a:ext>
                </a:extLst>
              </a:tr>
              <a:tr h="561975">
                <a:tc>
                  <a:txBody>
                    <a:bodyPr/>
                    <a:lstStyle/>
                    <a:p>
                      <a:pPr algn="l"/>
                      <a:r>
                        <a:rPr sz="1725" b="0">
                          <a:solidFill>
                            <a:srgbClr val="182530"/>
                          </a:solidFill>
                          <a:latin typeface="Arial"/>
                          <a:ea typeface="Arial"/>
                          <a:cs typeface="Arial"/>
                        </a:rPr>
                        <a:t>4</a:t>
                      </a:r>
                    </a:p>
                  </a:txBody>
                  <a:tcPr marL="95250" marR="76200" marT="47625" marB="47625" anchor="ctr">
                    <a:solidFill>
                      <a:srgbClr val="FFFFFF"/>
                    </a:solidFill>
                  </a:tcPr>
                </a:tc>
                <a:tc>
                  <a:txBody>
                    <a:bodyPr/>
                    <a:lstStyle/>
                    <a:p>
                      <a:pPr algn="l"/>
                      <a:r>
                        <a:rPr sz="1725" b="0">
                          <a:solidFill>
                            <a:srgbClr val="182530"/>
                          </a:solidFill>
                          <a:latin typeface="Arial"/>
                          <a:ea typeface="Arial"/>
                          <a:cs typeface="Arial"/>
                        </a:rPr>
                        <a:t>20.10.2026</a:t>
                      </a:r>
                    </a:p>
                  </a:txBody>
                  <a:tcPr marL="95250" marR="76200" marT="47625" marB="47625" anchor="ctr">
                    <a:solidFill>
                      <a:srgbClr val="FFFFFF"/>
                    </a:solidFill>
                  </a:tcPr>
                </a:tc>
                <a:extLst>
                  <a:ext uri="{0D108BD9-81ED-4DB2-BD59-A6C34878D82A}">
                    <a16:rowId xmlns:a16="http://schemas.microsoft.com/office/drawing/2014/main" val="10004"/>
                  </a:ext>
                </a:extLst>
              </a:tr>
              <a:tr h="561975">
                <a:tc>
                  <a:txBody>
                    <a:bodyPr/>
                    <a:lstStyle/>
                    <a:p>
                      <a:pPr algn="l"/>
                      <a:r>
                        <a:rPr sz="1725" b="0">
                          <a:solidFill>
                            <a:srgbClr val="182530"/>
                          </a:solidFill>
                          <a:latin typeface="Arial"/>
                          <a:ea typeface="Arial"/>
                          <a:cs typeface="Arial"/>
                        </a:rPr>
                        <a:t>5</a:t>
                      </a:r>
                    </a:p>
                  </a:txBody>
                  <a:tcPr marL="95250" marR="76200" marT="47625" marB="47625" anchor="ctr">
                    <a:solidFill>
                      <a:srgbClr val="FFFFFF"/>
                    </a:solidFill>
                  </a:tcPr>
                </a:tc>
                <a:tc>
                  <a:txBody>
                    <a:bodyPr/>
                    <a:lstStyle/>
                    <a:p>
                      <a:pPr algn="l"/>
                      <a:r>
                        <a:rPr sz="1725" b="0">
                          <a:solidFill>
                            <a:srgbClr val="182530"/>
                          </a:solidFill>
                          <a:latin typeface="Arial"/>
                          <a:ea typeface="Arial"/>
                          <a:cs typeface="Arial"/>
                        </a:rPr>
                        <a:t>03.11.2026</a:t>
                      </a:r>
                    </a:p>
                  </a:txBody>
                  <a:tcPr marL="95250" marR="76200" marT="47625" marB="47625" anchor="ctr">
                    <a:solidFill>
                      <a:srgbClr val="FFFFFF"/>
                    </a:solidFill>
                  </a:tcPr>
                </a:tc>
                <a:extLst>
                  <a:ext uri="{0D108BD9-81ED-4DB2-BD59-A6C34878D82A}">
                    <a16:rowId xmlns:a16="http://schemas.microsoft.com/office/drawing/2014/main" val="10005"/>
                  </a:ext>
                </a:extLst>
              </a:tr>
              <a:tr h="561975">
                <a:tc>
                  <a:txBody>
                    <a:bodyPr/>
                    <a:lstStyle/>
                    <a:p>
                      <a:pPr algn="l"/>
                      <a:r>
                        <a:rPr sz="1725" b="0">
                          <a:solidFill>
                            <a:srgbClr val="182530"/>
                          </a:solidFill>
                          <a:latin typeface="Arial"/>
                          <a:ea typeface="Arial"/>
                          <a:cs typeface="Arial"/>
                        </a:rPr>
                        <a:t>6</a:t>
                      </a:r>
                    </a:p>
                  </a:txBody>
                  <a:tcPr marL="95250" marR="76200" marT="47625" marB="47625" anchor="ctr">
                    <a:solidFill>
                      <a:srgbClr val="FFFFFF"/>
                    </a:solidFill>
                  </a:tcPr>
                </a:tc>
                <a:tc>
                  <a:txBody>
                    <a:bodyPr/>
                    <a:lstStyle/>
                    <a:p>
                      <a:pPr algn="l"/>
                      <a:r>
                        <a:rPr sz="1725" b="0">
                          <a:solidFill>
                            <a:srgbClr val="182530"/>
                          </a:solidFill>
                          <a:latin typeface="Arial"/>
                          <a:ea typeface="Arial"/>
                          <a:cs typeface="Arial"/>
                        </a:rPr>
                        <a:t>17.11.2026</a:t>
                      </a:r>
                    </a:p>
                  </a:txBody>
                  <a:tcPr marL="95250" marR="76200" marT="47625" marB="47625" anchor="ctr">
                    <a:solidFill>
                      <a:srgbClr val="FFFFFF"/>
                    </a:solidFill>
                  </a:tcPr>
                </a:tc>
                <a:extLst>
                  <a:ext uri="{0D108BD9-81ED-4DB2-BD59-A6C34878D82A}">
                    <a16:rowId xmlns:a16="http://schemas.microsoft.com/office/drawing/2014/main" val="10006"/>
                  </a:ext>
                </a:extLst>
              </a:tr>
              <a:tr h="561975">
                <a:tc>
                  <a:txBody>
                    <a:bodyPr/>
                    <a:lstStyle/>
                    <a:p>
                      <a:pPr algn="l"/>
                      <a:r>
                        <a:rPr sz="1725" b="0">
                          <a:solidFill>
                            <a:srgbClr val="182530"/>
                          </a:solidFill>
                          <a:latin typeface="Arial"/>
                          <a:ea typeface="Arial"/>
                          <a:cs typeface="Arial"/>
                        </a:rPr>
                        <a:t>7</a:t>
                      </a:r>
                    </a:p>
                  </a:txBody>
                  <a:tcPr marL="95250" marR="76200" marT="47625" marB="47625" anchor="ctr">
                    <a:solidFill>
                      <a:srgbClr val="FFFFFF"/>
                    </a:solidFill>
                  </a:tcPr>
                </a:tc>
                <a:tc>
                  <a:txBody>
                    <a:bodyPr/>
                    <a:lstStyle/>
                    <a:p>
                      <a:pPr algn="l"/>
                      <a:r>
                        <a:rPr sz="1725" b="0" dirty="0">
                          <a:solidFill>
                            <a:srgbClr val="182530"/>
                          </a:solidFill>
                          <a:latin typeface="Arial"/>
                          <a:ea typeface="Arial"/>
                          <a:cs typeface="Arial"/>
                        </a:rPr>
                        <a:t>01.12.2026</a:t>
                      </a:r>
                    </a:p>
                  </a:txBody>
                  <a:tcPr marL="95250" marR="76200" marT="47625" marB="47625" anchor="ctr">
                    <a:solidFill>
                      <a:srgbClr val="FFFFFF"/>
                    </a:solidFill>
                  </a:tcPr>
                </a:tc>
                <a:extLst>
                  <a:ext uri="{0D108BD9-81ED-4DB2-BD59-A6C34878D82A}">
                    <a16:rowId xmlns:a16="http://schemas.microsoft.com/office/drawing/2014/main" val="10007"/>
                  </a:ext>
                </a:extLst>
              </a:tr>
            </a:tbl>
          </a:graphicData>
        </a:graphic>
      </p:graphicFrame>
      <p:sp>
        <p:nvSpPr>
          <p:cNvPr id="6" name="text_5">
            <a:extLst>
              <a:ext uri="{FF2B5EF4-FFF2-40B4-BE49-F238E27FC236}">
                <a16:creationId xmlns:a16="http://schemas.microsoft.com/office/drawing/2014/main" id="{D5E34696-AFB7-46C8-BCDB-3AD2E2EFE3F9}"/>
              </a:ext>
            </a:extLst>
          </p:cNvPr>
          <p:cNvSpPr>
            <a:spLocks noGrp="1"/>
          </p:cNvSpPr>
          <p:nvPr/>
        </p:nvSpPr>
        <p:spPr>
          <a:xfrm>
            <a:off x="3333750" y="1616075"/>
            <a:ext cx="3714750" cy="447675"/>
          </a:xfrm>
          <a:prstGeom prst="rect">
            <a:avLst/>
          </a:prstGeom>
          <a:noFill/>
          <a:ln w="0">
            <a:noFill/>
          </a:ln>
        </p:spPr>
        <p:txBody>
          <a:bodyPr wrap="square" lIns="0" tIns="0" rIns="0" bIns="0">
            <a:noAutofit/>
          </a:bodyPr>
          <a:lstStyle/>
          <a:p>
            <a:pPr>
              <a:defRPr sz="2550" b="1">
                <a:solidFill>
                  <a:srgbClr val="182530"/>
                </a:solidFill>
                <a:latin typeface="Arial"/>
                <a:ea typeface="Arial"/>
                <a:cs typeface="Arial"/>
              </a:defRPr>
            </a:pPr>
            <a:r>
              <a:rPr lang="en-US" sz="2550" b="1" dirty="0">
                <a:solidFill>
                  <a:srgbClr val="182530"/>
                </a:solidFill>
                <a:latin typeface="Arial"/>
                <a:ea typeface="Arial"/>
                <a:cs typeface="Arial"/>
              </a:rPr>
              <a:t>5-6</a:t>
            </a:r>
            <a:r>
              <a:rPr sz="2550" b="1" dirty="0">
                <a:solidFill>
                  <a:srgbClr val="182530"/>
                </a:solidFill>
                <a:latin typeface="Arial"/>
                <a:ea typeface="Arial"/>
                <a:cs typeface="Arial"/>
              </a:rPr>
              <a:t> </a:t>
            </a:r>
            <a:r>
              <a:rPr lang="ru-RU" sz="2550" b="1" dirty="0">
                <a:solidFill>
                  <a:srgbClr val="182530"/>
                </a:solidFill>
                <a:latin typeface="Arial"/>
                <a:ea typeface="Arial"/>
                <a:cs typeface="Arial"/>
              </a:rPr>
              <a:t>домашних</a:t>
            </a:r>
            <a:r>
              <a:rPr sz="2550" b="1" dirty="0">
                <a:solidFill>
                  <a:srgbClr val="182530"/>
                </a:solidFill>
                <a:latin typeface="Arial"/>
                <a:ea typeface="Arial"/>
                <a:cs typeface="Arial"/>
              </a:rPr>
              <a:t> </a:t>
            </a:r>
            <a:r>
              <a:rPr lang="ru-RU" sz="2550" b="1" dirty="0">
                <a:solidFill>
                  <a:srgbClr val="182530"/>
                </a:solidFill>
                <a:latin typeface="Arial"/>
                <a:ea typeface="Arial"/>
                <a:cs typeface="Arial"/>
              </a:rPr>
              <a:t>работ</a:t>
            </a:r>
            <a:endParaRPr sz="2550" b="1" dirty="0">
              <a:solidFill>
                <a:srgbClr val="182530"/>
              </a:solidFill>
              <a:latin typeface="Arial"/>
              <a:ea typeface="Arial"/>
              <a:cs typeface="Arial"/>
            </a:endParaRPr>
          </a:p>
        </p:txBody>
      </p:sp>
      <p:sp>
        <p:nvSpPr>
          <p:cNvPr id="7" name="text_6">
            <a:extLst>
              <a:ext uri="{FF2B5EF4-FFF2-40B4-BE49-F238E27FC236}">
                <a16:creationId xmlns:a16="http://schemas.microsoft.com/office/drawing/2014/main" id="{30B483F7-96B2-4DD7-935E-05A7303D789B}"/>
              </a:ext>
            </a:extLst>
          </p:cNvPr>
          <p:cNvSpPr>
            <a:spLocks noGrp="1"/>
          </p:cNvSpPr>
          <p:nvPr/>
        </p:nvSpPr>
        <p:spPr>
          <a:xfrm>
            <a:off x="3333750" y="2111374"/>
            <a:ext cx="3714750" cy="1558926"/>
          </a:xfrm>
          <a:prstGeom prst="rect">
            <a:avLst/>
          </a:prstGeom>
          <a:noFill/>
          <a:ln w="0">
            <a:noFill/>
          </a:ln>
        </p:spPr>
        <p:txBody>
          <a:bodyPr wrap="square" lIns="0" tIns="0" rIns="0" bIns="0">
            <a:noAutofit/>
          </a:bodyPr>
          <a:lstStyle/>
          <a:p>
            <a:pPr>
              <a:defRPr sz="1875">
                <a:solidFill>
                  <a:srgbClr val="182530"/>
                </a:solidFill>
                <a:latin typeface="Arial"/>
                <a:ea typeface="Arial"/>
                <a:cs typeface="Arial"/>
              </a:defRPr>
            </a:pPr>
            <a:r>
              <a:rPr lang="ru-RU" sz="1875" dirty="0">
                <a:solidFill>
                  <a:srgbClr val="182530"/>
                </a:solidFill>
                <a:latin typeface="Arial"/>
                <a:ea typeface="Arial"/>
                <a:cs typeface="Arial"/>
              </a:rPr>
              <a:t>Выдача</a:t>
            </a:r>
            <a:r>
              <a:rPr sz="1875" dirty="0">
                <a:solidFill>
                  <a:srgbClr val="182530"/>
                </a:solidFill>
                <a:latin typeface="Arial"/>
                <a:ea typeface="Arial"/>
                <a:cs typeface="Arial"/>
              </a:rPr>
              <a:t> </a:t>
            </a:r>
            <a:r>
              <a:rPr lang="ru-RU" sz="1875" dirty="0">
                <a:solidFill>
                  <a:srgbClr val="182530"/>
                </a:solidFill>
                <a:latin typeface="Arial"/>
                <a:ea typeface="Arial"/>
                <a:cs typeface="Arial"/>
              </a:rPr>
              <a:t>н</a:t>
            </a:r>
            <a:r>
              <a:rPr sz="1875" dirty="0">
                <a:solidFill>
                  <a:srgbClr val="182530"/>
                </a:solidFill>
                <a:latin typeface="Arial"/>
                <a:ea typeface="Arial"/>
                <a:cs typeface="Arial"/>
              </a:rPr>
              <a:t>а </a:t>
            </a:r>
            <a:r>
              <a:rPr lang="ru-RU" sz="1875" dirty="0">
                <a:solidFill>
                  <a:srgbClr val="182530"/>
                </a:solidFill>
                <a:latin typeface="Arial"/>
                <a:ea typeface="Arial"/>
                <a:cs typeface="Arial"/>
              </a:rPr>
              <a:t>лекциях</a:t>
            </a:r>
            <a:r>
              <a:rPr sz="1875" dirty="0">
                <a:solidFill>
                  <a:srgbClr val="182530"/>
                </a:solidFill>
                <a:latin typeface="Arial"/>
                <a:ea typeface="Arial"/>
                <a:cs typeface="Arial"/>
              </a:rPr>
              <a:t> 1–6</a:t>
            </a:r>
            <a:endParaRPr lang="ru-RU" sz="1875" dirty="0">
              <a:solidFill>
                <a:srgbClr val="182530"/>
              </a:solidFill>
              <a:latin typeface="Arial"/>
              <a:ea typeface="Arial"/>
              <a:cs typeface="Arial"/>
            </a:endParaRPr>
          </a:p>
          <a:p>
            <a:pPr>
              <a:defRPr sz="1875">
                <a:solidFill>
                  <a:srgbClr val="182530"/>
                </a:solidFill>
                <a:latin typeface="Arial"/>
                <a:ea typeface="Arial"/>
                <a:cs typeface="Arial"/>
              </a:defRPr>
            </a:pPr>
            <a:r>
              <a:rPr lang="ru-RU" sz="1875" dirty="0">
                <a:solidFill>
                  <a:srgbClr val="182530"/>
                </a:solidFill>
                <a:latin typeface="Arial"/>
                <a:ea typeface="Arial"/>
                <a:cs typeface="Arial"/>
              </a:rPr>
              <a:t>Сдается на следующей лекции</a:t>
            </a:r>
          </a:p>
          <a:p>
            <a:pPr>
              <a:defRPr sz="1875">
                <a:solidFill>
                  <a:srgbClr val="182530"/>
                </a:solidFill>
                <a:latin typeface="Arial"/>
                <a:ea typeface="Arial"/>
                <a:cs typeface="Arial"/>
              </a:defRPr>
            </a:pPr>
            <a:endParaRPr lang="ru-RU" sz="1875" dirty="0">
              <a:solidFill>
                <a:srgbClr val="182530"/>
              </a:solidFill>
              <a:latin typeface="Arial"/>
              <a:ea typeface="Arial"/>
              <a:cs typeface="Arial"/>
            </a:endParaRPr>
          </a:p>
          <a:p>
            <a:pPr>
              <a:defRPr sz="1875">
                <a:solidFill>
                  <a:srgbClr val="182530"/>
                </a:solidFill>
                <a:latin typeface="Arial"/>
                <a:ea typeface="Arial"/>
                <a:cs typeface="Arial"/>
              </a:defRPr>
            </a:pPr>
            <a:r>
              <a:rPr lang="ru-RU" sz="2000" b="1" dirty="0">
                <a:solidFill>
                  <a:srgbClr val="A84C14"/>
                </a:solidFill>
                <a:latin typeface="Arial"/>
                <a:ea typeface="Arial"/>
                <a:cs typeface="Arial"/>
              </a:rPr>
              <a:t>Просрочка: −1 балл</a:t>
            </a:r>
          </a:p>
          <a:p>
            <a:pPr>
              <a:defRPr sz="1875">
                <a:solidFill>
                  <a:srgbClr val="182530"/>
                </a:solidFill>
                <a:latin typeface="Arial"/>
                <a:ea typeface="Arial"/>
                <a:cs typeface="Arial"/>
              </a:defRPr>
            </a:pPr>
            <a:r>
              <a:rPr lang="ru-RU" sz="2000" dirty="0">
                <a:solidFill>
                  <a:srgbClr val="182530"/>
                </a:solidFill>
                <a:latin typeface="Arial"/>
                <a:ea typeface="Arial"/>
                <a:cs typeface="Arial"/>
              </a:rPr>
              <a:t>За каждую лекцию задержки</a:t>
            </a:r>
          </a:p>
          <a:p>
            <a:pPr>
              <a:defRPr sz="1875">
                <a:solidFill>
                  <a:srgbClr val="182530"/>
                </a:solidFill>
                <a:latin typeface="Arial"/>
                <a:ea typeface="Arial"/>
                <a:cs typeface="Arial"/>
              </a:defRPr>
            </a:pPr>
            <a:endParaRPr lang="ru-RU" sz="2000" b="1" dirty="0">
              <a:solidFill>
                <a:srgbClr val="A84C14"/>
              </a:solidFill>
              <a:latin typeface="Arial"/>
              <a:ea typeface="Arial"/>
              <a:cs typeface="Arial"/>
            </a:endParaRPr>
          </a:p>
          <a:p>
            <a:pPr>
              <a:defRPr sz="1875">
                <a:solidFill>
                  <a:srgbClr val="182530"/>
                </a:solidFill>
                <a:latin typeface="Arial"/>
                <a:ea typeface="Arial"/>
                <a:cs typeface="Arial"/>
              </a:defRPr>
            </a:pPr>
            <a:endParaRPr lang="ru-RU" sz="1875" dirty="0">
              <a:solidFill>
                <a:srgbClr val="182530"/>
              </a:solidFill>
              <a:latin typeface="Arial"/>
              <a:ea typeface="Arial"/>
              <a:cs typeface="Arial"/>
            </a:endParaRPr>
          </a:p>
          <a:p>
            <a:pPr>
              <a:defRPr sz="1875">
                <a:solidFill>
                  <a:srgbClr val="182530"/>
                </a:solidFill>
                <a:latin typeface="Arial"/>
                <a:ea typeface="Arial"/>
                <a:cs typeface="Arial"/>
              </a:defRPr>
            </a:pPr>
            <a:endParaRPr sz="1875" dirty="0">
              <a:solidFill>
                <a:srgbClr val="182530"/>
              </a:solidFill>
              <a:latin typeface="Arial"/>
              <a:ea typeface="Arial"/>
              <a:cs typeface="Arial"/>
            </a:endParaRPr>
          </a:p>
        </p:txBody>
      </p:sp>
      <p:sp>
        <p:nvSpPr>
          <p:cNvPr id="11" name="text_10">
            <a:extLst>
              <a:ext uri="{FF2B5EF4-FFF2-40B4-BE49-F238E27FC236}">
                <a16:creationId xmlns:a16="http://schemas.microsoft.com/office/drawing/2014/main" id="{E91F5AE4-AB26-4F63-89EA-E03D1EA6E045}"/>
              </a:ext>
            </a:extLst>
          </p:cNvPr>
          <p:cNvSpPr>
            <a:spLocks noGrp="1"/>
          </p:cNvSpPr>
          <p:nvPr/>
        </p:nvSpPr>
        <p:spPr>
          <a:xfrm>
            <a:off x="3238500" y="2649538"/>
            <a:ext cx="3714750" cy="590550"/>
          </a:xfrm>
          <a:prstGeom prst="rect">
            <a:avLst/>
          </a:prstGeom>
          <a:noFill/>
          <a:ln w="0">
            <a:noFill/>
          </a:ln>
        </p:spPr>
        <p:txBody>
          <a:bodyPr wrap="square" lIns="0" tIns="0" rIns="0" bIns="0">
            <a:noAutofit/>
          </a:bodyPr>
          <a:lstStyle/>
          <a:p>
            <a:pPr>
              <a:defRPr sz="1875">
                <a:solidFill>
                  <a:srgbClr val="182530"/>
                </a:solidFill>
                <a:latin typeface="Arial"/>
                <a:ea typeface="Arial"/>
                <a:cs typeface="Arial"/>
              </a:defRPr>
            </a:pPr>
            <a:endParaRPr sz="1875" dirty="0">
              <a:solidFill>
                <a:srgbClr val="182530"/>
              </a:solidFill>
              <a:latin typeface="Arial"/>
              <a:ea typeface="Arial"/>
              <a:cs typeface="Arial"/>
            </a:endParaRPr>
          </a:p>
        </p:txBody>
      </p:sp>
      <p:sp>
        <p:nvSpPr>
          <p:cNvPr id="12" name="text_11">
            <a:extLst>
              <a:ext uri="{FF2B5EF4-FFF2-40B4-BE49-F238E27FC236}">
                <a16:creationId xmlns:a16="http://schemas.microsoft.com/office/drawing/2014/main" id="{79764A12-7F17-4AB1-96A2-ECE6CBF98EC4}"/>
              </a:ext>
            </a:extLst>
          </p:cNvPr>
          <p:cNvSpPr>
            <a:spLocks noGrp="1"/>
          </p:cNvSpPr>
          <p:nvPr/>
        </p:nvSpPr>
        <p:spPr>
          <a:xfrm>
            <a:off x="7943850" y="5219700"/>
            <a:ext cx="3714750" cy="381000"/>
          </a:xfrm>
          <a:prstGeom prst="rect">
            <a:avLst/>
          </a:prstGeom>
          <a:noFill/>
          <a:ln w="0">
            <a:noFill/>
          </a:ln>
        </p:spPr>
        <p:txBody>
          <a:bodyPr wrap="square" lIns="0" tIns="0" rIns="0" bIns="0">
            <a:noAutofit/>
          </a:bodyPr>
          <a:lstStyle/>
          <a:p>
            <a:pPr>
              <a:defRPr sz="2175" b="1">
                <a:solidFill>
                  <a:srgbClr val="A84C14"/>
                </a:solidFill>
                <a:latin typeface="Arial"/>
                <a:ea typeface="Arial"/>
                <a:cs typeface="Arial"/>
              </a:defRPr>
            </a:pPr>
            <a:endParaRPr sz="2175" b="1" dirty="0">
              <a:solidFill>
                <a:srgbClr val="A84C14"/>
              </a:solidFill>
              <a:latin typeface="Arial"/>
              <a:ea typeface="Arial"/>
              <a:cs typeface="Arial"/>
            </a:endParaRPr>
          </a:p>
        </p:txBody>
      </p:sp>
      <p:sp>
        <p:nvSpPr>
          <p:cNvPr id="13" name="text_12">
            <a:extLst>
              <a:ext uri="{FF2B5EF4-FFF2-40B4-BE49-F238E27FC236}">
                <a16:creationId xmlns:a16="http://schemas.microsoft.com/office/drawing/2014/main" id="{01F50559-1EE1-42E1-BE7B-C9CEF00B2365}"/>
              </a:ext>
            </a:extLst>
          </p:cNvPr>
          <p:cNvSpPr>
            <a:spLocks noGrp="1"/>
          </p:cNvSpPr>
          <p:nvPr/>
        </p:nvSpPr>
        <p:spPr>
          <a:xfrm>
            <a:off x="7943850" y="5657850"/>
            <a:ext cx="3714750" cy="419100"/>
          </a:xfrm>
          <a:prstGeom prst="rect">
            <a:avLst/>
          </a:prstGeom>
          <a:noFill/>
          <a:ln w="0">
            <a:noFill/>
          </a:ln>
        </p:spPr>
        <p:txBody>
          <a:bodyPr wrap="square" lIns="0" tIns="0" rIns="0" bIns="0">
            <a:noAutofit/>
          </a:bodyPr>
          <a:lstStyle/>
          <a:p>
            <a:pPr>
              <a:defRPr sz="1800">
                <a:solidFill>
                  <a:srgbClr val="182530"/>
                </a:solidFill>
                <a:latin typeface="Arial"/>
                <a:ea typeface="Arial"/>
                <a:cs typeface="Arial"/>
              </a:defRPr>
            </a:pPr>
            <a:endParaRPr sz="1800" dirty="0">
              <a:solidFill>
                <a:srgbClr val="182530"/>
              </a:solidFill>
              <a:latin typeface="Arial"/>
              <a:ea typeface="Arial"/>
              <a:cs typeface="Arial"/>
            </a:endParaRPr>
          </a:p>
        </p:txBody>
      </p:sp>
    </p:spTree>
    <p:extLst>
      <p:ext uri="{BB962C8B-B14F-4D97-AF65-F5344CB8AC3E}">
        <p14:creationId xmlns:p14="http://schemas.microsoft.com/office/powerpoint/2010/main" val="108707946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3" name="text_13">
            <a:extLst>
              <a:ext uri="{FF2B5EF4-FFF2-40B4-BE49-F238E27FC236}">
                <a16:creationId xmlns:a16="http://schemas.microsoft.com/office/drawing/2014/main" id="{02DDD47E-E22E-4966-AFB7-33574408FBFF}"/>
              </a:ext>
            </a:extLst>
          </p:cNvPr>
          <p:cNvSpPr>
            <a:spLocks noGrp="1"/>
          </p:cNvSpPr>
          <p:nvPr/>
        </p:nvSpPr>
        <p:spPr>
          <a:xfrm>
            <a:off x="457200" y="333375"/>
            <a:ext cx="11277600" cy="762000"/>
          </a:xfrm>
          <a:prstGeom prst="rect">
            <a:avLst/>
          </a:prstGeom>
          <a:noFill/>
          <a:ln w="0">
            <a:noFill/>
          </a:ln>
        </p:spPr>
        <p:txBody>
          <a:bodyPr wrap="square" lIns="0" tIns="0" rIns="0" bIns="0">
            <a:noAutofit/>
          </a:bodyPr>
          <a:lstStyle/>
          <a:p>
            <a:pPr>
              <a:defRPr sz="3225" b="1">
                <a:solidFill>
                  <a:srgbClr val="182530"/>
                </a:solidFill>
                <a:latin typeface="Arial"/>
                <a:ea typeface="Arial"/>
                <a:cs typeface="Arial"/>
              </a:defRPr>
            </a:pPr>
            <a:r>
              <a:rPr sz="3225" b="1" dirty="0">
                <a:solidFill>
                  <a:srgbClr val="182530"/>
                </a:solidFill>
                <a:latin typeface="Arial"/>
                <a:ea typeface="Arial"/>
                <a:cs typeface="Arial"/>
              </a:rPr>
              <a:t>CPU</a:t>
            </a:r>
          </a:p>
        </p:txBody>
      </p:sp>
      <p:sp>
        <p:nvSpPr>
          <p:cNvPr id="2" name="line_14">
            <a:extLst>
              <a:ext uri="{FF2B5EF4-FFF2-40B4-BE49-F238E27FC236}">
                <a16:creationId xmlns:a16="http://schemas.microsoft.com/office/drawing/2014/main" id="{DBB36DB5-F1FF-4DC3-99F4-D7814529EDCD}"/>
              </a:ext>
            </a:extLst>
          </p:cNvPr>
          <p:cNvSpPr>
            <a:spLocks noGrp="1"/>
          </p:cNvSpPr>
          <p:nvPr/>
        </p:nvSpPr>
        <p:spPr>
          <a:xfrm>
            <a:off x="457200" y="1133475"/>
            <a:ext cx="11277600" cy="0"/>
          </a:xfrm>
          <a:prstGeom prst="line">
            <a:avLst/>
          </a:prstGeom>
          <a:noFill/>
          <a:ln w="9525">
            <a:solidFill>
              <a:srgbClr val="B9C4CC"/>
            </a:solidFill>
          </a:ln>
        </p:spPr>
        <p:txBody>
          <a:bodyPr/>
          <a:lstStyle/>
          <a:p>
            <a:endParaRPr lang="en-US"/>
          </a:p>
        </p:txBody>
      </p:sp>
      <p:sp>
        <p:nvSpPr>
          <p:cNvPr id="4" name="text_16">
            <a:extLst>
              <a:ext uri="{FF2B5EF4-FFF2-40B4-BE49-F238E27FC236}">
                <a16:creationId xmlns:a16="http://schemas.microsoft.com/office/drawing/2014/main" id="{355F5C48-8B52-49CD-81D6-C67EBDE4F344}"/>
              </a:ext>
            </a:extLst>
          </p:cNvPr>
          <p:cNvSpPr>
            <a:spLocks noGrp="1"/>
          </p:cNvSpPr>
          <p:nvPr/>
        </p:nvSpPr>
        <p:spPr>
          <a:xfrm>
            <a:off x="11220450" y="6343650"/>
            <a:ext cx="514350" cy="304800"/>
          </a:xfrm>
          <a:prstGeom prst="rect">
            <a:avLst/>
          </a:prstGeom>
          <a:noFill/>
          <a:ln w="0">
            <a:noFill/>
          </a:ln>
        </p:spPr>
        <p:txBody>
          <a:bodyPr wrap="square" lIns="0" tIns="0" rIns="0" bIns="0">
            <a:noAutofit/>
          </a:bodyPr>
          <a:lstStyle/>
          <a:p>
            <a:pPr algn="r">
              <a:defRPr sz="1500">
                <a:solidFill>
                  <a:srgbClr val="56616A"/>
                </a:solidFill>
                <a:latin typeface="Arial"/>
                <a:ea typeface="Arial"/>
                <a:cs typeface="Arial"/>
              </a:defRPr>
            </a:pPr>
            <a:r>
              <a:rPr sz="1500">
                <a:solidFill>
                  <a:srgbClr val="56616A"/>
                </a:solidFill>
                <a:latin typeface="Arial"/>
                <a:ea typeface="Arial"/>
                <a:cs typeface="Arial"/>
              </a:rPr>
              <a:t>02</a:t>
            </a:r>
          </a:p>
        </p:txBody>
      </p:sp>
      <p:sp>
        <p:nvSpPr>
          <p:cNvPr id="30" name="TextBox 29">
            <a:extLst>
              <a:ext uri="{FF2B5EF4-FFF2-40B4-BE49-F238E27FC236}">
                <a16:creationId xmlns:a16="http://schemas.microsoft.com/office/drawing/2014/main" id="{220BC68E-DE5D-A16C-7073-07BB0EF66E81}"/>
              </a:ext>
            </a:extLst>
          </p:cNvPr>
          <p:cNvSpPr txBox="1"/>
          <p:nvPr/>
        </p:nvSpPr>
        <p:spPr>
          <a:xfrm>
            <a:off x="501650" y="1854935"/>
            <a:ext cx="2667000" cy="2090059"/>
          </a:xfrm>
          <a:prstGeom prst="rect">
            <a:avLst/>
          </a:prstGeom>
          <a:noFill/>
        </p:spPr>
        <p:txBody>
          <a:bodyPr wrap="square">
            <a:spAutoFit/>
          </a:bodyPr>
          <a:lstStyle/>
          <a:p>
            <a:pPr>
              <a:lnSpc>
                <a:spcPct val="113095"/>
              </a:lnSpc>
              <a:buNone/>
            </a:pPr>
            <a:r>
              <a:rPr lang="en-US" sz="1050" b="0" dirty="0">
                <a:solidFill>
                  <a:srgbClr val="CF222E"/>
                </a:solidFill>
                <a:effectLst/>
                <a:latin typeface="Consolas" panose="020B0609020204030204" pitchFamily="49" charset="0"/>
              </a:rPr>
              <a:t>int</a:t>
            </a:r>
            <a:r>
              <a:rPr lang="en-US" sz="1050" b="0" dirty="0">
                <a:solidFill>
                  <a:srgbClr val="202020"/>
                </a:solidFill>
                <a:effectLst/>
                <a:latin typeface="Consolas" panose="020B0609020204030204" pitchFamily="49" charset="0"/>
              </a:rPr>
              <a:t> </a:t>
            </a:r>
            <a:r>
              <a:rPr lang="en-US" sz="1050" b="0" dirty="0">
                <a:solidFill>
                  <a:srgbClr val="8250DF"/>
                </a:solidFill>
                <a:effectLst/>
                <a:latin typeface="Consolas" panose="020B0609020204030204" pitchFamily="49" charset="0"/>
              </a:rPr>
              <a:t>main</a:t>
            </a:r>
            <a:r>
              <a:rPr lang="en-US" sz="1050" b="0" dirty="0">
                <a:solidFill>
                  <a:srgbClr val="202020"/>
                </a:solidFill>
                <a:effectLst/>
                <a:latin typeface="Consolas" panose="020B0609020204030204" pitchFamily="49" charset="0"/>
              </a:rPr>
              <a:t>() {</a:t>
            </a:r>
          </a:p>
          <a:p>
            <a:pPr>
              <a:lnSpc>
                <a:spcPct val="113095"/>
              </a:lnSpc>
              <a:buNone/>
            </a:pPr>
            <a:r>
              <a:rPr lang="en-US" sz="1050" b="0" dirty="0">
                <a:solidFill>
                  <a:srgbClr val="202020"/>
                </a:solidFill>
                <a:effectLst/>
                <a:latin typeface="Consolas" panose="020B0609020204030204" pitchFamily="49" charset="0"/>
              </a:rPr>
              <a:t>    </a:t>
            </a:r>
            <a:r>
              <a:rPr lang="en-US" sz="1050" b="0" dirty="0">
                <a:solidFill>
                  <a:srgbClr val="CF222E"/>
                </a:solidFill>
                <a:effectLst/>
                <a:latin typeface="Consolas" panose="020B0609020204030204" pitchFamily="49" charset="0"/>
              </a:rPr>
              <a:t>int</a:t>
            </a:r>
            <a:r>
              <a:rPr lang="en-US" sz="1050" b="0" dirty="0">
                <a:solidFill>
                  <a:srgbClr val="202020"/>
                </a:solidFill>
                <a:effectLst/>
                <a:latin typeface="Consolas" panose="020B0609020204030204" pitchFamily="49" charset="0"/>
              </a:rPr>
              <a:t> </a:t>
            </a:r>
            <a:r>
              <a:rPr lang="en-US" sz="1050" b="0" dirty="0">
                <a:solidFill>
                  <a:srgbClr val="1F2328"/>
                </a:solidFill>
                <a:effectLst/>
                <a:latin typeface="Consolas" panose="020B0609020204030204" pitchFamily="49" charset="0"/>
              </a:rPr>
              <a:t>a</a:t>
            </a:r>
            <a:r>
              <a:rPr lang="en-US" sz="1050" b="0" dirty="0">
                <a:solidFill>
                  <a:srgbClr val="202020"/>
                </a:solidFill>
                <a:effectLst/>
                <a:latin typeface="Consolas" panose="020B0609020204030204" pitchFamily="49" charset="0"/>
              </a:rPr>
              <a:t>[</a:t>
            </a:r>
            <a:r>
              <a:rPr lang="en-US" sz="1050" b="0" dirty="0">
                <a:solidFill>
                  <a:srgbClr val="098658"/>
                </a:solidFill>
                <a:effectLst/>
                <a:latin typeface="Consolas" panose="020B0609020204030204" pitchFamily="49" charset="0"/>
              </a:rPr>
              <a:t>10</a:t>
            </a:r>
            <a:r>
              <a:rPr lang="en-US" sz="1050" b="0" dirty="0">
                <a:solidFill>
                  <a:srgbClr val="202020"/>
                </a:solidFill>
                <a:effectLst/>
                <a:latin typeface="Consolas" panose="020B0609020204030204" pitchFamily="49" charset="0"/>
              </a:rPr>
              <a:t>] </a:t>
            </a:r>
            <a:r>
              <a:rPr lang="en-US" sz="1050" b="0" dirty="0">
                <a:solidFill>
                  <a:srgbClr val="000000"/>
                </a:solidFill>
                <a:effectLst/>
                <a:latin typeface="Consolas" panose="020B0609020204030204" pitchFamily="49" charset="0"/>
              </a:rPr>
              <a:t>=</a:t>
            </a:r>
            <a:r>
              <a:rPr lang="en-US" sz="1050" b="0" dirty="0">
                <a:solidFill>
                  <a:srgbClr val="202020"/>
                </a:solidFill>
                <a:effectLst/>
                <a:latin typeface="Consolas" panose="020B0609020204030204" pitchFamily="49" charset="0"/>
              </a:rPr>
              <a:t> </a:t>
            </a:r>
            <a:r>
              <a:rPr lang="en-US" sz="1050" b="0" dirty="0">
                <a:solidFill>
                  <a:srgbClr val="1F2328"/>
                </a:solidFill>
                <a:effectLst/>
                <a:latin typeface="Consolas" panose="020B0609020204030204" pitchFamily="49" charset="0"/>
              </a:rPr>
              <a:t>{ ... }</a:t>
            </a:r>
            <a:r>
              <a:rPr lang="en-US" sz="1050" b="0" dirty="0">
                <a:solidFill>
                  <a:srgbClr val="202020"/>
                </a:solidFill>
                <a:effectLst/>
                <a:latin typeface="Consolas" panose="020B0609020204030204" pitchFamily="49" charset="0"/>
              </a:rPr>
              <a:t>;</a:t>
            </a:r>
          </a:p>
          <a:p>
            <a:pPr>
              <a:lnSpc>
                <a:spcPct val="113095"/>
              </a:lnSpc>
              <a:buNone/>
            </a:pPr>
            <a:r>
              <a:rPr lang="en-US" sz="1050" b="0" dirty="0">
                <a:solidFill>
                  <a:srgbClr val="202020"/>
                </a:solidFill>
                <a:effectLst/>
                <a:latin typeface="Consolas" panose="020B0609020204030204" pitchFamily="49" charset="0"/>
              </a:rPr>
              <a:t>    </a:t>
            </a:r>
            <a:r>
              <a:rPr lang="en-US" sz="1050" b="0" dirty="0">
                <a:solidFill>
                  <a:srgbClr val="CF222E"/>
                </a:solidFill>
                <a:effectLst/>
                <a:latin typeface="Consolas" panose="020B0609020204030204" pitchFamily="49" charset="0"/>
              </a:rPr>
              <a:t>int</a:t>
            </a:r>
            <a:r>
              <a:rPr lang="en-US" sz="1050" b="0" dirty="0">
                <a:solidFill>
                  <a:srgbClr val="202020"/>
                </a:solidFill>
                <a:effectLst/>
                <a:latin typeface="Consolas" panose="020B0609020204030204" pitchFamily="49" charset="0"/>
              </a:rPr>
              <a:t> </a:t>
            </a:r>
            <a:r>
              <a:rPr lang="en-US" sz="1050" b="0" dirty="0">
                <a:solidFill>
                  <a:srgbClr val="1F2328"/>
                </a:solidFill>
                <a:effectLst/>
                <a:latin typeface="Consolas" panose="020B0609020204030204" pitchFamily="49" charset="0"/>
              </a:rPr>
              <a:t>b</a:t>
            </a:r>
            <a:r>
              <a:rPr lang="en-US" sz="1050" b="0" dirty="0">
                <a:solidFill>
                  <a:srgbClr val="202020"/>
                </a:solidFill>
                <a:effectLst/>
                <a:latin typeface="Consolas" panose="020B0609020204030204" pitchFamily="49" charset="0"/>
              </a:rPr>
              <a:t>[</a:t>
            </a:r>
            <a:r>
              <a:rPr lang="en-US" sz="1050" b="0" dirty="0">
                <a:solidFill>
                  <a:srgbClr val="098658"/>
                </a:solidFill>
                <a:effectLst/>
                <a:latin typeface="Consolas" panose="020B0609020204030204" pitchFamily="49" charset="0"/>
              </a:rPr>
              <a:t>10</a:t>
            </a:r>
            <a:r>
              <a:rPr lang="en-US" sz="1050" b="0" dirty="0">
                <a:solidFill>
                  <a:srgbClr val="202020"/>
                </a:solidFill>
                <a:effectLst/>
                <a:latin typeface="Consolas" panose="020B0609020204030204" pitchFamily="49" charset="0"/>
              </a:rPr>
              <a:t>] </a:t>
            </a:r>
            <a:r>
              <a:rPr lang="en-US" sz="1050" b="0" dirty="0">
                <a:solidFill>
                  <a:srgbClr val="000000"/>
                </a:solidFill>
                <a:effectLst/>
                <a:latin typeface="Consolas" panose="020B0609020204030204" pitchFamily="49" charset="0"/>
              </a:rPr>
              <a:t>=</a:t>
            </a:r>
            <a:r>
              <a:rPr lang="en-US" sz="1050" b="0" dirty="0">
                <a:solidFill>
                  <a:srgbClr val="202020"/>
                </a:solidFill>
                <a:effectLst/>
                <a:latin typeface="Consolas" panose="020B0609020204030204" pitchFamily="49" charset="0"/>
              </a:rPr>
              <a:t> </a:t>
            </a:r>
            <a:r>
              <a:rPr lang="en-US" sz="1050" b="0" dirty="0">
                <a:solidFill>
                  <a:srgbClr val="1F2328"/>
                </a:solidFill>
                <a:effectLst/>
                <a:latin typeface="Consolas" panose="020B0609020204030204" pitchFamily="49" charset="0"/>
              </a:rPr>
              <a:t>{ ... }</a:t>
            </a:r>
            <a:r>
              <a:rPr lang="en-US" sz="1050" b="0" dirty="0">
                <a:solidFill>
                  <a:srgbClr val="202020"/>
                </a:solidFill>
                <a:effectLst/>
                <a:latin typeface="Consolas" panose="020B0609020204030204" pitchFamily="49" charset="0"/>
              </a:rPr>
              <a:t>;</a:t>
            </a:r>
          </a:p>
          <a:p>
            <a:pPr>
              <a:lnSpc>
                <a:spcPct val="113095"/>
              </a:lnSpc>
              <a:buNone/>
            </a:pPr>
            <a:r>
              <a:rPr lang="en-US" sz="1050" b="0" dirty="0">
                <a:solidFill>
                  <a:srgbClr val="202020"/>
                </a:solidFill>
                <a:effectLst/>
                <a:latin typeface="Consolas" panose="020B0609020204030204" pitchFamily="49" charset="0"/>
              </a:rPr>
              <a:t>    </a:t>
            </a:r>
            <a:r>
              <a:rPr lang="en-US" sz="1050" b="0" dirty="0">
                <a:solidFill>
                  <a:srgbClr val="CF222E"/>
                </a:solidFill>
                <a:effectLst/>
                <a:latin typeface="Consolas" panose="020B0609020204030204" pitchFamily="49" charset="0"/>
              </a:rPr>
              <a:t>int</a:t>
            </a:r>
            <a:r>
              <a:rPr lang="en-US" sz="1050" b="0" dirty="0">
                <a:solidFill>
                  <a:srgbClr val="202020"/>
                </a:solidFill>
                <a:effectLst/>
                <a:latin typeface="Consolas" panose="020B0609020204030204" pitchFamily="49" charset="0"/>
              </a:rPr>
              <a:t> </a:t>
            </a:r>
            <a:r>
              <a:rPr lang="en-US" sz="1050" b="0" dirty="0">
                <a:solidFill>
                  <a:srgbClr val="1F2328"/>
                </a:solidFill>
                <a:effectLst/>
                <a:latin typeface="Consolas" panose="020B0609020204030204" pitchFamily="49" charset="0"/>
              </a:rPr>
              <a:t>c</a:t>
            </a:r>
            <a:r>
              <a:rPr lang="en-US" sz="1050" b="0" dirty="0">
                <a:solidFill>
                  <a:srgbClr val="202020"/>
                </a:solidFill>
                <a:effectLst/>
                <a:latin typeface="Consolas" panose="020B0609020204030204" pitchFamily="49" charset="0"/>
              </a:rPr>
              <a:t>[</a:t>
            </a:r>
            <a:r>
              <a:rPr lang="en-US" sz="1050" b="0" dirty="0">
                <a:solidFill>
                  <a:srgbClr val="098658"/>
                </a:solidFill>
                <a:effectLst/>
                <a:latin typeface="Consolas" panose="020B0609020204030204" pitchFamily="49" charset="0"/>
              </a:rPr>
              <a:t>10</a:t>
            </a:r>
            <a:r>
              <a:rPr lang="en-US" sz="1050" b="0" dirty="0">
                <a:solidFill>
                  <a:srgbClr val="202020"/>
                </a:solidFill>
                <a:effectLst/>
                <a:latin typeface="Consolas" panose="020B0609020204030204" pitchFamily="49" charset="0"/>
              </a:rPr>
              <a:t>];</a:t>
            </a:r>
          </a:p>
          <a:p>
            <a:pPr>
              <a:lnSpc>
                <a:spcPct val="113095"/>
              </a:lnSpc>
              <a:buNone/>
            </a:pPr>
            <a:br>
              <a:rPr lang="en-US" sz="1050" b="0" dirty="0">
                <a:solidFill>
                  <a:srgbClr val="202020"/>
                </a:solidFill>
                <a:effectLst/>
                <a:latin typeface="Consolas" panose="020B0609020204030204" pitchFamily="49" charset="0"/>
              </a:rPr>
            </a:br>
            <a:endParaRPr lang="en-US" sz="1050" b="0" dirty="0">
              <a:solidFill>
                <a:srgbClr val="202020"/>
              </a:solidFill>
              <a:effectLst/>
              <a:latin typeface="Consolas" panose="020B0609020204030204" pitchFamily="49" charset="0"/>
            </a:endParaRPr>
          </a:p>
          <a:p>
            <a:pPr>
              <a:lnSpc>
                <a:spcPct val="113095"/>
              </a:lnSpc>
              <a:buNone/>
            </a:pPr>
            <a:r>
              <a:rPr lang="en-US" sz="1050" b="0" dirty="0">
                <a:solidFill>
                  <a:srgbClr val="202020"/>
                </a:solidFill>
                <a:effectLst/>
                <a:latin typeface="Consolas" panose="020B0609020204030204" pitchFamily="49" charset="0"/>
              </a:rPr>
              <a:t>    </a:t>
            </a:r>
            <a:r>
              <a:rPr lang="en-US" sz="1050" b="0" dirty="0">
                <a:solidFill>
                  <a:srgbClr val="AF00DB"/>
                </a:solidFill>
                <a:effectLst/>
                <a:latin typeface="Consolas" panose="020B0609020204030204" pitchFamily="49" charset="0"/>
              </a:rPr>
              <a:t>for</a:t>
            </a:r>
            <a:r>
              <a:rPr lang="en-US" sz="1050" b="0" dirty="0">
                <a:solidFill>
                  <a:srgbClr val="202020"/>
                </a:solidFill>
                <a:effectLst/>
                <a:latin typeface="Consolas" panose="020B0609020204030204" pitchFamily="49" charset="0"/>
              </a:rPr>
              <a:t> (</a:t>
            </a:r>
            <a:r>
              <a:rPr lang="en-US" sz="1050" b="0" dirty="0">
                <a:solidFill>
                  <a:srgbClr val="CF222E"/>
                </a:solidFill>
                <a:effectLst/>
                <a:latin typeface="Consolas" panose="020B0609020204030204" pitchFamily="49" charset="0"/>
              </a:rPr>
              <a:t>int</a:t>
            </a:r>
            <a:r>
              <a:rPr lang="en-US" sz="1050" b="0" dirty="0">
                <a:solidFill>
                  <a:srgbClr val="202020"/>
                </a:solidFill>
                <a:effectLst/>
                <a:latin typeface="Consolas" panose="020B0609020204030204" pitchFamily="49" charset="0"/>
              </a:rPr>
              <a:t> </a:t>
            </a:r>
            <a:r>
              <a:rPr lang="en-US" sz="1050" b="0" dirty="0" err="1">
                <a:solidFill>
                  <a:srgbClr val="1F2328"/>
                </a:solidFill>
                <a:effectLst/>
                <a:latin typeface="Consolas" panose="020B0609020204030204" pitchFamily="49" charset="0"/>
              </a:rPr>
              <a:t>i</a:t>
            </a:r>
            <a:r>
              <a:rPr lang="en-US" sz="1050" b="0" dirty="0">
                <a:solidFill>
                  <a:srgbClr val="202020"/>
                </a:solidFill>
                <a:effectLst/>
                <a:latin typeface="Consolas" panose="020B0609020204030204" pitchFamily="49" charset="0"/>
              </a:rPr>
              <a:t> </a:t>
            </a:r>
            <a:r>
              <a:rPr lang="en-US" sz="1050" b="0" dirty="0">
                <a:solidFill>
                  <a:srgbClr val="000000"/>
                </a:solidFill>
                <a:effectLst/>
                <a:latin typeface="Consolas" panose="020B0609020204030204" pitchFamily="49" charset="0"/>
              </a:rPr>
              <a:t>=</a:t>
            </a:r>
            <a:r>
              <a:rPr lang="en-US" sz="1050" b="0" dirty="0">
                <a:solidFill>
                  <a:srgbClr val="202020"/>
                </a:solidFill>
                <a:effectLst/>
                <a:latin typeface="Consolas" panose="020B0609020204030204" pitchFamily="49" charset="0"/>
              </a:rPr>
              <a:t> </a:t>
            </a:r>
            <a:r>
              <a:rPr lang="en-US" sz="1050" b="0" dirty="0">
                <a:solidFill>
                  <a:srgbClr val="098658"/>
                </a:solidFill>
                <a:effectLst/>
                <a:latin typeface="Consolas" panose="020B0609020204030204" pitchFamily="49" charset="0"/>
              </a:rPr>
              <a:t>0</a:t>
            </a:r>
            <a:r>
              <a:rPr lang="en-US" sz="1050" b="0" dirty="0">
                <a:solidFill>
                  <a:srgbClr val="202020"/>
                </a:solidFill>
                <a:effectLst/>
                <a:latin typeface="Consolas" panose="020B0609020204030204" pitchFamily="49" charset="0"/>
              </a:rPr>
              <a:t>; </a:t>
            </a:r>
            <a:r>
              <a:rPr lang="en-US" sz="1050" b="0" dirty="0" err="1">
                <a:solidFill>
                  <a:srgbClr val="1F2328"/>
                </a:solidFill>
                <a:effectLst/>
                <a:latin typeface="Consolas" panose="020B0609020204030204" pitchFamily="49" charset="0"/>
              </a:rPr>
              <a:t>i</a:t>
            </a:r>
            <a:r>
              <a:rPr lang="en-US" sz="1050" b="0" dirty="0">
                <a:solidFill>
                  <a:srgbClr val="202020"/>
                </a:solidFill>
                <a:effectLst/>
                <a:latin typeface="Consolas" panose="020B0609020204030204" pitchFamily="49" charset="0"/>
              </a:rPr>
              <a:t> </a:t>
            </a:r>
            <a:r>
              <a:rPr lang="en-US" sz="1050" b="0" dirty="0">
                <a:solidFill>
                  <a:srgbClr val="000000"/>
                </a:solidFill>
                <a:effectLst/>
                <a:latin typeface="Consolas" panose="020B0609020204030204" pitchFamily="49" charset="0"/>
              </a:rPr>
              <a:t>&lt;</a:t>
            </a:r>
            <a:r>
              <a:rPr lang="en-US" sz="1050" b="0" dirty="0">
                <a:solidFill>
                  <a:srgbClr val="202020"/>
                </a:solidFill>
                <a:effectLst/>
                <a:latin typeface="Consolas" panose="020B0609020204030204" pitchFamily="49" charset="0"/>
              </a:rPr>
              <a:t> </a:t>
            </a:r>
            <a:r>
              <a:rPr lang="en-US" sz="1050" b="0" dirty="0">
                <a:solidFill>
                  <a:srgbClr val="098658"/>
                </a:solidFill>
                <a:effectLst/>
                <a:latin typeface="Consolas" panose="020B0609020204030204" pitchFamily="49" charset="0"/>
              </a:rPr>
              <a:t>10</a:t>
            </a:r>
            <a:r>
              <a:rPr lang="en-US" sz="1050" b="0" dirty="0">
                <a:solidFill>
                  <a:srgbClr val="202020"/>
                </a:solidFill>
                <a:effectLst/>
                <a:latin typeface="Consolas" panose="020B0609020204030204" pitchFamily="49" charset="0"/>
              </a:rPr>
              <a:t>; </a:t>
            </a:r>
            <a:r>
              <a:rPr lang="en-US" sz="1050" b="0" dirty="0" err="1">
                <a:solidFill>
                  <a:srgbClr val="1F2328"/>
                </a:solidFill>
                <a:effectLst/>
                <a:latin typeface="Consolas" panose="020B0609020204030204" pitchFamily="49" charset="0"/>
              </a:rPr>
              <a:t>i</a:t>
            </a:r>
            <a:r>
              <a:rPr lang="en-US" sz="1050" b="0" dirty="0">
                <a:solidFill>
                  <a:srgbClr val="000000"/>
                </a:solidFill>
                <a:effectLst/>
                <a:latin typeface="Consolas" panose="020B0609020204030204" pitchFamily="49" charset="0"/>
              </a:rPr>
              <a:t>++</a:t>
            </a:r>
            <a:r>
              <a:rPr lang="en-US" sz="1050" b="0" dirty="0">
                <a:solidFill>
                  <a:srgbClr val="202020"/>
                </a:solidFill>
                <a:effectLst/>
                <a:latin typeface="Consolas" panose="020B0609020204030204" pitchFamily="49" charset="0"/>
              </a:rPr>
              <a:t>) </a:t>
            </a:r>
            <a:r>
              <a:rPr lang="en-US" sz="1050" b="0" dirty="0">
                <a:solidFill>
                  <a:srgbClr val="1F2328"/>
                </a:solidFill>
                <a:effectLst/>
                <a:latin typeface="Consolas" panose="020B0609020204030204" pitchFamily="49" charset="0"/>
              </a:rPr>
              <a:t>{</a:t>
            </a:r>
            <a:endParaRPr lang="en-US" sz="1050" b="0" dirty="0">
              <a:solidFill>
                <a:srgbClr val="202020"/>
              </a:solidFill>
              <a:effectLst/>
              <a:latin typeface="Consolas" panose="020B0609020204030204" pitchFamily="49" charset="0"/>
            </a:endParaRPr>
          </a:p>
          <a:p>
            <a:pPr>
              <a:lnSpc>
                <a:spcPct val="113095"/>
              </a:lnSpc>
              <a:buNone/>
            </a:pPr>
            <a:r>
              <a:rPr lang="en-US" sz="1050" b="0" dirty="0">
                <a:solidFill>
                  <a:srgbClr val="1F2328"/>
                </a:solidFill>
                <a:effectLst/>
                <a:latin typeface="Consolas" panose="020B0609020204030204" pitchFamily="49" charset="0"/>
              </a:rPr>
              <a:t>        c[</a:t>
            </a:r>
            <a:r>
              <a:rPr lang="en-US" sz="1050" b="0" dirty="0" err="1">
                <a:solidFill>
                  <a:srgbClr val="1F2328"/>
                </a:solidFill>
                <a:effectLst/>
                <a:latin typeface="Consolas" panose="020B0609020204030204" pitchFamily="49" charset="0"/>
              </a:rPr>
              <a:t>i</a:t>
            </a:r>
            <a:r>
              <a:rPr lang="en-US" sz="1050" b="0" dirty="0">
                <a:solidFill>
                  <a:srgbClr val="1F2328"/>
                </a:solidFill>
                <a:effectLst/>
                <a:latin typeface="Consolas" panose="020B0609020204030204" pitchFamily="49" charset="0"/>
              </a:rPr>
              <a:t>] </a:t>
            </a:r>
            <a:r>
              <a:rPr lang="en-US" sz="1050" b="0" dirty="0">
                <a:solidFill>
                  <a:srgbClr val="000000"/>
                </a:solidFill>
                <a:effectLst/>
                <a:latin typeface="Consolas" panose="020B0609020204030204" pitchFamily="49" charset="0"/>
              </a:rPr>
              <a:t>=</a:t>
            </a:r>
            <a:r>
              <a:rPr lang="en-US" sz="1050" b="0" dirty="0">
                <a:solidFill>
                  <a:srgbClr val="1F2328"/>
                </a:solidFill>
                <a:effectLst/>
                <a:latin typeface="Consolas" panose="020B0609020204030204" pitchFamily="49" charset="0"/>
              </a:rPr>
              <a:t> a[</a:t>
            </a:r>
            <a:r>
              <a:rPr lang="en-US" sz="1050" b="0" dirty="0" err="1">
                <a:solidFill>
                  <a:srgbClr val="1F2328"/>
                </a:solidFill>
                <a:effectLst/>
                <a:latin typeface="Consolas" panose="020B0609020204030204" pitchFamily="49" charset="0"/>
              </a:rPr>
              <a:t>i</a:t>
            </a:r>
            <a:r>
              <a:rPr lang="en-US" sz="1050" b="0" dirty="0">
                <a:solidFill>
                  <a:srgbClr val="1F2328"/>
                </a:solidFill>
                <a:effectLst/>
                <a:latin typeface="Consolas" panose="020B0609020204030204" pitchFamily="49" charset="0"/>
              </a:rPr>
              <a:t>] </a:t>
            </a:r>
            <a:r>
              <a:rPr lang="en-US" sz="1050" b="0" dirty="0">
                <a:solidFill>
                  <a:srgbClr val="000000"/>
                </a:solidFill>
                <a:effectLst/>
                <a:latin typeface="Consolas" panose="020B0609020204030204" pitchFamily="49" charset="0"/>
              </a:rPr>
              <a:t>+</a:t>
            </a:r>
            <a:r>
              <a:rPr lang="en-US" sz="1050" b="0" dirty="0">
                <a:solidFill>
                  <a:srgbClr val="1F2328"/>
                </a:solidFill>
                <a:effectLst/>
                <a:latin typeface="Consolas" panose="020B0609020204030204" pitchFamily="49" charset="0"/>
              </a:rPr>
              <a:t> b[</a:t>
            </a:r>
            <a:r>
              <a:rPr lang="en-US" sz="1050" b="0" dirty="0" err="1">
                <a:solidFill>
                  <a:srgbClr val="1F2328"/>
                </a:solidFill>
                <a:effectLst/>
                <a:latin typeface="Consolas" panose="020B0609020204030204" pitchFamily="49" charset="0"/>
              </a:rPr>
              <a:t>i</a:t>
            </a:r>
            <a:r>
              <a:rPr lang="en-US" sz="1050" b="0" dirty="0">
                <a:solidFill>
                  <a:srgbClr val="1F2328"/>
                </a:solidFill>
                <a:effectLst/>
                <a:latin typeface="Consolas" panose="020B0609020204030204" pitchFamily="49" charset="0"/>
              </a:rPr>
              <a:t>];</a:t>
            </a:r>
            <a:endParaRPr lang="en-US" sz="1050" b="0" dirty="0">
              <a:solidFill>
                <a:srgbClr val="202020"/>
              </a:solidFill>
              <a:effectLst/>
              <a:latin typeface="Consolas" panose="020B0609020204030204" pitchFamily="49" charset="0"/>
            </a:endParaRPr>
          </a:p>
          <a:p>
            <a:pPr>
              <a:lnSpc>
                <a:spcPct val="113095"/>
              </a:lnSpc>
              <a:buNone/>
            </a:pPr>
            <a:r>
              <a:rPr lang="en-US" sz="1050" b="0" dirty="0">
                <a:solidFill>
                  <a:srgbClr val="1F2328"/>
                </a:solidFill>
                <a:effectLst/>
                <a:latin typeface="Consolas" panose="020B0609020204030204" pitchFamily="49" charset="0"/>
              </a:rPr>
              <a:t>    }</a:t>
            </a:r>
            <a:endParaRPr lang="en-US" sz="1050" b="0" dirty="0">
              <a:solidFill>
                <a:srgbClr val="202020"/>
              </a:solidFill>
              <a:effectLst/>
              <a:latin typeface="Consolas" panose="020B0609020204030204" pitchFamily="49" charset="0"/>
            </a:endParaRPr>
          </a:p>
          <a:p>
            <a:pPr>
              <a:lnSpc>
                <a:spcPct val="113095"/>
              </a:lnSpc>
              <a:buNone/>
            </a:pPr>
            <a:r>
              <a:rPr lang="en-US" sz="1050" b="0" dirty="0">
                <a:solidFill>
                  <a:srgbClr val="202020"/>
                </a:solidFill>
                <a:effectLst/>
                <a:latin typeface="Consolas" panose="020B0609020204030204" pitchFamily="49" charset="0"/>
              </a:rPr>
              <a:t>    </a:t>
            </a:r>
            <a:r>
              <a:rPr lang="en-US" sz="1050" b="0" dirty="0">
                <a:solidFill>
                  <a:srgbClr val="AF00DB"/>
                </a:solidFill>
                <a:effectLst/>
                <a:latin typeface="Consolas" panose="020B0609020204030204" pitchFamily="49" charset="0"/>
              </a:rPr>
              <a:t>return</a:t>
            </a:r>
            <a:r>
              <a:rPr lang="en-US" sz="1050" b="0" dirty="0">
                <a:solidFill>
                  <a:srgbClr val="202020"/>
                </a:solidFill>
                <a:effectLst/>
                <a:latin typeface="Consolas" panose="020B0609020204030204" pitchFamily="49" charset="0"/>
              </a:rPr>
              <a:t> </a:t>
            </a:r>
            <a:r>
              <a:rPr lang="en-US" sz="1050" b="0" dirty="0">
                <a:solidFill>
                  <a:srgbClr val="098658"/>
                </a:solidFill>
                <a:effectLst/>
                <a:latin typeface="Consolas" panose="020B0609020204030204" pitchFamily="49" charset="0"/>
              </a:rPr>
              <a:t>0</a:t>
            </a:r>
            <a:endParaRPr lang="en-US" sz="1050" b="0" dirty="0">
              <a:solidFill>
                <a:srgbClr val="202020"/>
              </a:solidFill>
              <a:effectLst/>
              <a:latin typeface="Consolas" panose="020B0609020204030204" pitchFamily="49" charset="0"/>
            </a:endParaRPr>
          </a:p>
          <a:p>
            <a:pPr>
              <a:lnSpc>
                <a:spcPct val="113095"/>
              </a:lnSpc>
              <a:buNone/>
            </a:pPr>
            <a:r>
              <a:rPr lang="en-US" sz="1050" b="0" dirty="0">
                <a:solidFill>
                  <a:srgbClr val="202020"/>
                </a:solidFill>
                <a:effectLst/>
                <a:latin typeface="Consolas" panose="020B0609020204030204" pitchFamily="49" charset="0"/>
              </a:rPr>
              <a:t>}</a:t>
            </a:r>
          </a:p>
        </p:txBody>
      </p:sp>
      <p:pic>
        <p:nvPicPr>
          <p:cNvPr id="31" name="Picture 30" descr="1: Internal Architecture of the Pipelined MIPS (5 Stages).  ">
            <a:extLst>
              <a:ext uri="{FF2B5EF4-FFF2-40B4-BE49-F238E27FC236}">
                <a16:creationId xmlns:a16="http://schemas.microsoft.com/office/drawing/2014/main" id="{2F522BF0-3E17-C7E7-F8D1-5F4A93347907}"/>
              </a:ext>
            </a:extLst>
          </p:cNvPr>
          <p:cNvPicPr>
            <a:picLocks noChangeAspect="1"/>
          </p:cNvPicPr>
          <p:nvPr/>
        </p:nvPicPr>
        <p:blipFill>
          <a:blip r:embed="rId3"/>
          <a:stretch>
            <a:fillRect/>
          </a:stretch>
        </p:blipFill>
        <p:spPr>
          <a:xfrm>
            <a:off x="4854516" y="1465492"/>
            <a:ext cx="6365934" cy="3767135"/>
          </a:xfrm>
          <a:prstGeom prst="rect">
            <a:avLst/>
          </a:prstGeom>
        </p:spPr>
      </p:pic>
      <p:pic>
        <p:nvPicPr>
          <p:cNvPr id="32" name="Picture 31" descr="C++ Compiler | Download C++ for Windows - Visual Studio IDE">
            <a:extLst>
              <a:ext uri="{FF2B5EF4-FFF2-40B4-BE49-F238E27FC236}">
                <a16:creationId xmlns:a16="http://schemas.microsoft.com/office/drawing/2014/main" id="{9B5924ED-C60D-FF7B-1101-B6DC80FFB79D}"/>
              </a:ext>
            </a:extLst>
          </p:cNvPr>
          <p:cNvPicPr>
            <a:picLocks noChangeAspect="1"/>
          </p:cNvPicPr>
          <p:nvPr/>
        </p:nvPicPr>
        <p:blipFill>
          <a:blip r:embed="rId4"/>
          <a:stretch>
            <a:fillRect/>
          </a:stretch>
        </p:blipFill>
        <p:spPr>
          <a:xfrm>
            <a:off x="501650" y="4984358"/>
            <a:ext cx="812686" cy="812686"/>
          </a:xfrm>
          <a:prstGeom prst="rect">
            <a:avLst/>
          </a:prstGeom>
        </p:spPr>
      </p:pic>
      <p:pic>
        <p:nvPicPr>
          <p:cNvPr id="34" name="Picture 33">
            <a:extLst>
              <a:ext uri="{FF2B5EF4-FFF2-40B4-BE49-F238E27FC236}">
                <a16:creationId xmlns:a16="http://schemas.microsoft.com/office/drawing/2014/main" id="{A885A057-CC8B-83D5-BB32-B4CC9D789289}"/>
              </a:ext>
            </a:extLst>
          </p:cNvPr>
          <p:cNvPicPr>
            <a:picLocks noChangeAspect="1"/>
          </p:cNvPicPr>
          <p:nvPr/>
        </p:nvPicPr>
        <p:blipFill>
          <a:blip r:embed="rId5"/>
          <a:stretch>
            <a:fillRect/>
          </a:stretch>
        </p:blipFill>
        <p:spPr>
          <a:xfrm>
            <a:off x="1491476" y="4984358"/>
            <a:ext cx="687347" cy="810928"/>
          </a:xfrm>
          <a:prstGeom prst="rect">
            <a:avLst/>
          </a:prstGeom>
        </p:spPr>
      </p:pic>
      <p:sp>
        <p:nvSpPr>
          <p:cNvPr id="37" name="Arrow: Down 36">
            <a:extLst>
              <a:ext uri="{FF2B5EF4-FFF2-40B4-BE49-F238E27FC236}">
                <a16:creationId xmlns:a16="http://schemas.microsoft.com/office/drawing/2014/main" id="{52E553C0-D4EA-35F1-8A3E-D5328F7A1CE2}"/>
              </a:ext>
            </a:extLst>
          </p:cNvPr>
          <p:cNvSpPr/>
          <p:nvPr/>
        </p:nvSpPr>
        <p:spPr>
          <a:xfrm>
            <a:off x="1119103" y="4061903"/>
            <a:ext cx="260464" cy="810928"/>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TextBox 37">
            <a:extLst>
              <a:ext uri="{FF2B5EF4-FFF2-40B4-BE49-F238E27FC236}">
                <a16:creationId xmlns:a16="http://schemas.microsoft.com/office/drawing/2014/main" id="{B9B7C6B8-E669-D6AD-BDB6-39DEE55BD4A6}"/>
              </a:ext>
            </a:extLst>
          </p:cNvPr>
          <p:cNvSpPr txBox="1"/>
          <p:nvPr/>
        </p:nvSpPr>
        <p:spPr>
          <a:xfrm>
            <a:off x="1485877" y="4222753"/>
            <a:ext cx="1385892" cy="369332"/>
          </a:xfrm>
          <a:prstGeom prst="rect">
            <a:avLst/>
          </a:prstGeom>
          <a:noFill/>
        </p:spPr>
        <p:txBody>
          <a:bodyPr wrap="none" rtlCol="0">
            <a:spAutoFit/>
          </a:bodyPr>
          <a:lstStyle/>
          <a:p>
            <a:r>
              <a:rPr lang="ru-RU" dirty="0"/>
              <a:t>Компилятор</a:t>
            </a:r>
            <a:endParaRPr lang="en-US" dirty="0"/>
          </a:p>
        </p:txBody>
      </p:sp>
      <p:cxnSp>
        <p:nvCxnSpPr>
          <p:cNvPr id="40" name="Connector: Elbow 39">
            <a:extLst>
              <a:ext uri="{FF2B5EF4-FFF2-40B4-BE49-F238E27FC236}">
                <a16:creationId xmlns:a16="http://schemas.microsoft.com/office/drawing/2014/main" id="{BEA3C2E7-F811-909A-0F8F-4817E1BB8FF9}"/>
              </a:ext>
            </a:extLst>
          </p:cNvPr>
          <p:cNvCxnSpPr>
            <a:cxnSpLocks/>
          </p:cNvCxnSpPr>
          <p:nvPr/>
        </p:nvCxnSpPr>
        <p:spPr>
          <a:xfrm flipV="1">
            <a:off x="2444750" y="4222753"/>
            <a:ext cx="3346450" cy="1219197"/>
          </a:xfrm>
          <a:prstGeom prst="bentConnector3">
            <a:avLst>
              <a:gd name="adj1" fmla="val 99905"/>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5" name="Connector: Elbow 44">
            <a:extLst>
              <a:ext uri="{FF2B5EF4-FFF2-40B4-BE49-F238E27FC236}">
                <a16:creationId xmlns:a16="http://schemas.microsoft.com/office/drawing/2014/main" id="{FA6B2230-2B9C-9B37-9ABB-45A550E89A35}"/>
              </a:ext>
            </a:extLst>
          </p:cNvPr>
          <p:cNvCxnSpPr/>
          <p:nvPr/>
        </p:nvCxnSpPr>
        <p:spPr>
          <a:xfrm flipV="1">
            <a:off x="5873750" y="4592085"/>
            <a:ext cx="3873500" cy="849865"/>
          </a:xfrm>
          <a:prstGeom prst="bentConnector3">
            <a:avLst>
              <a:gd name="adj1" fmla="val 100000"/>
            </a:avLst>
          </a:prstGeom>
          <a:ln>
            <a:tailEnd type="triangle"/>
          </a:ln>
        </p:spPr>
        <p:style>
          <a:lnRef idx="1">
            <a:schemeClr val="accent1"/>
          </a:lnRef>
          <a:fillRef idx="0">
            <a:schemeClr val="accent1"/>
          </a:fillRef>
          <a:effectRef idx="0">
            <a:schemeClr val="accent1"/>
          </a:effectRef>
          <a:fontRef idx="minor">
            <a:schemeClr val="tx1"/>
          </a:fontRef>
        </p:style>
      </p:cxnSp>
      <p:sp>
        <p:nvSpPr>
          <p:cNvPr id="47" name="TextBox 46">
            <a:extLst>
              <a:ext uri="{FF2B5EF4-FFF2-40B4-BE49-F238E27FC236}">
                <a16:creationId xmlns:a16="http://schemas.microsoft.com/office/drawing/2014/main" id="{520316DA-0E84-13AC-977E-0CD28E5006A5}"/>
              </a:ext>
            </a:extLst>
          </p:cNvPr>
          <p:cNvSpPr txBox="1"/>
          <p:nvPr/>
        </p:nvSpPr>
        <p:spPr>
          <a:xfrm>
            <a:off x="2950059" y="5093943"/>
            <a:ext cx="2303772" cy="369332"/>
          </a:xfrm>
          <a:prstGeom prst="rect">
            <a:avLst/>
          </a:prstGeom>
          <a:noFill/>
        </p:spPr>
        <p:txBody>
          <a:bodyPr wrap="none" rtlCol="0">
            <a:spAutoFit/>
          </a:bodyPr>
          <a:lstStyle/>
          <a:p>
            <a:r>
              <a:rPr lang="ru-RU" dirty="0"/>
              <a:t>инструкции + данные</a:t>
            </a:r>
            <a:endParaRPr lang="en-US" dirty="0"/>
          </a:p>
        </p:txBody>
      </p:sp>
    </p:spTree>
    <p:extLst>
      <p:ext uri="{BB962C8B-B14F-4D97-AF65-F5344CB8AC3E}">
        <p14:creationId xmlns:p14="http://schemas.microsoft.com/office/powerpoint/2010/main" val="19335526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0BF2D2-ED6A-7C7A-3A8E-0AA9722F3685}"/>
            </a:ext>
          </a:extLst>
        </p:cNvPr>
        <p:cNvGrpSpPr/>
        <p:nvPr/>
      </p:nvGrpSpPr>
      <p:grpSpPr>
        <a:xfrm>
          <a:off x="0" y="0"/>
          <a:ext cx="0" cy="0"/>
          <a:chOff x="0" y="0"/>
          <a:chExt cx="0" cy="0"/>
        </a:xfrm>
      </p:grpSpPr>
      <p:sp>
        <p:nvSpPr>
          <p:cNvPr id="23" name="text_13">
            <a:extLst>
              <a:ext uri="{FF2B5EF4-FFF2-40B4-BE49-F238E27FC236}">
                <a16:creationId xmlns:a16="http://schemas.microsoft.com/office/drawing/2014/main" id="{1FCE416D-EBF7-6510-A09F-99C947949165}"/>
              </a:ext>
            </a:extLst>
          </p:cNvPr>
          <p:cNvSpPr>
            <a:spLocks noGrp="1"/>
          </p:cNvSpPr>
          <p:nvPr/>
        </p:nvSpPr>
        <p:spPr>
          <a:xfrm>
            <a:off x="457200" y="333375"/>
            <a:ext cx="11277600" cy="762000"/>
          </a:xfrm>
          <a:prstGeom prst="rect">
            <a:avLst/>
          </a:prstGeom>
          <a:noFill/>
          <a:ln w="0">
            <a:noFill/>
          </a:ln>
        </p:spPr>
        <p:txBody>
          <a:bodyPr wrap="square" lIns="0" tIns="0" rIns="0" bIns="0">
            <a:noAutofit/>
          </a:bodyPr>
          <a:lstStyle/>
          <a:p>
            <a:pPr>
              <a:defRPr sz="3225" b="1">
                <a:solidFill>
                  <a:srgbClr val="182530"/>
                </a:solidFill>
                <a:latin typeface="Arial"/>
                <a:ea typeface="Arial"/>
                <a:cs typeface="Arial"/>
              </a:defRPr>
            </a:pPr>
            <a:r>
              <a:rPr sz="3225" b="1" dirty="0">
                <a:solidFill>
                  <a:srgbClr val="182530"/>
                </a:solidFill>
                <a:latin typeface="Arial"/>
                <a:ea typeface="Arial"/>
                <a:cs typeface="Arial"/>
              </a:rPr>
              <a:t>CPU</a:t>
            </a:r>
          </a:p>
        </p:txBody>
      </p:sp>
      <p:sp>
        <p:nvSpPr>
          <p:cNvPr id="2" name="line_14">
            <a:extLst>
              <a:ext uri="{FF2B5EF4-FFF2-40B4-BE49-F238E27FC236}">
                <a16:creationId xmlns:a16="http://schemas.microsoft.com/office/drawing/2014/main" id="{68E8B9F8-5581-17A3-FC48-7631444F08DB}"/>
              </a:ext>
            </a:extLst>
          </p:cNvPr>
          <p:cNvSpPr>
            <a:spLocks noGrp="1"/>
          </p:cNvSpPr>
          <p:nvPr/>
        </p:nvSpPr>
        <p:spPr>
          <a:xfrm>
            <a:off x="457200" y="1133475"/>
            <a:ext cx="11277600" cy="0"/>
          </a:xfrm>
          <a:prstGeom prst="line">
            <a:avLst/>
          </a:prstGeom>
          <a:noFill/>
          <a:ln w="9525">
            <a:solidFill>
              <a:srgbClr val="B9C4CC"/>
            </a:solidFill>
          </a:ln>
        </p:spPr>
        <p:txBody>
          <a:bodyPr/>
          <a:lstStyle/>
          <a:p>
            <a:endParaRPr lang="en-US"/>
          </a:p>
        </p:txBody>
      </p:sp>
      <p:sp>
        <p:nvSpPr>
          <p:cNvPr id="4" name="text_16">
            <a:extLst>
              <a:ext uri="{FF2B5EF4-FFF2-40B4-BE49-F238E27FC236}">
                <a16:creationId xmlns:a16="http://schemas.microsoft.com/office/drawing/2014/main" id="{D662B87C-9973-137E-2966-436F8C908F31}"/>
              </a:ext>
            </a:extLst>
          </p:cNvPr>
          <p:cNvSpPr>
            <a:spLocks noGrp="1"/>
          </p:cNvSpPr>
          <p:nvPr/>
        </p:nvSpPr>
        <p:spPr>
          <a:xfrm>
            <a:off x="11220450" y="6343650"/>
            <a:ext cx="514350" cy="304800"/>
          </a:xfrm>
          <a:prstGeom prst="rect">
            <a:avLst/>
          </a:prstGeom>
          <a:noFill/>
          <a:ln w="0">
            <a:noFill/>
          </a:ln>
        </p:spPr>
        <p:txBody>
          <a:bodyPr wrap="square" lIns="0" tIns="0" rIns="0" bIns="0">
            <a:noAutofit/>
          </a:bodyPr>
          <a:lstStyle/>
          <a:p>
            <a:pPr algn="r">
              <a:defRPr sz="1500">
                <a:solidFill>
                  <a:srgbClr val="56616A"/>
                </a:solidFill>
                <a:latin typeface="Arial"/>
                <a:ea typeface="Arial"/>
                <a:cs typeface="Arial"/>
              </a:defRPr>
            </a:pPr>
            <a:r>
              <a:rPr sz="1500">
                <a:solidFill>
                  <a:srgbClr val="56616A"/>
                </a:solidFill>
                <a:latin typeface="Arial"/>
                <a:ea typeface="Arial"/>
                <a:cs typeface="Arial"/>
              </a:rPr>
              <a:t>02</a:t>
            </a:r>
          </a:p>
        </p:txBody>
      </p:sp>
      <p:pic>
        <p:nvPicPr>
          <p:cNvPr id="31" name="Picture 30" descr="1: Internal Architecture of the Pipelined MIPS (5 Stages).  ">
            <a:extLst>
              <a:ext uri="{FF2B5EF4-FFF2-40B4-BE49-F238E27FC236}">
                <a16:creationId xmlns:a16="http://schemas.microsoft.com/office/drawing/2014/main" id="{6A4CEBFF-E3C8-DE0D-95FF-728DF8009C1A}"/>
              </a:ext>
            </a:extLst>
          </p:cNvPr>
          <p:cNvPicPr>
            <a:picLocks noChangeAspect="1"/>
          </p:cNvPicPr>
          <p:nvPr/>
        </p:nvPicPr>
        <p:blipFill>
          <a:blip r:embed="rId3"/>
          <a:stretch>
            <a:fillRect/>
          </a:stretch>
        </p:blipFill>
        <p:spPr>
          <a:xfrm>
            <a:off x="5111691" y="1885950"/>
            <a:ext cx="6365934" cy="3767135"/>
          </a:xfrm>
          <a:prstGeom prst="rect">
            <a:avLst/>
          </a:prstGeom>
        </p:spPr>
      </p:pic>
      <p:sp>
        <p:nvSpPr>
          <p:cNvPr id="3" name="TextBox 2">
            <a:extLst>
              <a:ext uri="{FF2B5EF4-FFF2-40B4-BE49-F238E27FC236}">
                <a16:creationId xmlns:a16="http://schemas.microsoft.com/office/drawing/2014/main" id="{959C22C0-FB4D-FD4C-8EA8-71D98769C6CE}"/>
              </a:ext>
            </a:extLst>
          </p:cNvPr>
          <p:cNvSpPr txBox="1"/>
          <p:nvPr/>
        </p:nvSpPr>
        <p:spPr>
          <a:xfrm>
            <a:off x="457200" y="2182505"/>
            <a:ext cx="3644900" cy="2492990"/>
          </a:xfrm>
          <a:prstGeom prst="rect">
            <a:avLst/>
          </a:prstGeom>
          <a:noFill/>
        </p:spPr>
        <p:txBody>
          <a:bodyPr wrap="square" rtlCol="0">
            <a:spAutoFit/>
          </a:bodyPr>
          <a:lstStyle/>
          <a:p>
            <a:r>
              <a:rPr lang="ru-RU" sz="2400" b="1" dirty="0"/>
              <a:t>Плюсы</a:t>
            </a:r>
            <a:r>
              <a:rPr lang="en-US" sz="2400" b="1" dirty="0"/>
              <a:t>:</a:t>
            </a:r>
          </a:p>
          <a:p>
            <a:pPr marL="285750" indent="-285750">
              <a:buFont typeface="Arial" panose="020B0604020202020204" pitchFamily="34" charset="0"/>
              <a:buChar char="•"/>
            </a:pPr>
            <a:r>
              <a:rPr lang="ru-RU" dirty="0"/>
              <a:t>Универсальность</a:t>
            </a:r>
          </a:p>
          <a:p>
            <a:pPr marL="285750" indent="-285750">
              <a:buFont typeface="Arial" panose="020B0604020202020204" pitchFamily="34" charset="0"/>
              <a:buChar char="•"/>
            </a:pPr>
            <a:r>
              <a:rPr lang="ru-RU" dirty="0"/>
              <a:t>Доступность</a:t>
            </a:r>
          </a:p>
          <a:p>
            <a:pPr marL="285750" indent="-285750">
              <a:buFont typeface="Arial" panose="020B0604020202020204" pitchFamily="34" charset="0"/>
              <a:buChar char="•"/>
            </a:pPr>
            <a:r>
              <a:rPr lang="ru-RU" dirty="0"/>
              <a:t>Простота программирования</a:t>
            </a:r>
          </a:p>
          <a:p>
            <a:pPr marL="285750" indent="-285750">
              <a:buFont typeface="Arial" panose="020B0604020202020204" pitchFamily="34" charset="0"/>
              <a:buChar char="•"/>
            </a:pPr>
            <a:endParaRPr lang="ru-RU" dirty="0"/>
          </a:p>
          <a:p>
            <a:r>
              <a:rPr lang="ru-RU" sz="2400" b="1" dirty="0"/>
              <a:t>Минусы</a:t>
            </a:r>
            <a:r>
              <a:rPr lang="en-US" sz="2400" b="1" dirty="0"/>
              <a:t>:</a:t>
            </a:r>
          </a:p>
          <a:p>
            <a:pPr marL="285750" indent="-285750">
              <a:buFont typeface="Arial" panose="020B0604020202020204" pitchFamily="34" charset="0"/>
              <a:buChar char="•"/>
            </a:pPr>
            <a:r>
              <a:rPr lang="ru-RU" dirty="0"/>
              <a:t>Невысокая эффективность для специфичных задач</a:t>
            </a:r>
            <a:endParaRPr lang="en-US" dirty="0"/>
          </a:p>
        </p:txBody>
      </p:sp>
      <p:pic>
        <p:nvPicPr>
          <p:cNvPr id="5" name="Picture 4" descr="CPU (ЦПУ) процессор - что такое процессор, центральный процессор и зачем  нужен?">
            <a:extLst>
              <a:ext uri="{FF2B5EF4-FFF2-40B4-BE49-F238E27FC236}">
                <a16:creationId xmlns:a16="http://schemas.microsoft.com/office/drawing/2014/main" id="{5FCD532F-88D9-EB61-36C8-EE21B1CF903B}"/>
              </a:ext>
            </a:extLst>
          </p:cNvPr>
          <p:cNvPicPr>
            <a:picLocks noChangeAspect="1"/>
          </p:cNvPicPr>
          <p:nvPr/>
        </p:nvPicPr>
        <p:blipFill>
          <a:blip r:embed="rId4"/>
          <a:stretch>
            <a:fillRect/>
          </a:stretch>
        </p:blipFill>
        <p:spPr>
          <a:xfrm>
            <a:off x="714375" y="4675495"/>
            <a:ext cx="3052215" cy="1945787"/>
          </a:xfrm>
          <a:prstGeom prst="rect">
            <a:avLst/>
          </a:prstGeom>
        </p:spPr>
      </p:pic>
    </p:spTree>
    <p:extLst>
      <p:ext uri="{BB962C8B-B14F-4D97-AF65-F5344CB8AC3E}">
        <p14:creationId xmlns:p14="http://schemas.microsoft.com/office/powerpoint/2010/main" val="149038027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52BA06-BEA9-0CC7-33A6-76329D1CA697}"/>
            </a:ext>
          </a:extLst>
        </p:cNvPr>
        <p:cNvGrpSpPr/>
        <p:nvPr/>
      </p:nvGrpSpPr>
      <p:grpSpPr>
        <a:xfrm>
          <a:off x="0" y="0"/>
          <a:ext cx="0" cy="0"/>
          <a:chOff x="0" y="0"/>
          <a:chExt cx="0" cy="0"/>
        </a:xfrm>
      </p:grpSpPr>
      <p:sp>
        <p:nvSpPr>
          <p:cNvPr id="23" name="text_13">
            <a:extLst>
              <a:ext uri="{FF2B5EF4-FFF2-40B4-BE49-F238E27FC236}">
                <a16:creationId xmlns:a16="http://schemas.microsoft.com/office/drawing/2014/main" id="{2DE30F0B-9A22-708A-E567-543871C6FC2D}"/>
              </a:ext>
            </a:extLst>
          </p:cNvPr>
          <p:cNvSpPr>
            <a:spLocks noGrp="1"/>
          </p:cNvSpPr>
          <p:nvPr/>
        </p:nvSpPr>
        <p:spPr>
          <a:xfrm>
            <a:off x="457200" y="333375"/>
            <a:ext cx="11277600" cy="762000"/>
          </a:xfrm>
          <a:prstGeom prst="rect">
            <a:avLst/>
          </a:prstGeom>
          <a:noFill/>
          <a:ln w="0">
            <a:noFill/>
          </a:ln>
        </p:spPr>
        <p:txBody>
          <a:bodyPr wrap="square" lIns="0" tIns="0" rIns="0" bIns="0">
            <a:noAutofit/>
          </a:bodyPr>
          <a:lstStyle/>
          <a:p>
            <a:pPr>
              <a:defRPr sz="3225" b="1">
                <a:solidFill>
                  <a:srgbClr val="182530"/>
                </a:solidFill>
                <a:latin typeface="Arial"/>
                <a:ea typeface="Arial"/>
                <a:cs typeface="Arial"/>
              </a:defRPr>
            </a:pPr>
            <a:r>
              <a:rPr lang="en-US" sz="3225" b="1" dirty="0">
                <a:solidFill>
                  <a:srgbClr val="182530"/>
                </a:solidFill>
                <a:latin typeface="Arial"/>
                <a:ea typeface="Arial"/>
                <a:cs typeface="Arial"/>
              </a:rPr>
              <a:t>ASIC (Application Specific Integrated Circuit)</a:t>
            </a:r>
            <a:endParaRPr sz="3225" b="1" dirty="0">
              <a:solidFill>
                <a:srgbClr val="182530"/>
              </a:solidFill>
              <a:latin typeface="Arial"/>
              <a:ea typeface="Arial"/>
              <a:cs typeface="Arial"/>
            </a:endParaRPr>
          </a:p>
        </p:txBody>
      </p:sp>
      <p:sp>
        <p:nvSpPr>
          <p:cNvPr id="2" name="line_14">
            <a:extLst>
              <a:ext uri="{FF2B5EF4-FFF2-40B4-BE49-F238E27FC236}">
                <a16:creationId xmlns:a16="http://schemas.microsoft.com/office/drawing/2014/main" id="{687CDA71-956D-C2E5-B15F-74B34DBC1BB1}"/>
              </a:ext>
            </a:extLst>
          </p:cNvPr>
          <p:cNvSpPr>
            <a:spLocks noGrp="1"/>
          </p:cNvSpPr>
          <p:nvPr/>
        </p:nvSpPr>
        <p:spPr>
          <a:xfrm>
            <a:off x="457200" y="1133475"/>
            <a:ext cx="11277600" cy="0"/>
          </a:xfrm>
          <a:prstGeom prst="line">
            <a:avLst/>
          </a:prstGeom>
          <a:noFill/>
          <a:ln w="9525">
            <a:solidFill>
              <a:srgbClr val="B9C4CC"/>
            </a:solidFill>
          </a:ln>
        </p:spPr>
        <p:txBody>
          <a:bodyPr/>
          <a:lstStyle/>
          <a:p>
            <a:endParaRPr lang="en-US"/>
          </a:p>
        </p:txBody>
      </p:sp>
      <p:sp>
        <p:nvSpPr>
          <p:cNvPr id="4" name="text_16">
            <a:extLst>
              <a:ext uri="{FF2B5EF4-FFF2-40B4-BE49-F238E27FC236}">
                <a16:creationId xmlns:a16="http://schemas.microsoft.com/office/drawing/2014/main" id="{0C669D6B-D127-DAFD-B19A-16809A91B134}"/>
              </a:ext>
            </a:extLst>
          </p:cNvPr>
          <p:cNvSpPr>
            <a:spLocks noGrp="1"/>
          </p:cNvSpPr>
          <p:nvPr/>
        </p:nvSpPr>
        <p:spPr>
          <a:xfrm>
            <a:off x="11220450" y="6343650"/>
            <a:ext cx="514350" cy="304800"/>
          </a:xfrm>
          <a:prstGeom prst="rect">
            <a:avLst/>
          </a:prstGeom>
          <a:noFill/>
          <a:ln w="0">
            <a:noFill/>
          </a:ln>
        </p:spPr>
        <p:txBody>
          <a:bodyPr wrap="square" lIns="0" tIns="0" rIns="0" bIns="0">
            <a:noAutofit/>
          </a:bodyPr>
          <a:lstStyle/>
          <a:p>
            <a:pPr algn="r">
              <a:defRPr sz="1500">
                <a:solidFill>
                  <a:srgbClr val="56616A"/>
                </a:solidFill>
                <a:latin typeface="Arial"/>
                <a:ea typeface="Arial"/>
                <a:cs typeface="Arial"/>
              </a:defRPr>
            </a:pPr>
            <a:r>
              <a:rPr sz="1500">
                <a:solidFill>
                  <a:srgbClr val="56616A"/>
                </a:solidFill>
                <a:latin typeface="Arial"/>
                <a:ea typeface="Arial"/>
                <a:cs typeface="Arial"/>
              </a:rPr>
              <a:t>02</a:t>
            </a:r>
          </a:p>
        </p:txBody>
      </p:sp>
      <p:sp>
        <p:nvSpPr>
          <p:cNvPr id="3" name="TextBox 2">
            <a:extLst>
              <a:ext uri="{FF2B5EF4-FFF2-40B4-BE49-F238E27FC236}">
                <a16:creationId xmlns:a16="http://schemas.microsoft.com/office/drawing/2014/main" id="{7130B045-B831-08CD-726F-7793D2B74995}"/>
              </a:ext>
            </a:extLst>
          </p:cNvPr>
          <p:cNvSpPr txBox="1"/>
          <p:nvPr/>
        </p:nvSpPr>
        <p:spPr>
          <a:xfrm>
            <a:off x="375141" y="1546607"/>
            <a:ext cx="3942859" cy="5016758"/>
          </a:xfrm>
          <a:prstGeom prst="rect">
            <a:avLst/>
          </a:prstGeom>
          <a:noFill/>
        </p:spPr>
        <p:txBody>
          <a:bodyPr wrap="square" rtlCol="0">
            <a:spAutoFit/>
          </a:bodyPr>
          <a:lstStyle/>
          <a:p>
            <a:r>
              <a:rPr lang="ru-RU" sz="2000" b="1" dirty="0"/>
              <a:t>Примеры</a:t>
            </a:r>
            <a:r>
              <a:rPr lang="en-US" sz="2000" b="1" dirty="0"/>
              <a:t>:</a:t>
            </a:r>
          </a:p>
          <a:p>
            <a:pPr marL="285750" indent="-285750">
              <a:buFont typeface="Arial" panose="020B0604020202020204" pitchFamily="34" charset="0"/>
              <a:buChar char="•"/>
            </a:pPr>
            <a:r>
              <a:rPr lang="ru-RU" sz="1600" dirty="0"/>
              <a:t>Микросхемы цифровых приемников и передатчиков.</a:t>
            </a:r>
          </a:p>
          <a:p>
            <a:pPr marL="285750" indent="-285750">
              <a:buFont typeface="Arial" panose="020B0604020202020204" pitchFamily="34" charset="0"/>
              <a:buChar char="•"/>
            </a:pPr>
            <a:r>
              <a:rPr lang="ru-RU" sz="1600" dirty="0"/>
              <a:t>Микросхемы для обработки изображения в камере.</a:t>
            </a:r>
          </a:p>
          <a:p>
            <a:pPr marL="285750" indent="-285750">
              <a:buFont typeface="Arial" panose="020B0604020202020204" pitchFamily="34" charset="0"/>
              <a:buChar char="•"/>
            </a:pPr>
            <a:r>
              <a:rPr lang="ru-RU" sz="1600" dirty="0"/>
              <a:t>Оборудование для майнинга криптовалют.</a:t>
            </a:r>
          </a:p>
          <a:p>
            <a:pPr marL="285750" indent="-285750">
              <a:buFont typeface="Arial" panose="020B0604020202020204" pitchFamily="34" charset="0"/>
              <a:buChar char="•"/>
            </a:pPr>
            <a:endParaRPr lang="en-US" sz="2000" b="1" dirty="0"/>
          </a:p>
          <a:p>
            <a:r>
              <a:rPr lang="ru-RU" sz="2000" b="1" dirty="0"/>
              <a:t>Плюсы</a:t>
            </a:r>
            <a:r>
              <a:rPr lang="en-US" sz="2000" b="1" dirty="0"/>
              <a:t>:</a:t>
            </a:r>
          </a:p>
          <a:p>
            <a:pPr marL="285750" indent="-285750">
              <a:buFont typeface="Arial" panose="020B0604020202020204" pitchFamily="34" charset="0"/>
              <a:buChar char="•"/>
            </a:pPr>
            <a:r>
              <a:rPr lang="ru-RU" sz="1600" dirty="0"/>
              <a:t>Максимальная производительность и энергоэффективность выполнения конкретной задачи.</a:t>
            </a:r>
          </a:p>
          <a:p>
            <a:pPr marL="285750" indent="-285750">
              <a:buFont typeface="Arial" panose="020B0604020202020204" pitchFamily="34" charset="0"/>
              <a:buChar char="•"/>
            </a:pPr>
            <a:endParaRPr lang="ru-RU" sz="1600" dirty="0"/>
          </a:p>
          <a:p>
            <a:r>
              <a:rPr lang="ru-RU" sz="2000" b="1" dirty="0"/>
              <a:t>Минусы</a:t>
            </a:r>
            <a:r>
              <a:rPr lang="en-US" sz="2000" b="1" dirty="0"/>
              <a:t>:</a:t>
            </a:r>
          </a:p>
          <a:p>
            <a:pPr marL="285750" indent="-285750">
              <a:buFont typeface="Arial" panose="020B0604020202020204" pitchFamily="34" charset="0"/>
              <a:buChar char="•"/>
            </a:pPr>
            <a:r>
              <a:rPr lang="ru-RU" sz="1600" dirty="0"/>
              <a:t>Сложности с выпуском небольших партий.</a:t>
            </a:r>
          </a:p>
          <a:p>
            <a:pPr marL="285750" indent="-285750">
              <a:buFont typeface="Arial" panose="020B0604020202020204" pitchFamily="34" charset="0"/>
              <a:buChar char="•"/>
            </a:pPr>
            <a:r>
              <a:rPr lang="ru-RU" sz="1600" dirty="0"/>
              <a:t>Высокая стоимость разработки и ошибки.</a:t>
            </a:r>
          </a:p>
          <a:p>
            <a:pPr marL="285750" indent="-285750">
              <a:buFont typeface="Arial" panose="020B0604020202020204" pitchFamily="34" charset="0"/>
              <a:buChar char="•"/>
            </a:pPr>
            <a:r>
              <a:rPr lang="ru-RU" sz="1600" dirty="0"/>
              <a:t>Узкая специализация.</a:t>
            </a:r>
            <a:endParaRPr lang="en-US" sz="1600" dirty="0"/>
          </a:p>
        </p:txBody>
      </p:sp>
      <p:pic>
        <p:nvPicPr>
          <p:cNvPr id="6" name="Picture 5" descr="Diagram of Microchip Technology PIC16F688T-I/SL CMOS microcontroller">
            <a:extLst>
              <a:ext uri="{FF2B5EF4-FFF2-40B4-BE49-F238E27FC236}">
                <a16:creationId xmlns:a16="http://schemas.microsoft.com/office/drawing/2014/main" id="{036DBB8E-6009-DBE0-00B0-CCEFAD78996D}"/>
              </a:ext>
            </a:extLst>
          </p:cNvPr>
          <p:cNvPicPr>
            <a:picLocks noChangeAspect="1"/>
          </p:cNvPicPr>
          <p:nvPr/>
        </p:nvPicPr>
        <p:blipFill>
          <a:blip r:embed="rId3"/>
          <a:stretch>
            <a:fillRect/>
          </a:stretch>
        </p:blipFill>
        <p:spPr>
          <a:xfrm>
            <a:off x="4445002" y="2230987"/>
            <a:ext cx="3644900" cy="4112663"/>
          </a:xfrm>
          <a:prstGeom prst="rect">
            <a:avLst/>
          </a:prstGeom>
        </p:spPr>
      </p:pic>
      <p:sp>
        <p:nvSpPr>
          <p:cNvPr id="7" name="TextBox 6">
            <a:extLst>
              <a:ext uri="{FF2B5EF4-FFF2-40B4-BE49-F238E27FC236}">
                <a16:creationId xmlns:a16="http://schemas.microsoft.com/office/drawing/2014/main" id="{0443F9D1-B6B2-B51C-FD0A-4D03AE90EC1F}"/>
              </a:ext>
            </a:extLst>
          </p:cNvPr>
          <p:cNvSpPr txBox="1"/>
          <p:nvPr/>
        </p:nvSpPr>
        <p:spPr>
          <a:xfrm>
            <a:off x="4946650" y="1813173"/>
            <a:ext cx="2570319" cy="338554"/>
          </a:xfrm>
          <a:prstGeom prst="rect">
            <a:avLst/>
          </a:prstGeom>
          <a:noFill/>
        </p:spPr>
        <p:txBody>
          <a:bodyPr wrap="none" rtlCol="0">
            <a:spAutoFit/>
          </a:bodyPr>
          <a:lstStyle/>
          <a:p>
            <a:r>
              <a:rPr lang="ru-RU" sz="1600" dirty="0"/>
              <a:t>Описание цифровой схемы</a:t>
            </a:r>
            <a:endParaRPr lang="en-US" sz="1600" dirty="0"/>
          </a:p>
        </p:txBody>
      </p:sp>
      <p:pic>
        <p:nvPicPr>
          <p:cNvPr id="14" name="Picture 13" descr="Более 12 700 работ на тему «полупроводниковая пластина»: стоковые фото,  картинки и изображения royalty-free - iStock">
            <a:extLst>
              <a:ext uri="{FF2B5EF4-FFF2-40B4-BE49-F238E27FC236}">
                <a16:creationId xmlns:a16="http://schemas.microsoft.com/office/drawing/2014/main" id="{6AE8A110-C232-91BE-D74D-268A802253AA}"/>
              </a:ext>
            </a:extLst>
          </p:cNvPr>
          <p:cNvPicPr>
            <a:picLocks noChangeAspect="1"/>
          </p:cNvPicPr>
          <p:nvPr/>
        </p:nvPicPr>
        <p:blipFill>
          <a:blip r:embed="rId4"/>
          <a:stretch>
            <a:fillRect/>
          </a:stretch>
        </p:blipFill>
        <p:spPr>
          <a:xfrm>
            <a:off x="8934451" y="1546607"/>
            <a:ext cx="3021838" cy="2384882"/>
          </a:xfrm>
          <a:prstGeom prst="rect">
            <a:avLst/>
          </a:prstGeom>
        </p:spPr>
      </p:pic>
      <p:sp>
        <p:nvSpPr>
          <p:cNvPr id="16" name="TextBox 15">
            <a:extLst>
              <a:ext uri="{FF2B5EF4-FFF2-40B4-BE49-F238E27FC236}">
                <a16:creationId xmlns:a16="http://schemas.microsoft.com/office/drawing/2014/main" id="{14E8C4A1-1019-5415-11BB-F32C02C95733}"/>
              </a:ext>
            </a:extLst>
          </p:cNvPr>
          <p:cNvSpPr txBox="1"/>
          <p:nvPr/>
        </p:nvSpPr>
        <p:spPr>
          <a:xfrm>
            <a:off x="9364593" y="1474619"/>
            <a:ext cx="2161554" cy="338554"/>
          </a:xfrm>
          <a:prstGeom prst="rect">
            <a:avLst/>
          </a:prstGeom>
          <a:noFill/>
        </p:spPr>
        <p:txBody>
          <a:bodyPr wrap="none" rtlCol="0">
            <a:spAutoFit/>
          </a:bodyPr>
          <a:lstStyle/>
          <a:p>
            <a:r>
              <a:rPr lang="ru-RU" sz="1600" dirty="0"/>
              <a:t>цифровая микросхема</a:t>
            </a:r>
            <a:endParaRPr lang="en-US" sz="1600" dirty="0"/>
          </a:p>
        </p:txBody>
      </p:sp>
      <p:pic>
        <p:nvPicPr>
          <p:cNvPr id="18" name="Picture 17" descr="ASIC Design Flow in VLSI Engineering Services — A Quick Guide | by  eInfochips ( An Arrow Company) | eInfochips | Medium">
            <a:extLst>
              <a:ext uri="{FF2B5EF4-FFF2-40B4-BE49-F238E27FC236}">
                <a16:creationId xmlns:a16="http://schemas.microsoft.com/office/drawing/2014/main" id="{2E04AE3F-B6A2-5C6B-9848-A458F6A78C13}"/>
              </a:ext>
            </a:extLst>
          </p:cNvPr>
          <p:cNvPicPr>
            <a:picLocks noChangeAspect="1"/>
          </p:cNvPicPr>
          <p:nvPr/>
        </p:nvPicPr>
        <p:blipFill>
          <a:blip r:embed="rId5"/>
          <a:stretch>
            <a:fillRect/>
          </a:stretch>
        </p:blipFill>
        <p:spPr>
          <a:xfrm>
            <a:off x="8943521" y="4382721"/>
            <a:ext cx="2534104" cy="2027283"/>
          </a:xfrm>
          <a:prstGeom prst="rect">
            <a:avLst/>
          </a:prstGeom>
        </p:spPr>
      </p:pic>
      <p:sp>
        <p:nvSpPr>
          <p:cNvPr id="19" name="Arrow: Right 18">
            <a:extLst>
              <a:ext uri="{FF2B5EF4-FFF2-40B4-BE49-F238E27FC236}">
                <a16:creationId xmlns:a16="http://schemas.microsoft.com/office/drawing/2014/main" id="{34FA003B-1409-10A8-E62D-1FA043DEA8F7}"/>
              </a:ext>
            </a:extLst>
          </p:cNvPr>
          <p:cNvSpPr/>
          <p:nvPr/>
        </p:nvSpPr>
        <p:spPr>
          <a:xfrm>
            <a:off x="8093598" y="5217382"/>
            <a:ext cx="678412" cy="30479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Arrow: Down 19">
            <a:extLst>
              <a:ext uri="{FF2B5EF4-FFF2-40B4-BE49-F238E27FC236}">
                <a16:creationId xmlns:a16="http://schemas.microsoft.com/office/drawing/2014/main" id="{4E5FE333-75A5-A0AF-BBDC-3B1BD0FC00DE}"/>
              </a:ext>
            </a:extLst>
          </p:cNvPr>
          <p:cNvSpPr/>
          <p:nvPr/>
        </p:nvSpPr>
        <p:spPr>
          <a:xfrm rot="10800000">
            <a:off x="10331070" y="3764352"/>
            <a:ext cx="317880" cy="502848"/>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7260308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6" name="text_59">
            <a:extLst>
              <a:ext uri="{FF2B5EF4-FFF2-40B4-BE49-F238E27FC236}">
                <a16:creationId xmlns:a16="http://schemas.microsoft.com/office/drawing/2014/main" id="{690DAD3C-C48B-4981-978C-9989FEA934A6}"/>
              </a:ext>
            </a:extLst>
          </p:cNvPr>
          <p:cNvSpPr>
            <a:spLocks noGrp="1"/>
          </p:cNvSpPr>
          <p:nvPr/>
        </p:nvSpPr>
        <p:spPr>
          <a:xfrm>
            <a:off x="457200" y="333375"/>
            <a:ext cx="11277600" cy="762000"/>
          </a:xfrm>
          <a:prstGeom prst="rect">
            <a:avLst/>
          </a:prstGeom>
          <a:noFill/>
          <a:ln w="0">
            <a:noFill/>
          </a:ln>
        </p:spPr>
        <p:txBody>
          <a:bodyPr wrap="square" lIns="0" tIns="0" rIns="0" bIns="0">
            <a:noAutofit/>
          </a:bodyPr>
          <a:lstStyle/>
          <a:p>
            <a:pPr>
              <a:defRPr sz="3225" b="1">
                <a:solidFill>
                  <a:srgbClr val="182530"/>
                </a:solidFill>
                <a:latin typeface="Arial"/>
                <a:ea typeface="Arial"/>
                <a:cs typeface="Arial"/>
              </a:defRPr>
            </a:pPr>
            <a:r>
              <a:rPr sz="3225" b="1" dirty="0">
                <a:solidFill>
                  <a:srgbClr val="182530"/>
                </a:solidFill>
                <a:latin typeface="Arial"/>
                <a:ea typeface="Arial"/>
                <a:cs typeface="Arial"/>
              </a:rPr>
              <a:t>FPGA</a:t>
            </a:r>
            <a:r>
              <a:rPr lang="ru-RU" sz="3225" b="1" dirty="0">
                <a:solidFill>
                  <a:srgbClr val="182530"/>
                </a:solidFill>
                <a:latin typeface="Arial"/>
                <a:ea typeface="Arial"/>
                <a:cs typeface="Arial"/>
              </a:rPr>
              <a:t> (</a:t>
            </a:r>
            <a:r>
              <a:rPr lang="en-US" sz="3225" b="1" dirty="0">
                <a:solidFill>
                  <a:srgbClr val="182530"/>
                </a:solidFill>
                <a:latin typeface="Arial"/>
                <a:ea typeface="Arial"/>
                <a:cs typeface="Arial"/>
              </a:rPr>
              <a:t>Field Programmable Gate Array)</a:t>
            </a:r>
            <a:endParaRPr sz="3225" b="1" dirty="0">
              <a:solidFill>
                <a:srgbClr val="182530"/>
              </a:solidFill>
              <a:latin typeface="Arial"/>
              <a:ea typeface="Arial"/>
              <a:cs typeface="Arial"/>
            </a:endParaRPr>
          </a:p>
        </p:txBody>
      </p:sp>
      <p:sp>
        <p:nvSpPr>
          <p:cNvPr id="2" name="line_60">
            <a:extLst>
              <a:ext uri="{FF2B5EF4-FFF2-40B4-BE49-F238E27FC236}">
                <a16:creationId xmlns:a16="http://schemas.microsoft.com/office/drawing/2014/main" id="{D14C7483-DDA2-4DF5-BF74-0546927D990A}"/>
              </a:ext>
            </a:extLst>
          </p:cNvPr>
          <p:cNvSpPr>
            <a:spLocks noGrp="1"/>
          </p:cNvSpPr>
          <p:nvPr/>
        </p:nvSpPr>
        <p:spPr>
          <a:xfrm>
            <a:off x="457200" y="1133475"/>
            <a:ext cx="11277600" cy="0"/>
          </a:xfrm>
          <a:prstGeom prst="line">
            <a:avLst/>
          </a:prstGeom>
          <a:noFill/>
          <a:ln w="9525">
            <a:solidFill>
              <a:srgbClr val="B9C4CC"/>
            </a:solidFill>
          </a:ln>
        </p:spPr>
        <p:txBody>
          <a:bodyPr/>
          <a:lstStyle/>
          <a:p>
            <a:endParaRPr lang="en-US"/>
          </a:p>
        </p:txBody>
      </p:sp>
      <p:sp>
        <p:nvSpPr>
          <p:cNvPr id="4" name="text_62">
            <a:extLst>
              <a:ext uri="{FF2B5EF4-FFF2-40B4-BE49-F238E27FC236}">
                <a16:creationId xmlns:a16="http://schemas.microsoft.com/office/drawing/2014/main" id="{793870E9-B776-4726-BE15-20ECCB5DD7DC}"/>
              </a:ext>
            </a:extLst>
          </p:cNvPr>
          <p:cNvSpPr>
            <a:spLocks noGrp="1"/>
          </p:cNvSpPr>
          <p:nvPr/>
        </p:nvSpPr>
        <p:spPr>
          <a:xfrm>
            <a:off x="11220450" y="6343650"/>
            <a:ext cx="514350" cy="304800"/>
          </a:xfrm>
          <a:prstGeom prst="rect">
            <a:avLst/>
          </a:prstGeom>
          <a:noFill/>
          <a:ln w="0">
            <a:noFill/>
          </a:ln>
        </p:spPr>
        <p:txBody>
          <a:bodyPr wrap="square" lIns="0" tIns="0" rIns="0" bIns="0">
            <a:noAutofit/>
          </a:bodyPr>
          <a:lstStyle/>
          <a:p>
            <a:pPr algn="r">
              <a:defRPr sz="1500">
                <a:solidFill>
                  <a:srgbClr val="56616A"/>
                </a:solidFill>
                <a:latin typeface="Arial"/>
                <a:ea typeface="Arial"/>
                <a:cs typeface="Arial"/>
              </a:defRPr>
            </a:pPr>
            <a:r>
              <a:rPr sz="1500">
                <a:solidFill>
                  <a:srgbClr val="56616A"/>
                </a:solidFill>
                <a:latin typeface="Arial"/>
                <a:ea typeface="Arial"/>
                <a:cs typeface="Arial"/>
              </a:rPr>
              <a:t>04</a:t>
            </a:r>
          </a:p>
        </p:txBody>
      </p:sp>
      <p:pic>
        <p:nvPicPr>
          <p:cNvPr id="30" name="Picture 29"/>
          <p:cNvPicPr>
            <a:picLocks noChangeAspect="1"/>
          </p:cNvPicPr>
          <p:nvPr/>
        </p:nvPicPr>
        <p:blipFill>
          <a:blip r:embed="rId3"/>
          <a:stretch/>
        </p:blipFill>
        <p:spPr>
          <a:xfrm>
            <a:off x="5730875" y="1570037"/>
            <a:ext cx="5868686" cy="3914775"/>
          </a:xfrm>
          <a:prstGeom prst="rect">
            <a:avLst/>
          </a:prstGeom>
        </p:spPr>
      </p:pic>
      <p:sp>
        <p:nvSpPr>
          <p:cNvPr id="27" name="TextBox 26">
            <a:extLst>
              <a:ext uri="{FF2B5EF4-FFF2-40B4-BE49-F238E27FC236}">
                <a16:creationId xmlns:a16="http://schemas.microsoft.com/office/drawing/2014/main" id="{183C7C45-5D09-148A-A050-E154591DCC2A}"/>
              </a:ext>
            </a:extLst>
          </p:cNvPr>
          <p:cNvSpPr txBox="1"/>
          <p:nvPr/>
        </p:nvSpPr>
        <p:spPr>
          <a:xfrm>
            <a:off x="381491" y="1718057"/>
            <a:ext cx="4635009" cy="2677656"/>
          </a:xfrm>
          <a:prstGeom prst="rect">
            <a:avLst/>
          </a:prstGeom>
          <a:noFill/>
        </p:spPr>
        <p:txBody>
          <a:bodyPr wrap="square" rtlCol="0">
            <a:spAutoFit/>
          </a:bodyPr>
          <a:lstStyle/>
          <a:p>
            <a:r>
              <a:rPr lang="ru-RU" sz="2000" b="1" dirty="0"/>
              <a:t>Сравнение</a:t>
            </a:r>
            <a:r>
              <a:rPr lang="en-US" sz="2000" b="1" dirty="0"/>
              <a:t>:</a:t>
            </a:r>
          </a:p>
          <a:p>
            <a:pPr marL="285750" indent="-285750">
              <a:buFont typeface="Arial" panose="020B0604020202020204" pitchFamily="34" charset="0"/>
              <a:buChar char="•"/>
            </a:pPr>
            <a:r>
              <a:rPr lang="ru-RU" sz="1600" dirty="0"/>
              <a:t>Реконфигурируемость.</a:t>
            </a:r>
          </a:p>
          <a:p>
            <a:pPr marL="285750" indent="-285750">
              <a:buFont typeface="Arial" panose="020B0604020202020204" pitchFamily="34" charset="0"/>
              <a:buChar char="•"/>
            </a:pPr>
            <a:r>
              <a:rPr lang="ru-RU" sz="1600" dirty="0"/>
              <a:t>Производительность на уровне </a:t>
            </a:r>
            <a:r>
              <a:rPr lang="en-US" sz="1600" dirty="0"/>
              <a:t>ASIC</a:t>
            </a:r>
            <a:r>
              <a:rPr lang="ru-RU" sz="1600" dirty="0"/>
              <a:t>.</a:t>
            </a:r>
          </a:p>
          <a:p>
            <a:pPr marL="285750" indent="-285750">
              <a:buFont typeface="Arial" panose="020B0604020202020204" pitchFamily="34" charset="0"/>
              <a:buChar char="•"/>
            </a:pPr>
            <a:r>
              <a:rPr lang="ru-RU" sz="1600" dirty="0"/>
              <a:t>Значительно большая площадь и энергопотребление чем у </a:t>
            </a:r>
            <a:r>
              <a:rPr lang="en-US" sz="1600" dirty="0"/>
              <a:t>ASIC.</a:t>
            </a:r>
          </a:p>
          <a:p>
            <a:pPr marL="285750" indent="-285750">
              <a:buFont typeface="Arial" panose="020B0604020202020204" pitchFamily="34" charset="0"/>
              <a:buChar char="•"/>
            </a:pPr>
            <a:r>
              <a:rPr lang="ru-RU" sz="1600" dirty="0"/>
              <a:t>Значительно большая стоимость чем у </a:t>
            </a:r>
            <a:r>
              <a:rPr lang="en-US" sz="1600" dirty="0"/>
              <a:t>ASIC.</a:t>
            </a:r>
            <a:endParaRPr lang="ru-RU" sz="1600" dirty="0"/>
          </a:p>
          <a:p>
            <a:pPr marL="285750" indent="-285750">
              <a:buFont typeface="Arial" panose="020B0604020202020204" pitchFamily="34" charset="0"/>
              <a:buChar char="•"/>
            </a:pPr>
            <a:endParaRPr lang="ru-RU" sz="1600" dirty="0"/>
          </a:p>
          <a:p>
            <a:r>
              <a:rPr lang="ru-RU" sz="2000" b="1" dirty="0"/>
              <a:t>Применение</a:t>
            </a:r>
            <a:r>
              <a:rPr lang="en-US" sz="2000" b="1" dirty="0"/>
              <a:t>:</a:t>
            </a:r>
          </a:p>
          <a:p>
            <a:pPr marL="285750" indent="-285750">
              <a:buFont typeface="Arial" panose="020B0604020202020204" pitchFamily="34" charset="0"/>
              <a:buChar char="•"/>
            </a:pPr>
            <a:r>
              <a:rPr lang="ru-RU" sz="1600" dirty="0"/>
              <a:t>Прототипирование электронных схем.</a:t>
            </a:r>
            <a:endParaRPr lang="en-US" sz="1600" dirty="0"/>
          </a:p>
          <a:p>
            <a:pPr marL="285750" indent="-285750">
              <a:buFont typeface="Arial" panose="020B0604020202020204" pitchFamily="34" charset="0"/>
              <a:buChar char="•"/>
            </a:pPr>
            <a:r>
              <a:rPr lang="ru-RU" sz="1600" dirty="0"/>
              <a:t>Создание небольших партий устройств.</a:t>
            </a:r>
          </a:p>
        </p:txBody>
      </p:sp>
    </p:spTree>
    <p:extLst>
      <p:ext uri="{BB962C8B-B14F-4D97-AF65-F5344CB8AC3E}">
        <p14:creationId xmlns:p14="http://schemas.microsoft.com/office/powerpoint/2010/main" val="117133392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C31E32-1652-D49C-C532-3ED84369C457}"/>
            </a:ext>
          </a:extLst>
        </p:cNvPr>
        <p:cNvGrpSpPr/>
        <p:nvPr/>
      </p:nvGrpSpPr>
      <p:grpSpPr>
        <a:xfrm>
          <a:off x="0" y="0"/>
          <a:ext cx="0" cy="0"/>
          <a:chOff x="0" y="0"/>
          <a:chExt cx="0" cy="0"/>
        </a:xfrm>
      </p:grpSpPr>
      <p:sp>
        <p:nvSpPr>
          <p:cNvPr id="26" name="text_59">
            <a:extLst>
              <a:ext uri="{FF2B5EF4-FFF2-40B4-BE49-F238E27FC236}">
                <a16:creationId xmlns:a16="http://schemas.microsoft.com/office/drawing/2014/main" id="{8E79580C-B9C4-2F97-9C53-453DCFA8BAFE}"/>
              </a:ext>
            </a:extLst>
          </p:cNvPr>
          <p:cNvSpPr>
            <a:spLocks noGrp="1"/>
          </p:cNvSpPr>
          <p:nvPr/>
        </p:nvSpPr>
        <p:spPr>
          <a:xfrm>
            <a:off x="457200" y="333375"/>
            <a:ext cx="11277600" cy="762000"/>
          </a:xfrm>
          <a:prstGeom prst="rect">
            <a:avLst/>
          </a:prstGeom>
          <a:noFill/>
          <a:ln w="0">
            <a:noFill/>
          </a:ln>
        </p:spPr>
        <p:txBody>
          <a:bodyPr wrap="square" lIns="0" tIns="0" rIns="0" bIns="0">
            <a:noAutofit/>
          </a:bodyPr>
          <a:lstStyle/>
          <a:p>
            <a:pPr>
              <a:defRPr sz="3225" b="1">
                <a:solidFill>
                  <a:srgbClr val="182530"/>
                </a:solidFill>
                <a:latin typeface="Arial"/>
                <a:ea typeface="Arial"/>
                <a:cs typeface="Arial"/>
              </a:defRPr>
            </a:pPr>
            <a:r>
              <a:rPr lang="en-US" sz="3225" b="1" dirty="0">
                <a:solidFill>
                  <a:srgbClr val="182530"/>
                </a:solidFill>
                <a:latin typeface="Arial"/>
                <a:ea typeface="Arial"/>
                <a:cs typeface="Arial"/>
              </a:rPr>
              <a:t>HDL (Hardware Description Language)</a:t>
            </a:r>
            <a:endParaRPr sz="3225" b="1" dirty="0">
              <a:solidFill>
                <a:srgbClr val="182530"/>
              </a:solidFill>
              <a:latin typeface="Arial"/>
              <a:ea typeface="Arial"/>
              <a:cs typeface="Arial"/>
            </a:endParaRPr>
          </a:p>
        </p:txBody>
      </p:sp>
      <p:sp>
        <p:nvSpPr>
          <p:cNvPr id="2" name="line_60">
            <a:extLst>
              <a:ext uri="{FF2B5EF4-FFF2-40B4-BE49-F238E27FC236}">
                <a16:creationId xmlns:a16="http://schemas.microsoft.com/office/drawing/2014/main" id="{BFED27F0-78A9-79B0-5F19-7FD22C7A425F}"/>
              </a:ext>
            </a:extLst>
          </p:cNvPr>
          <p:cNvSpPr>
            <a:spLocks noGrp="1"/>
          </p:cNvSpPr>
          <p:nvPr/>
        </p:nvSpPr>
        <p:spPr>
          <a:xfrm>
            <a:off x="457200" y="1133475"/>
            <a:ext cx="11277600" cy="0"/>
          </a:xfrm>
          <a:prstGeom prst="line">
            <a:avLst/>
          </a:prstGeom>
          <a:noFill/>
          <a:ln w="9525">
            <a:solidFill>
              <a:srgbClr val="B9C4CC"/>
            </a:solidFill>
          </a:ln>
        </p:spPr>
        <p:txBody>
          <a:bodyPr/>
          <a:lstStyle/>
          <a:p>
            <a:endParaRPr lang="en-US"/>
          </a:p>
        </p:txBody>
      </p:sp>
      <p:sp>
        <p:nvSpPr>
          <p:cNvPr id="4" name="text_62">
            <a:extLst>
              <a:ext uri="{FF2B5EF4-FFF2-40B4-BE49-F238E27FC236}">
                <a16:creationId xmlns:a16="http://schemas.microsoft.com/office/drawing/2014/main" id="{A499A33D-7CC8-BB30-A8B2-602E6F722CA4}"/>
              </a:ext>
            </a:extLst>
          </p:cNvPr>
          <p:cNvSpPr>
            <a:spLocks noGrp="1"/>
          </p:cNvSpPr>
          <p:nvPr/>
        </p:nvSpPr>
        <p:spPr>
          <a:xfrm>
            <a:off x="11220450" y="6343650"/>
            <a:ext cx="514350" cy="304800"/>
          </a:xfrm>
          <a:prstGeom prst="rect">
            <a:avLst/>
          </a:prstGeom>
          <a:noFill/>
          <a:ln w="0">
            <a:noFill/>
          </a:ln>
        </p:spPr>
        <p:txBody>
          <a:bodyPr wrap="square" lIns="0" tIns="0" rIns="0" bIns="0">
            <a:noAutofit/>
          </a:bodyPr>
          <a:lstStyle/>
          <a:p>
            <a:pPr algn="r">
              <a:defRPr sz="1500">
                <a:solidFill>
                  <a:srgbClr val="56616A"/>
                </a:solidFill>
                <a:latin typeface="Arial"/>
                <a:ea typeface="Arial"/>
                <a:cs typeface="Arial"/>
              </a:defRPr>
            </a:pPr>
            <a:r>
              <a:rPr sz="1500">
                <a:solidFill>
                  <a:srgbClr val="56616A"/>
                </a:solidFill>
                <a:latin typeface="Arial"/>
                <a:ea typeface="Arial"/>
                <a:cs typeface="Arial"/>
              </a:rPr>
              <a:t>04</a:t>
            </a:r>
          </a:p>
        </p:txBody>
      </p:sp>
      <p:sp>
        <p:nvSpPr>
          <p:cNvPr id="3" name="TextBox 2">
            <a:extLst>
              <a:ext uri="{FF2B5EF4-FFF2-40B4-BE49-F238E27FC236}">
                <a16:creationId xmlns:a16="http://schemas.microsoft.com/office/drawing/2014/main" id="{6809D9DE-DDB7-6072-B287-B8B990CF11F7}"/>
              </a:ext>
            </a:extLst>
          </p:cNvPr>
          <p:cNvSpPr txBox="1"/>
          <p:nvPr/>
        </p:nvSpPr>
        <p:spPr>
          <a:xfrm>
            <a:off x="361950" y="2417943"/>
            <a:ext cx="3731021" cy="1231106"/>
          </a:xfrm>
          <a:prstGeom prst="rect">
            <a:avLst/>
          </a:prstGeom>
          <a:noFill/>
        </p:spPr>
        <p:txBody>
          <a:bodyPr wrap="none" rtlCol="0">
            <a:spAutoFit/>
          </a:bodyPr>
          <a:lstStyle/>
          <a:p>
            <a:r>
              <a:rPr lang="ru-RU" sz="2000" b="1" dirty="0"/>
              <a:t>Наиболее распространенные</a:t>
            </a:r>
            <a:r>
              <a:rPr lang="en-US" sz="2000" b="1" dirty="0"/>
              <a:t>:</a:t>
            </a:r>
          </a:p>
          <a:p>
            <a:pPr marL="285750" indent="-285750">
              <a:buFont typeface="Arial" panose="020B0604020202020204" pitchFamily="34" charset="0"/>
              <a:buChar char="•"/>
            </a:pPr>
            <a:r>
              <a:rPr lang="en-US" dirty="0"/>
              <a:t>VHDL</a:t>
            </a:r>
          </a:p>
          <a:p>
            <a:pPr marL="285750" indent="-285750">
              <a:buFont typeface="Arial" panose="020B0604020202020204" pitchFamily="34" charset="0"/>
              <a:buChar char="•"/>
            </a:pPr>
            <a:r>
              <a:rPr lang="en-US" dirty="0"/>
              <a:t>Verilog</a:t>
            </a:r>
            <a:r>
              <a:rPr lang="ru-RU" dirty="0"/>
              <a:t> (для модулей)</a:t>
            </a:r>
            <a:endParaRPr lang="en-US" dirty="0"/>
          </a:p>
          <a:p>
            <a:pPr marL="285750" indent="-285750">
              <a:buFont typeface="Arial" panose="020B0604020202020204" pitchFamily="34" charset="0"/>
              <a:buChar char="•"/>
            </a:pPr>
            <a:r>
              <a:rPr lang="en-US" dirty="0"/>
              <a:t>SystemVerilog</a:t>
            </a:r>
            <a:r>
              <a:rPr lang="ru-RU" dirty="0"/>
              <a:t> (для тестирования)</a:t>
            </a:r>
            <a:endParaRPr lang="en-US" dirty="0"/>
          </a:p>
        </p:txBody>
      </p:sp>
      <p:sp>
        <p:nvSpPr>
          <p:cNvPr id="11" name="Arrow: Right 10">
            <a:extLst>
              <a:ext uri="{FF2B5EF4-FFF2-40B4-BE49-F238E27FC236}">
                <a16:creationId xmlns:a16="http://schemas.microsoft.com/office/drawing/2014/main" id="{08708E6F-DFC8-6C6D-DA12-32EA3DD5CE69}"/>
              </a:ext>
            </a:extLst>
          </p:cNvPr>
          <p:cNvSpPr/>
          <p:nvPr/>
        </p:nvSpPr>
        <p:spPr>
          <a:xfrm>
            <a:off x="3850978" y="4634286"/>
            <a:ext cx="1320800" cy="509837"/>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TextBox 20">
            <a:extLst>
              <a:ext uri="{FF2B5EF4-FFF2-40B4-BE49-F238E27FC236}">
                <a16:creationId xmlns:a16="http://schemas.microsoft.com/office/drawing/2014/main" id="{8DFB24F0-53B0-70C7-6D44-8C15B5977573}"/>
              </a:ext>
            </a:extLst>
          </p:cNvPr>
          <p:cNvSpPr txBox="1"/>
          <p:nvPr/>
        </p:nvSpPr>
        <p:spPr>
          <a:xfrm>
            <a:off x="361950" y="1557331"/>
            <a:ext cx="4809828" cy="923330"/>
          </a:xfrm>
          <a:prstGeom prst="rect">
            <a:avLst/>
          </a:prstGeom>
          <a:noFill/>
        </p:spPr>
        <p:txBody>
          <a:bodyPr wrap="square" rtlCol="0">
            <a:spAutoFit/>
          </a:bodyPr>
          <a:lstStyle/>
          <a:p>
            <a:r>
              <a:rPr lang="en-US" dirty="0"/>
              <a:t>HDL </a:t>
            </a:r>
            <a:r>
              <a:rPr lang="ru-RU" dirty="0"/>
              <a:t>языки используются для функционального описания цифровых схем</a:t>
            </a:r>
            <a:endParaRPr lang="en-US" dirty="0"/>
          </a:p>
          <a:p>
            <a:endParaRPr lang="en-US" dirty="0"/>
          </a:p>
        </p:txBody>
      </p:sp>
      <p:sp>
        <p:nvSpPr>
          <p:cNvPr id="6" name="TextBox 5">
            <a:extLst>
              <a:ext uri="{FF2B5EF4-FFF2-40B4-BE49-F238E27FC236}">
                <a16:creationId xmlns:a16="http://schemas.microsoft.com/office/drawing/2014/main" id="{6B6274A2-0BE3-7041-91FB-B24874CD68B6}"/>
              </a:ext>
            </a:extLst>
          </p:cNvPr>
          <p:cNvSpPr txBox="1"/>
          <p:nvPr/>
        </p:nvSpPr>
        <p:spPr>
          <a:xfrm>
            <a:off x="768350" y="4069128"/>
            <a:ext cx="2609850" cy="1907445"/>
          </a:xfrm>
          <a:prstGeom prst="rect">
            <a:avLst/>
          </a:prstGeom>
          <a:noFill/>
        </p:spPr>
        <p:txBody>
          <a:bodyPr wrap="square">
            <a:spAutoFit/>
          </a:bodyPr>
          <a:lstStyle/>
          <a:p>
            <a:pPr>
              <a:lnSpc>
                <a:spcPct val="113095"/>
              </a:lnSpc>
              <a:buNone/>
            </a:pPr>
            <a:r>
              <a:rPr lang="en-US" sz="1050" b="0" dirty="0">
                <a:solidFill>
                  <a:srgbClr val="CF222E"/>
                </a:solidFill>
                <a:effectLst/>
                <a:latin typeface="Consolas" panose="020B0609020204030204" pitchFamily="49" charset="0"/>
              </a:rPr>
              <a:t>module</a:t>
            </a:r>
            <a:r>
              <a:rPr lang="en-US" sz="1050" b="0" dirty="0">
                <a:solidFill>
                  <a:srgbClr val="1F2328"/>
                </a:solidFill>
                <a:effectLst/>
                <a:latin typeface="Consolas" panose="020B0609020204030204" pitchFamily="49" charset="0"/>
              </a:rPr>
              <a:t> </a:t>
            </a:r>
            <a:r>
              <a:rPr lang="en-US" sz="1050" b="0" dirty="0">
                <a:solidFill>
                  <a:srgbClr val="267F99"/>
                </a:solidFill>
                <a:effectLst/>
                <a:latin typeface="Consolas" panose="020B0609020204030204" pitchFamily="49" charset="0"/>
              </a:rPr>
              <a:t>top</a:t>
            </a:r>
            <a:r>
              <a:rPr lang="en-US" sz="1050" b="0" dirty="0">
                <a:solidFill>
                  <a:srgbClr val="1F2328"/>
                </a:solidFill>
                <a:effectLst/>
                <a:latin typeface="Consolas" panose="020B0609020204030204" pitchFamily="49" charset="0"/>
              </a:rPr>
              <a:t> (</a:t>
            </a:r>
            <a:endParaRPr lang="en-US" sz="1050" b="0" dirty="0">
              <a:solidFill>
                <a:srgbClr val="202020"/>
              </a:solidFill>
              <a:effectLst/>
              <a:latin typeface="Consolas" panose="020B0609020204030204" pitchFamily="49" charset="0"/>
            </a:endParaRPr>
          </a:p>
          <a:p>
            <a:pPr>
              <a:lnSpc>
                <a:spcPct val="113095"/>
              </a:lnSpc>
              <a:buNone/>
            </a:pPr>
            <a:r>
              <a:rPr lang="en-US" sz="1050" b="0" dirty="0">
                <a:solidFill>
                  <a:srgbClr val="1F2328"/>
                </a:solidFill>
                <a:effectLst/>
                <a:latin typeface="Consolas" panose="020B0609020204030204" pitchFamily="49" charset="0"/>
              </a:rPr>
              <a:t>    </a:t>
            </a:r>
            <a:r>
              <a:rPr lang="en-US" sz="1050" b="0" dirty="0">
                <a:solidFill>
                  <a:srgbClr val="CF222E"/>
                </a:solidFill>
                <a:effectLst/>
                <a:latin typeface="Consolas" panose="020B0609020204030204" pitchFamily="49" charset="0"/>
              </a:rPr>
              <a:t>input</a:t>
            </a:r>
            <a:r>
              <a:rPr lang="en-US" sz="1050" b="0" dirty="0">
                <a:solidFill>
                  <a:srgbClr val="1F2328"/>
                </a:solidFill>
                <a:effectLst/>
                <a:latin typeface="Consolas" panose="020B0609020204030204" pitchFamily="49" charset="0"/>
              </a:rPr>
              <a:t> btn_1, btn_2,</a:t>
            </a:r>
            <a:endParaRPr lang="en-US" sz="1050" b="0" dirty="0">
              <a:solidFill>
                <a:srgbClr val="202020"/>
              </a:solidFill>
              <a:effectLst/>
              <a:latin typeface="Consolas" panose="020B0609020204030204" pitchFamily="49" charset="0"/>
            </a:endParaRPr>
          </a:p>
          <a:p>
            <a:pPr>
              <a:lnSpc>
                <a:spcPct val="113095"/>
              </a:lnSpc>
              <a:buNone/>
            </a:pPr>
            <a:r>
              <a:rPr lang="en-US" sz="1050" b="0" dirty="0">
                <a:solidFill>
                  <a:srgbClr val="1F2328"/>
                </a:solidFill>
                <a:effectLst/>
                <a:latin typeface="Consolas" panose="020B0609020204030204" pitchFamily="49" charset="0"/>
              </a:rPr>
              <a:t>    </a:t>
            </a:r>
            <a:r>
              <a:rPr lang="en-US" sz="1050" b="0" dirty="0">
                <a:solidFill>
                  <a:srgbClr val="CF222E"/>
                </a:solidFill>
                <a:effectLst/>
                <a:latin typeface="Consolas" panose="020B0609020204030204" pitchFamily="49" charset="0"/>
              </a:rPr>
              <a:t>output</a:t>
            </a:r>
            <a:r>
              <a:rPr lang="en-US" sz="1050" b="0" dirty="0">
                <a:solidFill>
                  <a:srgbClr val="1F2328"/>
                </a:solidFill>
                <a:effectLst/>
                <a:latin typeface="Consolas" panose="020B0609020204030204" pitchFamily="49" charset="0"/>
              </a:rPr>
              <a:t> led</a:t>
            </a:r>
            <a:endParaRPr lang="en-US" sz="1050" b="0" dirty="0">
              <a:solidFill>
                <a:srgbClr val="202020"/>
              </a:solidFill>
              <a:effectLst/>
              <a:latin typeface="Consolas" panose="020B0609020204030204" pitchFamily="49" charset="0"/>
            </a:endParaRPr>
          </a:p>
          <a:p>
            <a:pPr>
              <a:lnSpc>
                <a:spcPct val="113095"/>
              </a:lnSpc>
              <a:buNone/>
            </a:pPr>
            <a:r>
              <a:rPr lang="en-US" sz="1050" b="0" dirty="0">
                <a:solidFill>
                  <a:srgbClr val="1F2328"/>
                </a:solidFill>
                <a:effectLst/>
                <a:latin typeface="Consolas" panose="020B0609020204030204" pitchFamily="49" charset="0"/>
              </a:rPr>
              <a:t>);</a:t>
            </a:r>
            <a:endParaRPr lang="en-US" sz="1050" b="0" dirty="0">
              <a:solidFill>
                <a:srgbClr val="202020"/>
              </a:solidFill>
              <a:effectLst/>
              <a:latin typeface="Consolas" panose="020B0609020204030204" pitchFamily="49" charset="0"/>
            </a:endParaRPr>
          </a:p>
          <a:p>
            <a:pPr>
              <a:lnSpc>
                <a:spcPct val="113095"/>
              </a:lnSpc>
              <a:buNone/>
            </a:pPr>
            <a:r>
              <a:rPr lang="en-US" sz="1050" b="0" dirty="0">
                <a:solidFill>
                  <a:srgbClr val="1F2328"/>
                </a:solidFill>
                <a:effectLst/>
                <a:latin typeface="Consolas" panose="020B0609020204030204" pitchFamily="49" charset="0"/>
              </a:rPr>
              <a:t>    </a:t>
            </a:r>
            <a:endParaRPr lang="en-US" sz="1050" b="0" dirty="0">
              <a:solidFill>
                <a:srgbClr val="202020"/>
              </a:solidFill>
              <a:effectLst/>
              <a:latin typeface="Consolas" panose="020B0609020204030204" pitchFamily="49" charset="0"/>
            </a:endParaRPr>
          </a:p>
          <a:p>
            <a:pPr>
              <a:lnSpc>
                <a:spcPct val="113095"/>
              </a:lnSpc>
              <a:buNone/>
            </a:pPr>
            <a:r>
              <a:rPr lang="en-US" sz="1050" b="0" dirty="0">
                <a:solidFill>
                  <a:srgbClr val="1F2328"/>
                </a:solidFill>
                <a:effectLst/>
                <a:latin typeface="Consolas" panose="020B0609020204030204" pitchFamily="49" charset="0"/>
              </a:rPr>
              <a:t>    </a:t>
            </a:r>
            <a:r>
              <a:rPr lang="en-US" sz="1050" b="0" dirty="0">
                <a:solidFill>
                  <a:srgbClr val="CF222E"/>
                </a:solidFill>
                <a:effectLst/>
                <a:latin typeface="Consolas" panose="020B0609020204030204" pitchFamily="49" charset="0"/>
              </a:rPr>
              <a:t>assign</a:t>
            </a:r>
            <a:r>
              <a:rPr lang="en-US" sz="1050" b="0" dirty="0">
                <a:solidFill>
                  <a:srgbClr val="1F2328"/>
                </a:solidFill>
                <a:effectLst/>
                <a:latin typeface="Consolas" panose="020B0609020204030204" pitchFamily="49" charset="0"/>
              </a:rPr>
              <a:t> led </a:t>
            </a:r>
            <a:r>
              <a:rPr lang="en-US" sz="1050" b="0" dirty="0">
                <a:solidFill>
                  <a:srgbClr val="000000"/>
                </a:solidFill>
                <a:effectLst/>
                <a:latin typeface="Consolas" panose="020B0609020204030204" pitchFamily="49" charset="0"/>
              </a:rPr>
              <a:t>=</a:t>
            </a:r>
            <a:r>
              <a:rPr lang="en-US" sz="1050" b="0" dirty="0">
                <a:solidFill>
                  <a:srgbClr val="1F2328"/>
                </a:solidFill>
                <a:effectLst/>
                <a:latin typeface="Consolas" panose="020B0609020204030204" pitchFamily="49" charset="0"/>
              </a:rPr>
              <a:t> btn_1 </a:t>
            </a:r>
            <a:r>
              <a:rPr lang="en-US" sz="1050" b="0" dirty="0">
                <a:solidFill>
                  <a:srgbClr val="000000"/>
                </a:solidFill>
                <a:effectLst/>
                <a:latin typeface="Consolas" panose="020B0609020204030204" pitchFamily="49" charset="0"/>
              </a:rPr>
              <a:t>&amp;</a:t>
            </a:r>
            <a:r>
              <a:rPr lang="en-US" sz="1050" b="0" dirty="0">
                <a:solidFill>
                  <a:srgbClr val="1F2328"/>
                </a:solidFill>
                <a:effectLst/>
                <a:latin typeface="Consolas" panose="020B0609020204030204" pitchFamily="49" charset="0"/>
              </a:rPr>
              <a:t> btn_2;</a:t>
            </a:r>
            <a:endParaRPr lang="en-US" sz="1050" b="0" dirty="0">
              <a:solidFill>
                <a:srgbClr val="202020"/>
              </a:solidFill>
              <a:effectLst/>
              <a:latin typeface="Consolas" panose="020B0609020204030204" pitchFamily="49" charset="0"/>
            </a:endParaRPr>
          </a:p>
          <a:p>
            <a:pPr>
              <a:lnSpc>
                <a:spcPct val="113095"/>
              </a:lnSpc>
              <a:buNone/>
            </a:pPr>
            <a:r>
              <a:rPr lang="en-US" sz="1050" b="0" dirty="0">
                <a:solidFill>
                  <a:srgbClr val="1F2328"/>
                </a:solidFill>
                <a:effectLst/>
                <a:latin typeface="Consolas" panose="020B0609020204030204" pitchFamily="49" charset="0"/>
              </a:rPr>
              <a:t>    </a:t>
            </a:r>
            <a:endParaRPr lang="en-US" sz="1050" b="0" dirty="0">
              <a:solidFill>
                <a:srgbClr val="202020"/>
              </a:solidFill>
              <a:effectLst/>
              <a:latin typeface="Consolas" panose="020B0609020204030204" pitchFamily="49" charset="0"/>
            </a:endParaRPr>
          </a:p>
          <a:p>
            <a:pPr>
              <a:lnSpc>
                <a:spcPct val="113095"/>
              </a:lnSpc>
              <a:buNone/>
            </a:pPr>
            <a:r>
              <a:rPr lang="en-US" sz="1050" b="0" dirty="0">
                <a:solidFill>
                  <a:srgbClr val="CF222E"/>
                </a:solidFill>
                <a:effectLst/>
                <a:latin typeface="Consolas" panose="020B0609020204030204" pitchFamily="49" charset="0"/>
              </a:rPr>
              <a:t>endmodule</a:t>
            </a:r>
            <a:endParaRPr lang="en-US" sz="1050" b="0" dirty="0">
              <a:solidFill>
                <a:srgbClr val="202020"/>
              </a:solidFill>
              <a:effectLst/>
              <a:latin typeface="Consolas" panose="020B0609020204030204" pitchFamily="49" charset="0"/>
            </a:endParaRPr>
          </a:p>
          <a:p>
            <a:pPr>
              <a:lnSpc>
                <a:spcPct val="113095"/>
              </a:lnSpc>
              <a:buNone/>
            </a:pPr>
            <a:br>
              <a:rPr lang="en-US" sz="1050" b="0" dirty="0">
                <a:solidFill>
                  <a:srgbClr val="202020"/>
                </a:solidFill>
                <a:effectLst/>
                <a:latin typeface="Consolas" panose="020B0609020204030204" pitchFamily="49" charset="0"/>
              </a:rPr>
            </a:br>
            <a:endParaRPr lang="en-US" sz="1050" b="0" dirty="0">
              <a:solidFill>
                <a:srgbClr val="202020"/>
              </a:solidFill>
              <a:effectLst/>
              <a:latin typeface="Consolas" panose="020B0609020204030204" pitchFamily="49" charset="0"/>
            </a:endParaRPr>
          </a:p>
        </p:txBody>
      </p:sp>
      <p:pic>
        <p:nvPicPr>
          <p:cNvPr id="8" name="Picture 7">
            <a:extLst>
              <a:ext uri="{FF2B5EF4-FFF2-40B4-BE49-F238E27FC236}">
                <a16:creationId xmlns:a16="http://schemas.microsoft.com/office/drawing/2014/main" id="{37E99178-8C1A-0B5D-2498-8169060523C0}"/>
              </a:ext>
            </a:extLst>
          </p:cNvPr>
          <p:cNvPicPr>
            <a:picLocks noChangeAspect="1"/>
          </p:cNvPicPr>
          <p:nvPr/>
        </p:nvPicPr>
        <p:blipFill>
          <a:blip r:embed="rId3"/>
          <a:stretch>
            <a:fillRect/>
          </a:stretch>
        </p:blipFill>
        <p:spPr>
          <a:xfrm>
            <a:off x="6005043" y="4316786"/>
            <a:ext cx="4124772" cy="1044320"/>
          </a:xfrm>
          <a:prstGeom prst="rect">
            <a:avLst/>
          </a:prstGeom>
        </p:spPr>
      </p:pic>
    </p:spTree>
    <p:extLst>
      <p:ext uri="{BB962C8B-B14F-4D97-AF65-F5344CB8AC3E}">
        <p14:creationId xmlns:p14="http://schemas.microsoft.com/office/powerpoint/2010/main" val="167616216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A49D72B7-84D9-8EF6-22CB-5BA47DBA66A1}"/>
              </a:ext>
            </a:extLst>
          </p:cNvPr>
          <p:cNvPicPr>
            <a:picLocks noChangeAspect="1"/>
          </p:cNvPicPr>
          <p:nvPr/>
        </p:nvPicPr>
        <p:blipFill>
          <a:blip r:embed="rId2"/>
          <a:stretch>
            <a:fillRect/>
          </a:stretch>
        </p:blipFill>
        <p:spPr>
          <a:xfrm>
            <a:off x="444748" y="144168"/>
            <a:ext cx="11302503" cy="6569664"/>
          </a:xfrm>
          <a:prstGeom prst="rect">
            <a:avLst/>
          </a:prstGeom>
        </p:spPr>
      </p:pic>
    </p:spTree>
    <p:extLst>
      <p:ext uri="{BB962C8B-B14F-4D97-AF65-F5344CB8AC3E}">
        <p14:creationId xmlns:p14="http://schemas.microsoft.com/office/powerpoint/2010/main" val="204901354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6D3E15E-59D7-D2FA-34B8-88523ABEABBF}"/>
              </a:ext>
            </a:extLst>
          </p:cNvPr>
          <p:cNvPicPr>
            <a:picLocks noChangeAspect="1"/>
          </p:cNvPicPr>
          <p:nvPr/>
        </p:nvPicPr>
        <p:blipFill>
          <a:blip r:embed="rId2"/>
          <a:stretch>
            <a:fillRect/>
          </a:stretch>
        </p:blipFill>
        <p:spPr>
          <a:xfrm>
            <a:off x="940574" y="705554"/>
            <a:ext cx="9277792" cy="4579677"/>
          </a:xfrm>
          <a:prstGeom prst="rect">
            <a:avLst/>
          </a:prstGeom>
        </p:spPr>
      </p:pic>
    </p:spTree>
    <p:extLst>
      <p:ext uri="{BB962C8B-B14F-4D97-AF65-F5344CB8AC3E}">
        <p14:creationId xmlns:p14="http://schemas.microsoft.com/office/powerpoint/2010/main" val="143997006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00DFCA-3176-9273-BB69-4BC0153EEAE8}"/>
            </a:ext>
          </a:extLst>
        </p:cNvPr>
        <p:cNvGrpSpPr/>
        <p:nvPr/>
      </p:nvGrpSpPr>
      <p:grpSpPr>
        <a:xfrm>
          <a:off x="0" y="0"/>
          <a:ext cx="0" cy="0"/>
          <a:chOff x="0" y="0"/>
          <a:chExt cx="0" cy="0"/>
        </a:xfrm>
      </p:grpSpPr>
      <p:sp>
        <p:nvSpPr>
          <p:cNvPr id="26" name="text_59">
            <a:extLst>
              <a:ext uri="{FF2B5EF4-FFF2-40B4-BE49-F238E27FC236}">
                <a16:creationId xmlns:a16="http://schemas.microsoft.com/office/drawing/2014/main" id="{892486B8-CBC4-AD12-EEB3-7230E256F554}"/>
              </a:ext>
            </a:extLst>
          </p:cNvPr>
          <p:cNvSpPr>
            <a:spLocks noGrp="1"/>
          </p:cNvSpPr>
          <p:nvPr/>
        </p:nvSpPr>
        <p:spPr>
          <a:xfrm>
            <a:off x="457200" y="333375"/>
            <a:ext cx="11277600" cy="762000"/>
          </a:xfrm>
          <a:prstGeom prst="rect">
            <a:avLst/>
          </a:prstGeom>
          <a:noFill/>
          <a:ln w="0">
            <a:noFill/>
          </a:ln>
        </p:spPr>
        <p:txBody>
          <a:bodyPr wrap="square" lIns="0" tIns="0" rIns="0" bIns="0">
            <a:noAutofit/>
          </a:bodyPr>
          <a:lstStyle/>
          <a:p>
            <a:pPr>
              <a:defRPr sz="3225" b="1">
                <a:solidFill>
                  <a:srgbClr val="182530"/>
                </a:solidFill>
                <a:latin typeface="Arial"/>
                <a:ea typeface="Arial"/>
                <a:cs typeface="Arial"/>
              </a:defRPr>
            </a:pPr>
            <a:r>
              <a:rPr lang="ru-RU" sz="3225" b="1" dirty="0">
                <a:solidFill>
                  <a:srgbClr val="182530"/>
                </a:solidFill>
                <a:latin typeface="Arial"/>
                <a:ea typeface="Arial"/>
                <a:cs typeface="Arial"/>
              </a:rPr>
              <a:t>Комбинационная и последовательная логика</a:t>
            </a:r>
            <a:endParaRPr sz="3225" b="1" dirty="0">
              <a:solidFill>
                <a:srgbClr val="182530"/>
              </a:solidFill>
              <a:latin typeface="Arial"/>
              <a:ea typeface="Arial"/>
              <a:cs typeface="Arial"/>
            </a:endParaRPr>
          </a:p>
        </p:txBody>
      </p:sp>
      <p:sp>
        <p:nvSpPr>
          <p:cNvPr id="2" name="line_60">
            <a:extLst>
              <a:ext uri="{FF2B5EF4-FFF2-40B4-BE49-F238E27FC236}">
                <a16:creationId xmlns:a16="http://schemas.microsoft.com/office/drawing/2014/main" id="{DA17A196-5318-AE77-F878-55D367EAA562}"/>
              </a:ext>
            </a:extLst>
          </p:cNvPr>
          <p:cNvSpPr>
            <a:spLocks noGrp="1"/>
          </p:cNvSpPr>
          <p:nvPr/>
        </p:nvSpPr>
        <p:spPr>
          <a:xfrm>
            <a:off x="457200" y="1133475"/>
            <a:ext cx="11277600" cy="0"/>
          </a:xfrm>
          <a:prstGeom prst="line">
            <a:avLst/>
          </a:prstGeom>
          <a:noFill/>
          <a:ln w="9525">
            <a:solidFill>
              <a:srgbClr val="B9C4CC"/>
            </a:solidFill>
          </a:ln>
        </p:spPr>
        <p:txBody>
          <a:bodyPr/>
          <a:lstStyle/>
          <a:p>
            <a:endParaRPr lang="en-US"/>
          </a:p>
        </p:txBody>
      </p:sp>
      <p:sp>
        <p:nvSpPr>
          <p:cNvPr id="4" name="text_62">
            <a:extLst>
              <a:ext uri="{FF2B5EF4-FFF2-40B4-BE49-F238E27FC236}">
                <a16:creationId xmlns:a16="http://schemas.microsoft.com/office/drawing/2014/main" id="{E23A8E90-B47A-2841-D645-B32411BA5B87}"/>
              </a:ext>
            </a:extLst>
          </p:cNvPr>
          <p:cNvSpPr>
            <a:spLocks noGrp="1"/>
          </p:cNvSpPr>
          <p:nvPr/>
        </p:nvSpPr>
        <p:spPr>
          <a:xfrm>
            <a:off x="11220450" y="6343650"/>
            <a:ext cx="514350" cy="304800"/>
          </a:xfrm>
          <a:prstGeom prst="rect">
            <a:avLst/>
          </a:prstGeom>
          <a:noFill/>
          <a:ln w="0">
            <a:noFill/>
          </a:ln>
        </p:spPr>
        <p:txBody>
          <a:bodyPr wrap="square" lIns="0" tIns="0" rIns="0" bIns="0">
            <a:noAutofit/>
          </a:bodyPr>
          <a:lstStyle/>
          <a:p>
            <a:pPr algn="r">
              <a:defRPr sz="1500">
                <a:solidFill>
                  <a:srgbClr val="56616A"/>
                </a:solidFill>
                <a:latin typeface="Arial"/>
                <a:ea typeface="Arial"/>
                <a:cs typeface="Arial"/>
              </a:defRPr>
            </a:pPr>
            <a:r>
              <a:rPr sz="1500">
                <a:solidFill>
                  <a:srgbClr val="56616A"/>
                </a:solidFill>
                <a:latin typeface="Arial"/>
                <a:ea typeface="Arial"/>
                <a:cs typeface="Arial"/>
              </a:rPr>
              <a:t>04</a:t>
            </a:r>
          </a:p>
        </p:txBody>
      </p:sp>
      <p:sp>
        <p:nvSpPr>
          <p:cNvPr id="5" name="TextBox 4">
            <a:extLst>
              <a:ext uri="{FF2B5EF4-FFF2-40B4-BE49-F238E27FC236}">
                <a16:creationId xmlns:a16="http://schemas.microsoft.com/office/drawing/2014/main" id="{7AB29162-20B4-778A-8A53-96121582F4A9}"/>
              </a:ext>
            </a:extLst>
          </p:cNvPr>
          <p:cNvSpPr txBox="1"/>
          <p:nvPr/>
        </p:nvSpPr>
        <p:spPr>
          <a:xfrm flipH="1">
            <a:off x="2055493" y="1419195"/>
            <a:ext cx="2621281" cy="400110"/>
          </a:xfrm>
          <a:prstGeom prst="rect">
            <a:avLst/>
          </a:prstGeom>
          <a:noFill/>
        </p:spPr>
        <p:txBody>
          <a:bodyPr wrap="square" rtlCol="0">
            <a:spAutoFit/>
          </a:bodyPr>
          <a:lstStyle/>
          <a:p>
            <a:r>
              <a:rPr lang="ru-RU" sz="2000" b="1" dirty="0"/>
              <a:t>Комбинационная</a:t>
            </a:r>
            <a:endParaRPr lang="en-US" sz="2000" b="1" dirty="0"/>
          </a:p>
        </p:txBody>
      </p:sp>
      <p:sp>
        <p:nvSpPr>
          <p:cNvPr id="9" name="TextBox 8">
            <a:extLst>
              <a:ext uri="{FF2B5EF4-FFF2-40B4-BE49-F238E27FC236}">
                <a16:creationId xmlns:a16="http://schemas.microsoft.com/office/drawing/2014/main" id="{9B5FF392-9E8B-DC7A-E6CA-AEFF4AE34B2E}"/>
              </a:ext>
            </a:extLst>
          </p:cNvPr>
          <p:cNvSpPr txBox="1"/>
          <p:nvPr/>
        </p:nvSpPr>
        <p:spPr>
          <a:xfrm flipH="1">
            <a:off x="7894318" y="1419195"/>
            <a:ext cx="2621281" cy="400110"/>
          </a:xfrm>
          <a:prstGeom prst="rect">
            <a:avLst/>
          </a:prstGeom>
          <a:noFill/>
        </p:spPr>
        <p:txBody>
          <a:bodyPr wrap="square" rtlCol="0">
            <a:spAutoFit/>
          </a:bodyPr>
          <a:lstStyle/>
          <a:p>
            <a:r>
              <a:rPr lang="ru-RU" sz="2000" b="1" dirty="0"/>
              <a:t>Последовательная</a:t>
            </a:r>
            <a:endParaRPr lang="en-US" sz="2000" b="1" dirty="0"/>
          </a:p>
        </p:txBody>
      </p:sp>
      <p:sp>
        <p:nvSpPr>
          <p:cNvPr id="10" name="TextBox 9">
            <a:extLst>
              <a:ext uri="{FF2B5EF4-FFF2-40B4-BE49-F238E27FC236}">
                <a16:creationId xmlns:a16="http://schemas.microsoft.com/office/drawing/2014/main" id="{6E0D561D-2191-06CF-1250-83483176DCA7}"/>
              </a:ext>
            </a:extLst>
          </p:cNvPr>
          <p:cNvSpPr txBox="1"/>
          <p:nvPr/>
        </p:nvSpPr>
        <p:spPr>
          <a:xfrm>
            <a:off x="1032508" y="1943220"/>
            <a:ext cx="4248150" cy="646331"/>
          </a:xfrm>
          <a:prstGeom prst="rect">
            <a:avLst/>
          </a:prstGeom>
          <a:noFill/>
        </p:spPr>
        <p:txBody>
          <a:bodyPr wrap="square" rtlCol="0">
            <a:spAutoFit/>
          </a:bodyPr>
          <a:lstStyle/>
          <a:p>
            <a:pPr algn="ctr"/>
            <a:r>
              <a:rPr lang="ru-RU" dirty="0"/>
              <a:t>Выходы являются логической функцией только от входов</a:t>
            </a:r>
            <a:endParaRPr lang="en-US" dirty="0"/>
          </a:p>
        </p:txBody>
      </p:sp>
      <p:sp>
        <p:nvSpPr>
          <p:cNvPr id="13" name="TextBox 12">
            <a:extLst>
              <a:ext uri="{FF2B5EF4-FFF2-40B4-BE49-F238E27FC236}">
                <a16:creationId xmlns:a16="http://schemas.microsoft.com/office/drawing/2014/main" id="{2EC48BCF-A9B6-5F80-2796-016AD5CCEA62}"/>
              </a:ext>
            </a:extLst>
          </p:cNvPr>
          <p:cNvSpPr txBox="1"/>
          <p:nvPr/>
        </p:nvSpPr>
        <p:spPr>
          <a:xfrm>
            <a:off x="7080883" y="1943220"/>
            <a:ext cx="4248150" cy="646331"/>
          </a:xfrm>
          <a:prstGeom prst="rect">
            <a:avLst/>
          </a:prstGeom>
          <a:noFill/>
        </p:spPr>
        <p:txBody>
          <a:bodyPr wrap="square" rtlCol="0">
            <a:spAutoFit/>
          </a:bodyPr>
          <a:lstStyle/>
          <a:p>
            <a:pPr algn="ctr"/>
            <a:r>
              <a:rPr lang="ru-RU" dirty="0"/>
              <a:t>Выходы являются логической функцией от входов и состояния</a:t>
            </a:r>
            <a:endParaRPr lang="en-US" dirty="0"/>
          </a:p>
        </p:txBody>
      </p:sp>
      <p:pic>
        <p:nvPicPr>
          <p:cNvPr id="22" name="Picture 21">
            <a:extLst>
              <a:ext uri="{FF2B5EF4-FFF2-40B4-BE49-F238E27FC236}">
                <a16:creationId xmlns:a16="http://schemas.microsoft.com/office/drawing/2014/main" id="{6A400E62-0D1D-02EC-5218-E94A6C9F0902}"/>
              </a:ext>
            </a:extLst>
          </p:cNvPr>
          <p:cNvPicPr>
            <a:picLocks noChangeAspect="1"/>
          </p:cNvPicPr>
          <p:nvPr/>
        </p:nvPicPr>
        <p:blipFill>
          <a:blip r:embed="rId3"/>
          <a:stretch>
            <a:fillRect/>
          </a:stretch>
        </p:blipFill>
        <p:spPr>
          <a:xfrm>
            <a:off x="1965682" y="2820474"/>
            <a:ext cx="1971950" cy="933580"/>
          </a:xfrm>
          <a:prstGeom prst="rect">
            <a:avLst/>
          </a:prstGeom>
        </p:spPr>
      </p:pic>
      <p:pic>
        <p:nvPicPr>
          <p:cNvPr id="24" name="Picture 23">
            <a:extLst>
              <a:ext uri="{FF2B5EF4-FFF2-40B4-BE49-F238E27FC236}">
                <a16:creationId xmlns:a16="http://schemas.microsoft.com/office/drawing/2014/main" id="{CB46CC77-2AF9-9156-EC8D-1B39721CF616}"/>
              </a:ext>
            </a:extLst>
          </p:cNvPr>
          <p:cNvPicPr>
            <a:picLocks noChangeAspect="1"/>
          </p:cNvPicPr>
          <p:nvPr/>
        </p:nvPicPr>
        <p:blipFill>
          <a:blip r:embed="rId4"/>
          <a:stretch>
            <a:fillRect/>
          </a:stretch>
        </p:blipFill>
        <p:spPr>
          <a:xfrm>
            <a:off x="1490525" y="3943285"/>
            <a:ext cx="1400370" cy="933580"/>
          </a:xfrm>
          <a:prstGeom prst="rect">
            <a:avLst/>
          </a:prstGeom>
        </p:spPr>
      </p:pic>
      <p:pic>
        <p:nvPicPr>
          <p:cNvPr id="27" name="Picture 26">
            <a:extLst>
              <a:ext uri="{FF2B5EF4-FFF2-40B4-BE49-F238E27FC236}">
                <a16:creationId xmlns:a16="http://schemas.microsoft.com/office/drawing/2014/main" id="{F4F889EC-2153-F9A2-4AC8-A189179BE00C}"/>
              </a:ext>
            </a:extLst>
          </p:cNvPr>
          <p:cNvPicPr>
            <a:picLocks noChangeAspect="1"/>
          </p:cNvPicPr>
          <p:nvPr/>
        </p:nvPicPr>
        <p:blipFill>
          <a:blip r:embed="rId5"/>
          <a:stretch>
            <a:fillRect/>
          </a:stretch>
        </p:blipFill>
        <p:spPr>
          <a:xfrm>
            <a:off x="3313663" y="3961205"/>
            <a:ext cx="1171739" cy="990738"/>
          </a:xfrm>
          <a:prstGeom prst="rect">
            <a:avLst/>
          </a:prstGeom>
        </p:spPr>
      </p:pic>
      <p:pic>
        <p:nvPicPr>
          <p:cNvPr id="29" name="Picture 28">
            <a:extLst>
              <a:ext uri="{FF2B5EF4-FFF2-40B4-BE49-F238E27FC236}">
                <a16:creationId xmlns:a16="http://schemas.microsoft.com/office/drawing/2014/main" id="{82323688-3D28-E0A1-160A-8F423D2B38A2}"/>
              </a:ext>
            </a:extLst>
          </p:cNvPr>
          <p:cNvPicPr>
            <a:picLocks noChangeAspect="1"/>
          </p:cNvPicPr>
          <p:nvPr/>
        </p:nvPicPr>
        <p:blipFill>
          <a:blip r:embed="rId6"/>
          <a:stretch>
            <a:fillRect/>
          </a:stretch>
        </p:blipFill>
        <p:spPr>
          <a:xfrm>
            <a:off x="1376209" y="5226911"/>
            <a:ext cx="1629002" cy="933580"/>
          </a:xfrm>
          <a:prstGeom prst="rect">
            <a:avLst/>
          </a:prstGeom>
        </p:spPr>
      </p:pic>
      <p:pic>
        <p:nvPicPr>
          <p:cNvPr id="31" name="Picture 30">
            <a:extLst>
              <a:ext uri="{FF2B5EF4-FFF2-40B4-BE49-F238E27FC236}">
                <a16:creationId xmlns:a16="http://schemas.microsoft.com/office/drawing/2014/main" id="{EA8E0960-3A38-BBCF-B4FA-DB8F34A9079C}"/>
              </a:ext>
            </a:extLst>
          </p:cNvPr>
          <p:cNvPicPr>
            <a:picLocks noChangeAspect="1"/>
          </p:cNvPicPr>
          <p:nvPr/>
        </p:nvPicPr>
        <p:blipFill>
          <a:blip r:embed="rId7"/>
          <a:stretch>
            <a:fillRect/>
          </a:stretch>
        </p:blipFill>
        <p:spPr>
          <a:xfrm>
            <a:off x="3313663" y="5141174"/>
            <a:ext cx="1086002" cy="1019317"/>
          </a:xfrm>
          <a:prstGeom prst="rect">
            <a:avLst/>
          </a:prstGeom>
        </p:spPr>
      </p:pic>
      <p:sp>
        <p:nvSpPr>
          <p:cNvPr id="36" name="TextBox 35">
            <a:extLst>
              <a:ext uri="{FF2B5EF4-FFF2-40B4-BE49-F238E27FC236}">
                <a16:creationId xmlns:a16="http://schemas.microsoft.com/office/drawing/2014/main" id="{965E115C-46D0-EB8F-B7F8-B01BE733E38B}"/>
              </a:ext>
            </a:extLst>
          </p:cNvPr>
          <p:cNvSpPr txBox="1"/>
          <p:nvPr/>
        </p:nvSpPr>
        <p:spPr>
          <a:xfrm>
            <a:off x="8522243" y="2825599"/>
            <a:ext cx="1459054" cy="461665"/>
          </a:xfrm>
          <a:prstGeom prst="rect">
            <a:avLst/>
          </a:prstGeom>
          <a:noFill/>
        </p:spPr>
        <p:txBody>
          <a:bodyPr wrap="none" rtlCol="0">
            <a:spAutoFit/>
          </a:bodyPr>
          <a:lstStyle/>
          <a:p>
            <a:r>
              <a:rPr lang="en-US" sz="2400" b="1" dirty="0"/>
              <a:t>D flip-flop</a:t>
            </a:r>
          </a:p>
        </p:txBody>
      </p:sp>
      <p:pic>
        <p:nvPicPr>
          <p:cNvPr id="39" name="Picture 38">
            <a:extLst>
              <a:ext uri="{FF2B5EF4-FFF2-40B4-BE49-F238E27FC236}">
                <a16:creationId xmlns:a16="http://schemas.microsoft.com/office/drawing/2014/main" id="{CF14A246-E5D8-AFDE-4F0D-513DB1891834}"/>
              </a:ext>
            </a:extLst>
          </p:cNvPr>
          <p:cNvPicPr>
            <a:picLocks noChangeAspect="1"/>
          </p:cNvPicPr>
          <p:nvPr/>
        </p:nvPicPr>
        <p:blipFill>
          <a:blip r:embed="rId8"/>
          <a:stretch>
            <a:fillRect/>
          </a:stretch>
        </p:blipFill>
        <p:spPr>
          <a:xfrm>
            <a:off x="7847505" y="3259256"/>
            <a:ext cx="2714905" cy="1368057"/>
          </a:xfrm>
          <a:prstGeom prst="rect">
            <a:avLst/>
          </a:prstGeom>
        </p:spPr>
      </p:pic>
      <p:pic>
        <p:nvPicPr>
          <p:cNvPr id="41" name="Picture 40">
            <a:extLst>
              <a:ext uri="{FF2B5EF4-FFF2-40B4-BE49-F238E27FC236}">
                <a16:creationId xmlns:a16="http://schemas.microsoft.com/office/drawing/2014/main" id="{0B234C28-8A9F-4812-3C27-8FD32D2BBCAB}"/>
              </a:ext>
            </a:extLst>
          </p:cNvPr>
          <p:cNvPicPr>
            <a:picLocks noChangeAspect="1"/>
          </p:cNvPicPr>
          <p:nvPr/>
        </p:nvPicPr>
        <p:blipFill>
          <a:blip r:embed="rId9"/>
          <a:stretch>
            <a:fillRect/>
          </a:stretch>
        </p:blipFill>
        <p:spPr>
          <a:xfrm>
            <a:off x="8417230" y="4712528"/>
            <a:ext cx="1967536" cy="1783522"/>
          </a:xfrm>
          <a:prstGeom prst="rect">
            <a:avLst/>
          </a:prstGeom>
        </p:spPr>
      </p:pic>
    </p:spTree>
    <p:extLst>
      <p:ext uri="{BB962C8B-B14F-4D97-AF65-F5344CB8AC3E}">
        <p14:creationId xmlns:p14="http://schemas.microsoft.com/office/powerpoint/2010/main" val="393156048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4EC952-4F14-803E-D384-6D0182C024DC}"/>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C7E045CD-6B6F-C756-7D8A-71AF8A2BFA28}"/>
              </a:ext>
            </a:extLst>
          </p:cNvPr>
          <p:cNvPicPr>
            <a:picLocks noChangeAspect="1"/>
          </p:cNvPicPr>
          <p:nvPr/>
        </p:nvPicPr>
        <p:blipFill>
          <a:blip r:embed="rId3"/>
          <a:stretch>
            <a:fillRect/>
          </a:stretch>
        </p:blipFill>
        <p:spPr>
          <a:xfrm>
            <a:off x="381631" y="329184"/>
            <a:ext cx="11428737" cy="6058406"/>
          </a:xfrm>
          <a:prstGeom prst="rect">
            <a:avLst/>
          </a:prstGeom>
        </p:spPr>
      </p:pic>
    </p:spTree>
    <p:extLst>
      <p:ext uri="{BB962C8B-B14F-4D97-AF65-F5344CB8AC3E}">
        <p14:creationId xmlns:p14="http://schemas.microsoft.com/office/powerpoint/2010/main" val="61642564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1843D84-1BD0-B68A-78EB-B52E012951B0}"/>
              </a:ext>
            </a:extLst>
          </p:cNvPr>
          <p:cNvPicPr>
            <a:picLocks noChangeAspect="1"/>
          </p:cNvPicPr>
          <p:nvPr/>
        </p:nvPicPr>
        <p:blipFill>
          <a:blip r:embed="rId2"/>
          <a:stretch>
            <a:fillRect/>
          </a:stretch>
        </p:blipFill>
        <p:spPr>
          <a:xfrm>
            <a:off x="1073032" y="433239"/>
            <a:ext cx="10045936" cy="5991522"/>
          </a:xfrm>
          <a:prstGeom prst="rect">
            <a:avLst/>
          </a:prstGeom>
        </p:spPr>
      </p:pic>
    </p:spTree>
    <p:extLst>
      <p:ext uri="{BB962C8B-B14F-4D97-AF65-F5344CB8AC3E}">
        <p14:creationId xmlns:p14="http://schemas.microsoft.com/office/powerpoint/2010/main" val="2541616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67E113F-4390-0A40-0ACE-04E435DB326B}"/>
              </a:ext>
            </a:extLst>
          </p:cNvPr>
          <p:cNvPicPr>
            <a:picLocks noChangeAspect="1"/>
          </p:cNvPicPr>
          <p:nvPr/>
        </p:nvPicPr>
        <p:blipFill>
          <a:blip r:embed="rId2"/>
          <a:stretch>
            <a:fillRect/>
          </a:stretch>
        </p:blipFill>
        <p:spPr>
          <a:xfrm>
            <a:off x="1126506" y="76380"/>
            <a:ext cx="9571974" cy="6381316"/>
          </a:xfrm>
          <a:prstGeom prst="rect">
            <a:avLst/>
          </a:prstGeom>
        </p:spPr>
      </p:pic>
    </p:spTree>
    <p:extLst>
      <p:ext uri="{BB962C8B-B14F-4D97-AF65-F5344CB8AC3E}">
        <p14:creationId xmlns:p14="http://schemas.microsoft.com/office/powerpoint/2010/main" val="215960342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9E40EB-9055-2B08-9931-88EA053888AF}"/>
            </a:ext>
          </a:extLst>
        </p:cNvPr>
        <p:cNvGrpSpPr/>
        <p:nvPr/>
      </p:nvGrpSpPr>
      <p:grpSpPr>
        <a:xfrm>
          <a:off x="0" y="0"/>
          <a:ext cx="0" cy="0"/>
          <a:chOff x="0" y="0"/>
          <a:chExt cx="0" cy="0"/>
        </a:xfrm>
      </p:grpSpPr>
      <p:sp>
        <p:nvSpPr>
          <p:cNvPr id="26" name="text_59">
            <a:extLst>
              <a:ext uri="{FF2B5EF4-FFF2-40B4-BE49-F238E27FC236}">
                <a16:creationId xmlns:a16="http://schemas.microsoft.com/office/drawing/2014/main" id="{6323FC22-F09B-DFE5-4382-E347345D00B8}"/>
              </a:ext>
            </a:extLst>
          </p:cNvPr>
          <p:cNvSpPr>
            <a:spLocks noGrp="1"/>
          </p:cNvSpPr>
          <p:nvPr/>
        </p:nvSpPr>
        <p:spPr>
          <a:xfrm>
            <a:off x="514350" y="381000"/>
            <a:ext cx="11277600" cy="762000"/>
          </a:xfrm>
          <a:prstGeom prst="rect">
            <a:avLst/>
          </a:prstGeom>
          <a:noFill/>
          <a:ln w="0">
            <a:noFill/>
          </a:ln>
        </p:spPr>
        <p:txBody>
          <a:bodyPr wrap="square" lIns="0" tIns="0" rIns="0" bIns="0">
            <a:noAutofit/>
          </a:bodyPr>
          <a:lstStyle/>
          <a:p>
            <a:pPr>
              <a:defRPr sz="3225" b="1">
                <a:solidFill>
                  <a:srgbClr val="182530"/>
                </a:solidFill>
                <a:latin typeface="Arial"/>
                <a:ea typeface="Arial"/>
                <a:cs typeface="Arial"/>
              </a:defRPr>
            </a:pPr>
            <a:r>
              <a:rPr lang="en-US" sz="3225" b="1" dirty="0">
                <a:solidFill>
                  <a:srgbClr val="182530"/>
                </a:solidFill>
                <a:latin typeface="Arial"/>
                <a:ea typeface="Arial"/>
                <a:cs typeface="Arial"/>
              </a:rPr>
              <a:t>Verilog: literals</a:t>
            </a:r>
            <a:endParaRPr sz="3225" b="1" dirty="0">
              <a:solidFill>
                <a:srgbClr val="182530"/>
              </a:solidFill>
              <a:latin typeface="Arial"/>
              <a:ea typeface="Arial"/>
              <a:cs typeface="Arial"/>
            </a:endParaRPr>
          </a:p>
        </p:txBody>
      </p:sp>
      <p:sp>
        <p:nvSpPr>
          <p:cNvPr id="2" name="line_60">
            <a:extLst>
              <a:ext uri="{FF2B5EF4-FFF2-40B4-BE49-F238E27FC236}">
                <a16:creationId xmlns:a16="http://schemas.microsoft.com/office/drawing/2014/main" id="{B5803FE1-23B0-CED7-117A-AA58C7435A6D}"/>
              </a:ext>
            </a:extLst>
          </p:cNvPr>
          <p:cNvSpPr>
            <a:spLocks noGrp="1"/>
          </p:cNvSpPr>
          <p:nvPr/>
        </p:nvSpPr>
        <p:spPr>
          <a:xfrm>
            <a:off x="457200" y="1133475"/>
            <a:ext cx="11277600" cy="0"/>
          </a:xfrm>
          <a:prstGeom prst="line">
            <a:avLst/>
          </a:prstGeom>
          <a:noFill/>
          <a:ln w="9525">
            <a:solidFill>
              <a:srgbClr val="B9C4CC"/>
            </a:solidFill>
          </a:ln>
        </p:spPr>
        <p:txBody>
          <a:bodyPr/>
          <a:lstStyle/>
          <a:p>
            <a:endParaRPr lang="en-US"/>
          </a:p>
        </p:txBody>
      </p:sp>
      <p:pic>
        <p:nvPicPr>
          <p:cNvPr id="7" name="Picture 6">
            <a:extLst>
              <a:ext uri="{FF2B5EF4-FFF2-40B4-BE49-F238E27FC236}">
                <a16:creationId xmlns:a16="http://schemas.microsoft.com/office/drawing/2014/main" id="{22551F03-C4B1-2F59-D418-7A17274583F0}"/>
              </a:ext>
            </a:extLst>
          </p:cNvPr>
          <p:cNvPicPr>
            <a:picLocks noChangeAspect="1"/>
          </p:cNvPicPr>
          <p:nvPr/>
        </p:nvPicPr>
        <p:blipFill>
          <a:blip r:embed="rId3"/>
          <a:stretch>
            <a:fillRect/>
          </a:stretch>
        </p:blipFill>
        <p:spPr>
          <a:xfrm>
            <a:off x="514350" y="1613740"/>
            <a:ext cx="9858375" cy="4177460"/>
          </a:xfrm>
          <a:prstGeom prst="rect">
            <a:avLst/>
          </a:prstGeom>
        </p:spPr>
      </p:pic>
    </p:spTree>
    <p:extLst>
      <p:ext uri="{BB962C8B-B14F-4D97-AF65-F5344CB8AC3E}">
        <p14:creationId xmlns:p14="http://schemas.microsoft.com/office/powerpoint/2010/main" val="272252474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17D48E-1AE2-0D94-4874-D92085F7671F}"/>
            </a:ext>
          </a:extLst>
        </p:cNvPr>
        <p:cNvGrpSpPr/>
        <p:nvPr/>
      </p:nvGrpSpPr>
      <p:grpSpPr>
        <a:xfrm>
          <a:off x="0" y="0"/>
          <a:ext cx="0" cy="0"/>
          <a:chOff x="0" y="0"/>
          <a:chExt cx="0" cy="0"/>
        </a:xfrm>
      </p:grpSpPr>
      <p:sp>
        <p:nvSpPr>
          <p:cNvPr id="26" name="text_59">
            <a:extLst>
              <a:ext uri="{FF2B5EF4-FFF2-40B4-BE49-F238E27FC236}">
                <a16:creationId xmlns:a16="http://schemas.microsoft.com/office/drawing/2014/main" id="{C6A66DD0-822C-5D96-FF58-6DE5395A1864}"/>
              </a:ext>
            </a:extLst>
          </p:cNvPr>
          <p:cNvSpPr>
            <a:spLocks noGrp="1"/>
          </p:cNvSpPr>
          <p:nvPr/>
        </p:nvSpPr>
        <p:spPr>
          <a:xfrm>
            <a:off x="514350" y="381000"/>
            <a:ext cx="11277600" cy="762000"/>
          </a:xfrm>
          <a:prstGeom prst="rect">
            <a:avLst/>
          </a:prstGeom>
          <a:noFill/>
          <a:ln w="0">
            <a:noFill/>
          </a:ln>
        </p:spPr>
        <p:txBody>
          <a:bodyPr wrap="square" lIns="0" tIns="0" rIns="0" bIns="0">
            <a:noAutofit/>
          </a:bodyPr>
          <a:lstStyle/>
          <a:p>
            <a:pPr>
              <a:defRPr sz="3225" b="1">
                <a:solidFill>
                  <a:srgbClr val="182530"/>
                </a:solidFill>
                <a:latin typeface="Arial"/>
                <a:ea typeface="Arial"/>
                <a:cs typeface="Arial"/>
              </a:defRPr>
            </a:pPr>
            <a:r>
              <a:rPr lang="en-US" sz="3225" b="1" dirty="0">
                <a:solidFill>
                  <a:srgbClr val="182530"/>
                </a:solidFill>
                <a:latin typeface="Arial"/>
                <a:ea typeface="Arial"/>
                <a:cs typeface="Arial"/>
              </a:rPr>
              <a:t>Verilog: wire (</a:t>
            </a:r>
            <a:r>
              <a:rPr lang="ru-RU" sz="3225" b="1" dirty="0">
                <a:solidFill>
                  <a:srgbClr val="182530"/>
                </a:solidFill>
                <a:latin typeface="Arial"/>
                <a:ea typeface="Arial"/>
                <a:cs typeface="Arial"/>
              </a:rPr>
              <a:t>комбинационная логика)</a:t>
            </a:r>
            <a:endParaRPr sz="3225" b="1" dirty="0">
              <a:solidFill>
                <a:srgbClr val="182530"/>
              </a:solidFill>
              <a:latin typeface="Arial"/>
              <a:ea typeface="Arial"/>
              <a:cs typeface="Arial"/>
            </a:endParaRPr>
          </a:p>
        </p:txBody>
      </p:sp>
      <p:sp>
        <p:nvSpPr>
          <p:cNvPr id="2" name="line_60">
            <a:extLst>
              <a:ext uri="{FF2B5EF4-FFF2-40B4-BE49-F238E27FC236}">
                <a16:creationId xmlns:a16="http://schemas.microsoft.com/office/drawing/2014/main" id="{09D2A66B-1E1A-6588-49F8-E03377169275}"/>
              </a:ext>
            </a:extLst>
          </p:cNvPr>
          <p:cNvSpPr>
            <a:spLocks noGrp="1"/>
          </p:cNvSpPr>
          <p:nvPr/>
        </p:nvSpPr>
        <p:spPr>
          <a:xfrm>
            <a:off x="457200" y="1133475"/>
            <a:ext cx="11277600" cy="0"/>
          </a:xfrm>
          <a:prstGeom prst="line">
            <a:avLst/>
          </a:prstGeom>
          <a:noFill/>
          <a:ln w="9525">
            <a:solidFill>
              <a:srgbClr val="B9C4CC"/>
            </a:solidFill>
          </a:ln>
        </p:spPr>
        <p:txBody>
          <a:bodyPr/>
          <a:lstStyle/>
          <a:p>
            <a:endParaRPr lang="en-US"/>
          </a:p>
        </p:txBody>
      </p:sp>
      <p:pic>
        <p:nvPicPr>
          <p:cNvPr id="6" name="Picture 5">
            <a:extLst>
              <a:ext uri="{FF2B5EF4-FFF2-40B4-BE49-F238E27FC236}">
                <a16:creationId xmlns:a16="http://schemas.microsoft.com/office/drawing/2014/main" id="{4DB6B7F4-3E2A-BB34-5FD3-3D3FB140FB9E}"/>
              </a:ext>
            </a:extLst>
          </p:cNvPr>
          <p:cNvPicPr>
            <a:picLocks noChangeAspect="1"/>
          </p:cNvPicPr>
          <p:nvPr/>
        </p:nvPicPr>
        <p:blipFill>
          <a:blip r:embed="rId3"/>
          <a:stretch>
            <a:fillRect/>
          </a:stretch>
        </p:blipFill>
        <p:spPr>
          <a:xfrm>
            <a:off x="457200" y="1305985"/>
            <a:ext cx="10232136" cy="4833801"/>
          </a:xfrm>
          <a:prstGeom prst="rect">
            <a:avLst/>
          </a:prstGeom>
        </p:spPr>
      </p:pic>
      <p:sp>
        <p:nvSpPr>
          <p:cNvPr id="10" name="TextBox 9">
            <a:extLst>
              <a:ext uri="{FF2B5EF4-FFF2-40B4-BE49-F238E27FC236}">
                <a16:creationId xmlns:a16="http://schemas.microsoft.com/office/drawing/2014/main" id="{08AB0420-75B5-FD5C-D1F7-F5862A3E9F3D}"/>
              </a:ext>
            </a:extLst>
          </p:cNvPr>
          <p:cNvSpPr txBox="1"/>
          <p:nvPr/>
        </p:nvSpPr>
        <p:spPr>
          <a:xfrm>
            <a:off x="82296" y="5029200"/>
            <a:ext cx="3118161" cy="369332"/>
          </a:xfrm>
          <a:prstGeom prst="rect">
            <a:avLst/>
          </a:prstGeom>
          <a:noFill/>
        </p:spPr>
        <p:txBody>
          <a:bodyPr wrap="none" rtlCol="0">
            <a:spAutoFit/>
          </a:bodyPr>
          <a:lstStyle/>
          <a:p>
            <a:r>
              <a:rPr lang="ru-RU" dirty="0"/>
              <a:t>(непрерывное присваивание)</a:t>
            </a:r>
            <a:endParaRPr lang="en-US" dirty="0"/>
          </a:p>
        </p:txBody>
      </p:sp>
    </p:spTree>
    <p:extLst>
      <p:ext uri="{BB962C8B-B14F-4D97-AF65-F5344CB8AC3E}">
        <p14:creationId xmlns:p14="http://schemas.microsoft.com/office/powerpoint/2010/main" val="275707687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F3E5DE-15E9-32D5-484C-A12AB8A136DB}"/>
            </a:ext>
          </a:extLst>
        </p:cNvPr>
        <p:cNvGrpSpPr/>
        <p:nvPr/>
      </p:nvGrpSpPr>
      <p:grpSpPr>
        <a:xfrm>
          <a:off x="0" y="0"/>
          <a:ext cx="0" cy="0"/>
          <a:chOff x="0" y="0"/>
          <a:chExt cx="0" cy="0"/>
        </a:xfrm>
      </p:grpSpPr>
      <p:sp>
        <p:nvSpPr>
          <p:cNvPr id="26" name="text_59">
            <a:extLst>
              <a:ext uri="{FF2B5EF4-FFF2-40B4-BE49-F238E27FC236}">
                <a16:creationId xmlns:a16="http://schemas.microsoft.com/office/drawing/2014/main" id="{07A25876-4C6C-1871-3FE9-B507009DAB89}"/>
              </a:ext>
            </a:extLst>
          </p:cNvPr>
          <p:cNvSpPr>
            <a:spLocks noGrp="1"/>
          </p:cNvSpPr>
          <p:nvPr/>
        </p:nvSpPr>
        <p:spPr>
          <a:xfrm>
            <a:off x="514350" y="381000"/>
            <a:ext cx="11277600" cy="762000"/>
          </a:xfrm>
          <a:prstGeom prst="rect">
            <a:avLst/>
          </a:prstGeom>
          <a:noFill/>
          <a:ln w="0">
            <a:noFill/>
          </a:ln>
        </p:spPr>
        <p:txBody>
          <a:bodyPr wrap="square" lIns="0" tIns="0" rIns="0" bIns="0">
            <a:noAutofit/>
          </a:bodyPr>
          <a:lstStyle/>
          <a:p>
            <a:pPr>
              <a:defRPr sz="3225" b="1">
                <a:solidFill>
                  <a:srgbClr val="182530"/>
                </a:solidFill>
                <a:latin typeface="Arial"/>
                <a:ea typeface="Arial"/>
                <a:cs typeface="Arial"/>
              </a:defRPr>
            </a:pPr>
            <a:r>
              <a:rPr lang="en-US" sz="3225" b="1" dirty="0">
                <a:solidFill>
                  <a:srgbClr val="182530"/>
                </a:solidFill>
                <a:latin typeface="Arial"/>
                <a:ea typeface="Arial"/>
                <a:cs typeface="Arial"/>
              </a:rPr>
              <a:t>Verilog: reg (</a:t>
            </a:r>
            <a:r>
              <a:rPr lang="ru-RU" sz="3225" b="1" dirty="0">
                <a:solidFill>
                  <a:srgbClr val="182530"/>
                </a:solidFill>
                <a:latin typeface="Arial"/>
                <a:ea typeface="Arial"/>
                <a:cs typeface="Arial"/>
              </a:rPr>
              <a:t>последовательная логика)</a:t>
            </a:r>
            <a:endParaRPr sz="3225" b="1" dirty="0">
              <a:solidFill>
                <a:srgbClr val="182530"/>
              </a:solidFill>
              <a:latin typeface="Arial"/>
              <a:ea typeface="Arial"/>
              <a:cs typeface="Arial"/>
            </a:endParaRPr>
          </a:p>
        </p:txBody>
      </p:sp>
      <p:sp>
        <p:nvSpPr>
          <p:cNvPr id="2" name="line_60">
            <a:extLst>
              <a:ext uri="{FF2B5EF4-FFF2-40B4-BE49-F238E27FC236}">
                <a16:creationId xmlns:a16="http://schemas.microsoft.com/office/drawing/2014/main" id="{E0B2D1E2-6CF4-49F8-0709-53E7F54AD9D2}"/>
              </a:ext>
            </a:extLst>
          </p:cNvPr>
          <p:cNvSpPr>
            <a:spLocks noGrp="1"/>
          </p:cNvSpPr>
          <p:nvPr/>
        </p:nvSpPr>
        <p:spPr>
          <a:xfrm>
            <a:off x="457200" y="1133475"/>
            <a:ext cx="11277600" cy="0"/>
          </a:xfrm>
          <a:prstGeom prst="line">
            <a:avLst/>
          </a:prstGeom>
          <a:noFill/>
          <a:ln w="9525">
            <a:solidFill>
              <a:srgbClr val="B9C4CC"/>
            </a:solidFill>
          </a:ln>
        </p:spPr>
        <p:txBody>
          <a:bodyPr/>
          <a:lstStyle/>
          <a:p>
            <a:endParaRPr lang="en-US"/>
          </a:p>
        </p:txBody>
      </p:sp>
      <p:sp>
        <p:nvSpPr>
          <p:cNvPr id="5" name="TextBox 4">
            <a:extLst>
              <a:ext uri="{FF2B5EF4-FFF2-40B4-BE49-F238E27FC236}">
                <a16:creationId xmlns:a16="http://schemas.microsoft.com/office/drawing/2014/main" id="{4D11C181-FA64-A906-925F-4F103BB3000D}"/>
              </a:ext>
            </a:extLst>
          </p:cNvPr>
          <p:cNvSpPr txBox="1"/>
          <p:nvPr/>
        </p:nvSpPr>
        <p:spPr>
          <a:xfrm>
            <a:off x="457200" y="1304214"/>
            <a:ext cx="9355766" cy="461665"/>
          </a:xfrm>
          <a:prstGeom prst="rect">
            <a:avLst/>
          </a:prstGeom>
          <a:noFill/>
        </p:spPr>
        <p:txBody>
          <a:bodyPr wrap="none" rtlCol="0">
            <a:spAutoFit/>
          </a:bodyPr>
          <a:lstStyle/>
          <a:p>
            <a:r>
              <a:rPr lang="ru-RU" sz="2400" dirty="0"/>
              <a:t>Переменные </a:t>
            </a:r>
            <a:r>
              <a:rPr lang="en-US" sz="2400" dirty="0">
                <a:solidFill>
                  <a:srgbClr val="0070C0"/>
                </a:solidFill>
              </a:rPr>
              <a:t>reg</a:t>
            </a:r>
            <a:r>
              <a:rPr lang="en-US" sz="2400" dirty="0"/>
              <a:t> </a:t>
            </a:r>
            <a:r>
              <a:rPr lang="ru-RU" sz="2400" dirty="0"/>
              <a:t>в большинстве случаев представляют собой регистр.</a:t>
            </a:r>
            <a:endParaRPr lang="en-US" sz="2400" dirty="0"/>
          </a:p>
        </p:txBody>
      </p:sp>
      <p:sp>
        <p:nvSpPr>
          <p:cNvPr id="15" name="TextBox 14">
            <a:extLst>
              <a:ext uri="{FF2B5EF4-FFF2-40B4-BE49-F238E27FC236}">
                <a16:creationId xmlns:a16="http://schemas.microsoft.com/office/drawing/2014/main" id="{66FC2E92-8563-4E8F-FF4F-563D9E523460}"/>
              </a:ext>
            </a:extLst>
          </p:cNvPr>
          <p:cNvSpPr txBox="1"/>
          <p:nvPr/>
        </p:nvSpPr>
        <p:spPr>
          <a:xfrm>
            <a:off x="959792" y="1995091"/>
            <a:ext cx="3408625" cy="461665"/>
          </a:xfrm>
          <a:prstGeom prst="rect">
            <a:avLst/>
          </a:prstGeom>
          <a:noFill/>
        </p:spPr>
        <p:txBody>
          <a:bodyPr wrap="none" rtlCol="0">
            <a:spAutoFit/>
          </a:bodyPr>
          <a:lstStyle/>
          <a:p>
            <a:r>
              <a:rPr lang="en-US" sz="2400" b="1" dirty="0"/>
              <a:t>Non-blocking assignment</a:t>
            </a:r>
          </a:p>
        </p:txBody>
      </p:sp>
      <p:sp>
        <p:nvSpPr>
          <p:cNvPr id="17" name="TextBox 16">
            <a:extLst>
              <a:ext uri="{FF2B5EF4-FFF2-40B4-BE49-F238E27FC236}">
                <a16:creationId xmlns:a16="http://schemas.microsoft.com/office/drawing/2014/main" id="{C10D3049-8BCC-7C3B-70CF-8F98C85D3193}"/>
              </a:ext>
            </a:extLst>
          </p:cNvPr>
          <p:cNvSpPr txBox="1"/>
          <p:nvPr/>
        </p:nvSpPr>
        <p:spPr>
          <a:xfrm>
            <a:off x="6759846" y="1995091"/>
            <a:ext cx="2789866" cy="461665"/>
          </a:xfrm>
          <a:prstGeom prst="rect">
            <a:avLst/>
          </a:prstGeom>
          <a:noFill/>
        </p:spPr>
        <p:txBody>
          <a:bodyPr wrap="none" rtlCol="0">
            <a:spAutoFit/>
          </a:bodyPr>
          <a:lstStyle/>
          <a:p>
            <a:r>
              <a:rPr lang="en-US" sz="2400" b="1" dirty="0"/>
              <a:t>Blocking assignment</a:t>
            </a:r>
          </a:p>
        </p:txBody>
      </p:sp>
      <p:pic>
        <p:nvPicPr>
          <p:cNvPr id="19" name="Picture 18">
            <a:extLst>
              <a:ext uri="{FF2B5EF4-FFF2-40B4-BE49-F238E27FC236}">
                <a16:creationId xmlns:a16="http://schemas.microsoft.com/office/drawing/2014/main" id="{F4CCC215-D39A-405A-62F0-3038CBA7DE7E}"/>
              </a:ext>
            </a:extLst>
          </p:cNvPr>
          <p:cNvPicPr>
            <a:picLocks noChangeAspect="1"/>
          </p:cNvPicPr>
          <p:nvPr/>
        </p:nvPicPr>
        <p:blipFill>
          <a:blip r:embed="rId3"/>
          <a:stretch>
            <a:fillRect/>
          </a:stretch>
        </p:blipFill>
        <p:spPr>
          <a:xfrm>
            <a:off x="230270" y="5903232"/>
            <a:ext cx="5727135" cy="661493"/>
          </a:xfrm>
          <a:prstGeom prst="rect">
            <a:avLst/>
          </a:prstGeom>
        </p:spPr>
      </p:pic>
      <p:pic>
        <p:nvPicPr>
          <p:cNvPr id="21" name="Picture 20">
            <a:extLst>
              <a:ext uri="{FF2B5EF4-FFF2-40B4-BE49-F238E27FC236}">
                <a16:creationId xmlns:a16="http://schemas.microsoft.com/office/drawing/2014/main" id="{8E089DA6-A0E2-02BC-FAA9-E689E3A02CAC}"/>
              </a:ext>
            </a:extLst>
          </p:cNvPr>
          <p:cNvPicPr>
            <a:picLocks noChangeAspect="1"/>
          </p:cNvPicPr>
          <p:nvPr/>
        </p:nvPicPr>
        <p:blipFill>
          <a:blip r:embed="rId4"/>
          <a:stretch>
            <a:fillRect/>
          </a:stretch>
        </p:blipFill>
        <p:spPr>
          <a:xfrm>
            <a:off x="6127186" y="5903232"/>
            <a:ext cx="5695950" cy="720571"/>
          </a:xfrm>
          <a:prstGeom prst="rect">
            <a:avLst/>
          </a:prstGeom>
        </p:spPr>
      </p:pic>
      <p:sp>
        <p:nvSpPr>
          <p:cNvPr id="28" name="TextBox 27">
            <a:extLst>
              <a:ext uri="{FF2B5EF4-FFF2-40B4-BE49-F238E27FC236}">
                <a16:creationId xmlns:a16="http://schemas.microsoft.com/office/drawing/2014/main" id="{DD586FAC-2C72-CE3A-E451-A939104A61A9}"/>
              </a:ext>
            </a:extLst>
          </p:cNvPr>
          <p:cNvSpPr txBox="1"/>
          <p:nvPr/>
        </p:nvSpPr>
        <p:spPr>
          <a:xfrm>
            <a:off x="959792" y="2475245"/>
            <a:ext cx="3310873" cy="1294970"/>
          </a:xfrm>
          <a:prstGeom prst="rect">
            <a:avLst/>
          </a:prstGeom>
          <a:noFill/>
        </p:spPr>
        <p:txBody>
          <a:bodyPr wrap="square">
            <a:spAutoFit/>
          </a:bodyPr>
          <a:lstStyle/>
          <a:p>
            <a:pPr>
              <a:lnSpc>
                <a:spcPct val="113095"/>
              </a:lnSpc>
              <a:buNone/>
            </a:pPr>
            <a:r>
              <a:rPr lang="en-US" sz="1400" b="0" dirty="0">
                <a:solidFill>
                  <a:srgbClr val="CF222E"/>
                </a:solidFill>
                <a:effectLst/>
                <a:latin typeface="Consolas" panose="020B0609020204030204" pitchFamily="49" charset="0"/>
              </a:rPr>
              <a:t>reg</a:t>
            </a:r>
            <a:r>
              <a:rPr lang="en-US" sz="1400" b="0" dirty="0">
                <a:solidFill>
                  <a:srgbClr val="1F2328"/>
                </a:solidFill>
                <a:effectLst/>
                <a:latin typeface="Consolas" panose="020B0609020204030204" pitchFamily="49" charset="0"/>
              </a:rPr>
              <a:t> b</a:t>
            </a:r>
            <a:r>
              <a:rPr lang="en-US" sz="1400" b="0" dirty="0">
                <a:solidFill>
                  <a:srgbClr val="000000"/>
                </a:solidFill>
                <a:effectLst/>
                <a:latin typeface="Consolas" panose="020B0609020204030204" pitchFamily="49" charset="0"/>
              </a:rPr>
              <a:t>=</a:t>
            </a:r>
            <a:r>
              <a:rPr lang="en-US" sz="1400" b="0" dirty="0">
                <a:solidFill>
                  <a:srgbClr val="098658"/>
                </a:solidFill>
                <a:effectLst/>
                <a:latin typeface="Consolas" panose="020B0609020204030204" pitchFamily="49" charset="0"/>
              </a:rPr>
              <a:t>1'b0</a:t>
            </a:r>
            <a:r>
              <a:rPr lang="en-US" sz="1400" b="0" dirty="0">
                <a:solidFill>
                  <a:srgbClr val="1F2328"/>
                </a:solidFill>
                <a:effectLst/>
                <a:latin typeface="Consolas" panose="020B0609020204030204" pitchFamily="49" charset="0"/>
              </a:rPr>
              <a:t>, c</a:t>
            </a:r>
            <a:r>
              <a:rPr lang="en-US" sz="1400" b="0" dirty="0">
                <a:solidFill>
                  <a:srgbClr val="000000"/>
                </a:solidFill>
                <a:effectLst/>
                <a:latin typeface="Consolas" panose="020B0609020204030204" pitchFamily="49" charset="0"/>
              </a:rPr>
              <a:t>=</a:t>
            </a:r>
            <a:r>
              <a:rPr lang="en-US" sz="1400" b="0" dirty="0">
                <a:solidFill>
                  <a:srgbClr val="098658"/>
                </a:solidFill>
                <a:effectLst/>
                <a:latin typeface="Consolas" panose="020B0609020204030204" pitchFamily="49" charset="0"/>
              </a:rPr>
              <a:t>1'b0</a:t>
            </a:r>
            <a:r>
              <a:rPr lang="en-US" sz="1400" b="0" dirty="0">
                <a:solidFill>
                  <a:srgbClr val="1F2328"/>
                </a:solidFill>
                <a:effectLst/>
                <a:latin typeface="Consolas" panose="020B0609020204030204" pitchFamily="49" charset="0"/>
              </a:rPr>
              <a:t>;</a:t>
            </a:r>
            <a:endParaRPr lang="en-US" sz="1400" b="0" dirty="0">
              <a:solidFill>
                <a:srgbClr val="202020"/>
              </a:solidFill>
              <a:effectLst/>
              <a:latin typeface="Consolas" panose="020B0609020204030204" pitchFamily="49" charset="0"/>
            </a:endParaRPr>
          </a:p>
          <a:p>
            <a:pPr>
              <a:lnSpc>
                <a:spcPct val="113095"/>
              </a:lnSpc>
              <a:buNone/>
            </a:pPr>
            <a:r>
              <a:rPr lang="en-US" sz="1400" b="0" dirty="0">
                <a:solidFill>
                  <a:srgbClr val="CF222E"/>
                </a:solidFill>
                <a:effectLst/>
                <a:latin typeface="Consolas" panose="020B0609020204030204" pitchFamily="49" charset="0"/>
              </a:rPr>
              <a:t>always</a:t>
            </a:r>
            <a:r>
              <a:rPr lang="en-US" sz="1400" b="0" dirty="0">
                <a:solidFill>
                  <a:srgbClr val="1F2328"/>
                </a:solidFill>
                <a:effectLst/>
                <a:latin typeface="Consolas" panose="020B0609020204030204" pitchFamily="49" charset="0"/>
              </a:rPr>
              <a:t> @(</a:t>
            </a:r>
            <a:r>
              <a:rPr lang="en-US" sz="1400" b="0" dirty="0">
                <a:solidFill>
                  <a:srgbClr val="CF222E"/>
                </a:solidFill>
                <a:effectLst/>
                <a:latin typeface="Consolas" panose="020B0609020204030204" pitchFamily="49" charset="0"/>
              </a:rPr>
              <a:t>posedge</a:t>
            </a:r>
            <a:r>
              <a:rPr lang="en-US" sz="1400" b="0" dirty="0">
                <a:solidFill>
                  <a:srgbClr val="1F2328"/>
                </a:solidFill>
                <a:effectLst/>
                <a:latin typeface="Consolas" panose="020B0609020204030204" pitchFamily="49" charset="0"/>
              </a:rPr>
              <a:t> clk) </a:t>
            </a:r>
            <a:r>
              <a:rPr lang="en-US" sz="1400" b="0" dirty="0">
                <a:solidFill>
                  <a:srgbClr val="CF222E"/>
                </a:solidFill>
                <a:effectLst/>
                <a:latin typeface="Consolas" panose="020B0609020204030204" pitchFamily="49" charset="0"/>
              </a:rPr>
              <a:t>begin</a:t>
            </a:r>
            <a:endParaRPr lang="en-US" sz="1400" b="0" dirty="0">
              <a:solidFill>
                <a:srgbClr val="202020"/>
              </a:solidFill>
              <a:effectLst/>
              <a:latin typeface="Consolas" panose="020B0609020204030204" pitchFamily="49" charset="0"/>
            </a:endParaRPr>
          </a:p>
          <a:p>
            <a:pPr>
              <a:lnSpc>
                <a:spcPct val="113095"/>
              </a:lnSpc>
              <a:buNone/>
            </a:pPr>
            <a:r>
              <a:rPr lang="en-US" sz="1400" b="0" dirty="0">
                <a:solidFill>
                  <a:srgbClr val="1F2328"/>
                </a:solidFill>
                <a:effectLst/>
                <a:latin typeface="Consolas" panose="020B0609020204030204" pitchFamily="49" charset="0"/>
              </a:rPr>
              <a:t>    b </a:t>
            </a:r>
            <a:r>
              <a:rPr lang="en-US" sz="1400" b="0" dirty="0">
                <a:solidFill>
                  <a:srgbClr val="000000"/>
                </a:solidFill>
                <a:effectLst/>
                <a:latin typeface="Consolas" panose="020B0609020204030204" pitchFamily="49" charset="0"/>
              </a:rPr>
              <a:t>&lt;=</a:t>
            </a:r>
            <a:r>
              <a:rPr lang="en-US" sz="1400" b="0" dirty="0">
                <a:solidFill>
                  <a:srgbClr val="1F2328"/>
                </a:solidFill>
                <a:effectLst/>
                <a:latin typeface="Consolas" panose="020B0609020204030204" pitchFamily="49" charset="0"/>
              </a:rPr>
              <a:t> </a:t>
            </a:r>
            <a:r>
              <a:rPr lang="en-US" sz="1400" b="0" dirty="0">
                <a:solidFill>
                  <a:srgbClr val="000000"/>
                </a:solidFill>
                <a:effectLst/>
                <a:latin typeface="Consolas" panose="020B0609020204030204" pitchFamily="49" charset="0"/>
              </a:rPr>
              <a:t>~</a:t>
            </a:r>
            <a:r>
              <a:rPr lang="en-US" sz="1400" b="0" dirty="0">
                <a:solidFill>
                  <a:srgbClr val="1F2328"/>
                </a:solidFill>
                <a:effectLst/>
                <a:latin typeface="Consolas" panose="020B0609020204030204" pitchFamily="49" charset="0"/>
              </a:rPr>
              <a:t>a;</a:t>
            </a:r>
            <a:endParaRPr lang="en-US" sz="1400" b="0" dirty="0">
              <a:solidFill>
                <a:srgbClr val="202020"/>
              </a:solidFill>
              <a:effectLst/>
              <a:latin typeface="Consolas" panose="020B0609020204030204" pitchFamily="49" charset="0"/>
            </a:endParaRPr>
          </a:p>
          <a:p>
            <a:pPr>
              <a:lnSpc>
                <a:spcPct val="113095"/>
              </a:lnSpc>
              <a:buNone/>
            </a:pPr>
            <a:r>
              <a:rPr lang="en-US" sz="1400" b="0" dirty="0">
                <a:solidFill>
                  <a:srgbClr val="1F2328"/>
                </a:solidFill>
                <a:effectLst/>
                <a:latin typeface="Consolas" panose="020B0609020204030204" pitchFamily="49" charset="0"/>
              </a:rPr>
              <a:t>    c </a:t>
            </a:r>
            <a:r>
              <a:rPr lang="en-US" sz="1400" b="0" dirty="0">
                <a:solidFill>
                  <a:srgbClr val="000000"/>
                </a:solidFill>
                <a:effectLst/>
                <a:latin typeface="Consolas" panose="020B0609020204030204" pitchFamily="49" charset="0"/>
              </a:rPr>
              <a:t>&lt;=</a:t>
            </a:r>
            <a:r>
              <a:rPr lang="en-US" sz="1400" b="0" dirty="0">
                <a:solidFill>
                  <a:srgbClr val="1F2328"/>
                </a:solidFill>
                <a:effectLst/>
                <a:latin typeface="Consolas" panose="020B0609020204030204" pitchFamily="49" charset="0"/>
              </a:rPr>
              <a:t> </a:t>
            </a:r>
            <a:r>
              <a:rPr lang="en-US" sz="1400" b="0" dirty="0">
                <a:solidFill>
                  <a:srgbClr val="000000"/>
                </a:solidFill>
                <a:effectLst/>
                <a:latin typeface="Consolas" panose="020B0609020204030204" pitchFamily="49" charset="0"/>
              </a:rPr>
              <a:t>~</a:t>
            </a:r>
            <a:r>
              <a:rPr lang="en-US" sz="1400" b="0" dirty="0">
                <a:solidFill>
                  <a:srgbClr val="1F2328"/>
                </a:solidFill>
                <a:effectLst/>
                <a:latin typeface="Consolas" panose="020B0609020204030204" pitchFamily="49" charset="0"/>
              </a:rPr>
              <a:t>b;</a:t>
            </a:r>
            <a:endParaRPr lang="en-US" sz="1400" b="0" dirty="0">
              <a:solidFill>
                <a:srgbClr val="202020"/>
              </a:solidFill>
              <a:effectLst/>
              <a:latin typeface="Consolas" panose="020B0609020204030204" pitchFamily="49" charset="0"/>
            </a:endParaRPr>
          </a:p>
          <a:p>
            <a:pPr>
              <a:lnSpc>
                <a:spcPct val="113095"/>
              </a:lnSpc>
              <a:buNone/>
            </a:pPr>
            <a:r>
              <a:rPr lang="en-US" sz="1400" b="0" dirty="0">
                <a:solidFill>
                  <a:srgbClr val="CF222E"/>
                </a:solidFill>
                <a:effectLst/>
                <a:latin typeface="Consolas" panose="020B0609020204030204" pitchFamily="49" charset="0"/>
              </a:rPr>
              <a:t>end</a:t>
            </a:r>
            <a:endParaRPr lang="en-US" sz="1400" b="0" dirty="0">
              <a:solidFill>
                <a:srgbClr val="202020"/>
              </a:solidFill>
              <a:effectLst/>
              <a:latin typeface="Consolas" panose="020B0609020204030204" pitchFamily="49" charset="0"/>
            </a:endParaRPr>
          </a:p>
        </p:txBody>
      </p:sp>
      <p:sp>
        <p:nvSpPr>
          <p:cNvPr id="34" name="TextBox 33">
            <a:extLst>
              <a:ext uri="{FF2B5EF4-FFF2-40B4-BE49-F238E27FC236}">
                <a16:creationId xmlns:a16="http://schemas.microsoft.com/office/drawing/2014/main" id="{0E805492-4F14-F726-45B5-58D6D2A155C7}"/>
              </a:ext>
            </a:extLst>
          </p:cNvPr>
          <p:cNvSpPr txBox="1"/>
          <p:nvPr/>
        </p:nvSpPr>
        <p:spPr>
          <a:xfrm>
            <a:off x="6765728" y="2475245"/>
            <a:ext cx="6094476" cy="1294970"/>
          </a:xfrm>
          <a:prstGeom prst="rect">
            <a:avLst/>
          </a:prstGeom>
          <a:noFill/>
        </p:spPr>
        <p:txBody>
          <a:bodyPr wrap="square">
            <a:spAutoFit/>
          </a:bodyPr>
          <a:lstStyle/>
          <a:p>
            <a:pPr>
              <a:lnSpc>
                <a:spcPct val="113095"/>
              </a:lnSpc>
              <a:buNone/>
            </a:pPr>
            <a:r>
              <a:rPr lang="en-US" sz="1400" b="0" dirty="0">
                <a:solidFill>
                  <a:srgbClr val="CF222E"/>
                </a:solidFill>
                <a:effectLst/>
                <a:latin typeface="Consolas" panose="020B0609020204030204" pitchFamily="49" charset="0"/>
              </a:rPr>
              <a:t>reg</a:t>
            </a:r>
            <a:r>
              <a:rPr lang="en-US" sz="1400" b="0" dirty="0">
                <a:solidFill>
                  <a:srgbClr val="1F2328"/>
                </a:solidFill>
                <a:effectLst/>
                <a:latin typeface="Consolas" panose="020B0609020204030204" pitchFamily="49" charset="0"/>
              </a:rPr>
              <a:t> b</a:t>
            </a:r>
            <a:r>
              <a:rPr lang="en-US" sz="1400" b="0" dirty="0">
                <a:solidFill>
                  <a:srgbClr val="000000"/>
                </a:solidFill>
                <a:effectLst/>
                <a:latin typeface="Consolas" panose="020B0609020204030204" pitchFamily="49" charset="0"/>
              </a:rPr>
              <a:t>=</a:t>
            </a:r>
            <a:r>
              <a:rPr lang="en-US" sz="1400" b="0" dirty="0">
                <a:solidFill>
                  <a:srgbClr val="098658"/>
                </a:solidFill>
                <a:effectLst/>
                <a:latin typeface="Consolas" panose="020B0609020204030204" pitchFamily="49" charset="0"/>
              </a:rPr>
              <a:t>1'b0</a:t>
            </a:r>
            <a:r>
              <a:rPr lang="en-US" sz="1400" b="0" dirty="0">
                <a:solidFill>
                  <a:srgbClr val="1F2328"/>
                </a:solidFill>
                <a:effectLst/>
                <a:latin typeface="Consolas" panose="020B0609020204030204" pitchFamily="49" charset="0"/>
              </a:rPr>
              <a:t>, c</a:t>
            </a:r>
            <a:r>
              <a:rPr lang="en-US" sz="1400" b="0" dirty="0">
                <a:solidFill>
                  <a:srgbClr val="000000"/>
                </a:solidFill>
                <a:effectLst/>
                <a:latin typeface="Consolas" panose="020B0609020204030204" pitchFamily="49" charset="0"/>
              </a:rPr>
              <a:t>=</a:t>
            </a:r>
            <a:r>
              <a:rPr lang="en-US" sz="1400" b="0" dirty="0">
                <a:solidFill>
                  <a:srgbClr val="098658"/>
                </a:solidFill>
                <a:effectLst/>
                <a:latin typeface="Consolas" panose="020B0609020204030204" pitchFamily="49" charset="0"/>
              </a:rPr>
              <a:t>1'b0</a:t>
            </a:r>
            <a:r>
              <a:rPr lang="en-US" sz="1400" b="0" dirty="0">
                <a:solidFill>
                  <a:srgbClr val="1F2328"/>
                </a:solidFill>
                <a:effectLst/>
                <a:latin typeface="Consolas" panose="020B0609020204030204" pitchFamily="49" charset="0"/>
              </a:rPr>
              <a:t>;</a:t>
            </a:r>
            <a:endParaRPr lang="en-US" sz="1400" b="0" dirty="0">
              <a:solidFill>
                <a:srgbClr val="202020"/>
              </a:solidFill>
              <a:effectLst/>
              <a:latin typeface="Consolas" panose="020B0609020204030204" pitchFamily="49" charset="0"/>
            </a:endParaRPr>
          </a:p>
          <a:p>
            <a:pPr>
              <a:lnSpc>
                <a:spcPct val="113095"/>
              </a:lnSpc>
              <a:buNone/>
            </a:pPr>
            <a:r>
              <a:rPr lang="en-US" sz="1400" b="0" dirty="0">
                <a:solidFill>
                  <a:srgbClr val="CF222E"/>
                </a:solidFill>
                <a:effectLst/>
                <a:latin typeface="Consolas" panose="020B0609020204030204" pitchFamily="49" charset="0"/>
              </a:rPr>
              <a:t>always</a:t>
            </a:r>
            <a:r>
              <a:rPr lang="en-US" sz="1400" b="0" dirty="0">
                <a:solidFill>
                  <a:srgbClr val="1F2328"/>
                </a:solidFill>
                <a:effectLst/>
                <a:latin typeface="Consolas" panose="020B0609020204030204" pitchFamily="49" charset="0"/>
              </a:rPr>
              <a:t> @(</a:t>
            </a:r>
            <a:r>
              <a:rPr lang="en-US" sz="1400" b="0" dirty="0">
                <a:solidFill>
                  <a:srgbClr val="CF222E"/>
                </a:solidFill>
                <a:effectLst/>
                <a:latin typeface="Consolas" panose="020B0609020204030204" pitchFamily="49" charset="0"/>
              </a:rPr>
              <a:t>posedge</a:t>
            </a:r>
            <a:r>
              <a:rPr lang="en-US" sz="1400" b="0" dirty="0">
                <a:solidFill>
                  <a:srgbClr val="1F2328"/>
                </a:solidFill>
                <a:effectLst/>
                <a:latin typeface="Consolas" panose="020B0609020204030204" pitchFamily="49" charset="0"/>
              </a:rPr>
              <a:t> clk) </a:t>
            </a:r>
            <a:r>
              <a:rPr lang="en-US" sz="1400" b="0" dirty="0">
                <a:solidFill>
                  <a:srgbClr val="CF222E"/>
                </a:solidFill>
                <a:effectLst/>
                <a:latin typeface="Consolas" panose="020B0609020204030204" pitchFamily="49" charset="0"/>
              </a:rPr>
              <a:t>begin</a:t>
            </a:r>
            <a:endParaRPr lang="en-US" sz="1400" b="0" dirty="0">
              <a:solidFill>
                <a:srgbClr val="202020"/>
              </a:solidFill>
              <a:effectLst/>
              <a:latin typeface="Consolas" panose="020B0609020204030204" pitchFamily="49" charset="0"/>
            </a:endParaRPr>
          </a:p>
          <a:p>
            <a:pPr>
              <a:lnSpc>
                <a:spcPct val="113095"/>
              </a:lnSpc>
              <a:buNone/>
            </a:pPr>
            <a:r>
              <a:rPr lang="en-US" sz="1400" b="0" dirty="0">
                <a:solidFill>
                  <a:srgbClr val="1F2328"/>
                </a:solidFill>
                <a:effectLst/>
                <a:latin typeface="Consolas" panose="020B0609020204030204" pitchFamily="49" charset="0"/>
              </a:rPr>
              <a:t>    b </a:t>
            </a:r>
            <a:r>
              <a:rPr lang="en-US" sz="1400" b="0" dirty="0">
                <a:solidFill>
                  <a:srgbClr val="000000"/>
                </a:solidFill>
                <a:effectLst/>
                <a:latin typeface="Consolas" panose="020B0609020204030204" pitchFamily="49" charset="0"/>
              </a:rPr>
              <a:t>=</a:t>
            </a:r>
            <a:r>
              <a:rPr lang="en-US" sz="1400" b="0" dirty="0">
                <a:solidFill>
                  <a:srgbClr val="1F2328"/>
                </a:solidFill>
                <a:effectLst/>
                <a:latin typeface="Consolas" panose="020B0609020204030204" pitchFamily="49" charset="0"/>
              </a:rPr>
              <a:t> </a:t>
            </a:r>
            <a:r>
              <a:rPr lang="en-US" sz="1400" b="0" dirty="0">
                <a:solidFill>
                  <a:srgbClr val="000000"/>
                </a:solidFill>
                <a:effectLst/>
                <a:latin typeface="Consolas" panose="020B0609020204030204" pitchFamily="49" charset="0"/>
              </a:rPr>
              <a:t>~</a:t>
            </a:r>
            <a:r>
              <a:rPr lang="en-US" sz="1400" b="0" dirty="0">
                <a:solidFill>
                  <a:srgbClr val="1F2328"/>
                </a:solidFill>
                <a:effectLst/>
                <a:latin typeface="Consolas" panose="020B0609020204030204" pitchFamily="49" charset="0"/>
              </a:rPr>
              <a:t>a;</a:t>
            </a:r>
            <a:endParaRPr lang="en-US" sz="1400" b="0" dirty="0">
              <a:solidFill>
                <a:srgbClr val="202020"/>
              </a:solidFill>
              <a:effectLst/>
              <a:latin typeface="Consolas" panose="020B0609020204030204" pitchFamily="49" charset="0"/>
            </a:endParaRPr>
          </a:p>
          <a:p>
            <a:pPr>
              <a:lnSpc>
                <a:spcPct val="113095"/>
              </a:lnSpc>
              <a:buNone/>
            </a:pPr>
            <a:r>
              <a:rPr lang="en-US" sz="1400" b="0" dirty="0">
                <a:solidFill>
                  <a:srgbClr val="1F2328"/>
                </a:solidFill>
                <a:effectLst/>
                <a:latin typeface="Consolas" panose="020B0609020204030204" pitchFamily="49" charset="0"/>
              </a:rPr>
              <a:t>    c </a:t>
            </a:r>
            <a:r>
              <a:rPr lang="en-US" sz="1400" b="0" dirty="0">
                <a:solidFill>
                  <a:srgbClr val="000000"/>
                </a:solidFill>
                <a:effectLst/>
                <a:latin typeface="Consolas" panose="020B0609020204030204" pitchFamily="49" charset="0"/>
              </a:rPr>
              <a:t>=</a:t>
            </a:r>
            <a:r>
              <a:rPr lang="en-US" sz="1400" b="0" dirty="0">
                <a:solidFill>
                  <a:srgbClr val="1F2328"/>
                </a:solidFill>
                <a:effectLst/>
                <a:latin typeface="Consolas" panose="020B0609020204030204" pitchFamily="49" charset="0"/>
              </a:rPr>
              <a:t> </a:t>
            </a:r>
            <a:r>
              <a:rPr lang="en-US" sz="1400" b="0" dirty="0">
                <a:solidFill>
                  <a:srgbClr val="000000"/>
                </a:solidFill>
                <a:effectLst/>
                <a:latin typeface="Consolas" panose="020B0609020204030204" pitchFamily="49" charset="0"/>
              </a:rPr>
              <a:t>~</a:t>
            </a:r>
            <a:r>
              <a:rPr lang="en-US" sz="1400" b="0" dirty="0">
                <a:solidFill>
                  <a:srgbClr val="1F2328"/>
                </a:solidFill>
                <a:effectLst/>
                <a:latin typeface="Consolas" panose="020B0609020204030204" pitchFamily="49" charset="0"/>
              </a:rPr>
              <a:t>b;</a:t>
            </a:r>
            <a:endParaRPr lang="en-US" sz="1400" b="0" dirty="0">
              <a:solidFill>
                <a:srgbClr val="202020"/>
              </a:solidFill>
              <a:effectLst/>
              <a:latin typeface="Consolas" panose="020B0609020204030204" pitchFamily="49" charset="0"/>
            </a:endParaRPr>
          </a:p>
          <a:p>
            <a:pPr>
              <a:lnSpc>
                <a:spcPct val="113095"/>
              </a:lnSpc>
              <a:buNone/>
            </a:pPr>
            <a:r>
              <a:rPr lang="en-US" sz="1400" b="0" dirty="0">
                <a:solidFill>
                  <a:srgbClr val="CF222E"/>
                </a:solidFill>
                <a:effectLst/>
                <a:latin typeface="Consolas" panose="020B0609020204030204" pitchFamily="49" charset="0"/>
              </a:rPr>
              <a:t>end</a:t>
            </a:r>
            <a:endParaRPr lang="en-US" sz="1400" b="0" dirty="0">
              <a:solidFill>
                <a:srgbClr val="202020"/>
              </a:solidFill>
              <a:effectLst/>
              <a:latin typeface="Consolas" panose="020B0609020204030204" pitchFamily="49" charset="0"/>
            </a:endParaRPr>
          </a:p>
        </p:txBody>
      </p:sp>
      <p:pic>
        <p:nvPicPr>
          <p:cNvPr id="36" name="Picture 35">
            <a:extLst>
              <a:ext uri="{FF2B5EF4-FFF2-40B4-BE49-F238E27FC236}">
                <a16:creationId xmlns:a16="http://schemas.microsoft.com/office/drawing/2014/main" id="{5B2F709D-2CFD-F261-DE60-553D893D1FC6}"/>
              </a:ext>
            </a:extLst>
          </p:cNvPr>
          <p:cNvPicPr>
            <a:picLocks noChangeAspect="1"/>
          </p:cNvPicPr>
          <p:nvPr/>
        </p:nvPicPr>
        <p:blipFill>
          <a:blip r:embed="rId5"/>
          <a:stretch>
            <a:fillRect/>
          </a:stretch>
        </p:blipFill>
        <p:spPr>
          <a:xfrm>
            <a:off x="714902" y="4098724"/>
            <a:ext cx="4102311" cy="1492327"/>
          </a:xfrm>
          <a:prstGeom prst="rect">
            <a:avLst/>
          </a:prstGeom>
        </p:spPr>
      </p:pic>
      <p:pic>
        <p:nvPicPr>
          <p:cNvPr id="38" name="Picture 37">
            <a:extLst>
              <a:ext uri="{FF2B5EF4-FFF2-40B4-BE49-F238E27FC236}">
                <a16:creationId xmlns:a16="http://schemas.microsoft.com/office/drawing/2014/main" id="{A28BC564-30AF-EBFE-E0F4-B1D2AE42E409}"/>
              </a:ext>
            </a:extLst>
          </p:cNvPr>
          <p:cNvPicPr>
            <a:picLocks noChangeAspect="1"/>
          </p:cNvPicPr>
          <p:nvPr/>
        </p:nvPicPr>
        <p:blipFill>
          <a:blip r:embed="rId6"/>
          <a:stretch>
            <a:fillRect/>
          </a:stretch>
        </p:blipFill>
        <p:spPr>
          <a:xfrm>
            <a:off x="6559417" y="3933351"/>
            <a:ext cx="3544703" cy="1620435"/>
          </a:xfrm>
          <a:prstGeom prst="rect">
            <a:avLst/>
          </a:prstGeom>
        </p:spPr>
      </p:pic>
    </p:spTree>
    <p:extLst>
      <p:ext uri="{BB962C8B-B14F-4D97-AF65-F5344CB8AC3E}">
        <p14:creationId xmlns:p14="http://schemas.microsoft.com/office/powerpoint/2010/main" val="135990371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2689EF-29AB-2505-33B5-6192C60F0AB2}"/>
            </a:ext>
          </a:extLst>
        </p:cNvPr>
        <p:cNvGrpSpPr/>
        <p:nvPr/>
      </p:nvGrpSpPr>
      <p:grpSpPr>
        <a:xfrm>
          <a:off x="0" y="0"/>
          <a:ext cx="0" cy="0"/>
          <a:chOff x="0" y="0"/>
          <a:chExt cx="0" cy="0"/>
        </a:xfrm>
      </p:grpSpPr>
      <p:sp>
        <p:nvSpPr>
          <p:cNvPr id="26" name="text_59">
            <a:extLst>
              <a:ext uri="{FF2B5EF4-FFF2-40B4-BE49-F238E27FC236}">
                <a16:creationId xmlns:a16="http://schemas.microsoft.com/office/drawing/2014/main" id="{39D8070C-D817-024F-6566-6427E117C017}"/>
              </a:ext>
            </a:extLst>
          </p:cNvPr>
          <p:cNvSpPr>
            <a:spLocks noGrp="1"/>
          </p:cNvSpPr>
          <p:nvPr/>
        </p:nvSpPr>
        <p:spPr>
          <a:xfrm>
            <a:off x="514350" y="381000"/>
            <a:ext cx="11277600" cy="762000"/>
          </a:xfrm>
          <a:prstGeom prst="rect">
            <a:avLst/>
          </a:prstGeom>
          <a:noFill/>
          <a:ln w="0">
            <a:noFill/>
          </a:ln>
        </p:spPr>
        <p:txBody>
          <a:bodyPr wrap="square" lIns="0" tIns="0" rIns="0" bIns="0">
            <a:noAutofit/>
          </a:bodyPr>
          <a:lstStyle/>
          <a:p>
            <a:pPr>
              <a:defRPr sz="3225" b="1">
                <a:solidFill>
                  <a:srgbClr val="182530"/>
                </a:solidFill>
                <a:latin typeface="Arial"/>
                <a:ea typeface="Arial"/>
                <a:cs typeface="Arial"/>
              </a:defRPr>
            </a:pPr>
            <a:r>
              <a:rPr lang="en-US" sz="3225" b="1" dirty="0">
                <a:solidFill>
                  <a:srgbClr val="182530"/>
                </a:solidFill>
                <a:latin typeface="Arial"/>
                <a:ea typeface="Arial"/>
                <a:cs typeface="Arial"/>
              </a:rPr>
              <a:t>Verilog: </a:t>
            </a:r>
            <a:r>
              <a:rPr lang="ru-RU" sz="3225" b="1" dirty="0">
                <a:solidFill>
                  <a:srgbClr val="182530"/>
                </a:solidFill>
                <a:latin typeface="Arial"/>
                <a:ea typeface="Arial"/>
                <a:cs typeface="Arial"/>
              </a:rPr>
              <a:t>операторы</a:t>
            </a:r>
            <a:endParaRPr sz="3225" b="1" dirty="0">
              <a:solidFill>
                <a:srgbClr val="182530"/>
              </a:solidFill>
              <a:latin typeface="Arial"/>
              <a:ea typeface="Arial"/>
              <a:cs typeface="Arial"/>
            </a:endParaRPr>
          </a:p>
        </p:txBody>
      </p:sp>
      <p:sp>
        <p:nvSpPr>
          <p:cNvPr id="2" name="line_60">
            <a:extLst>
              <a:ext uri="{FF2B5EF4-FFF2-40B4-BE49-F238E27FC236}">
                <a16:creationId xmlns:a16="http://schemas.microsoft.com/office/drawing/2014/main" id="{FD418F19-1DF0-5DD0-9E57-D9997D200E4F}"/>
              </a:ext>
            </a:extLst>
          </p:cNvPr>
          <p:cNvSpPr>
            <a:spLocks noGrp="1"/>
          </p:cNvSpPr>
          <p:nvPr/>
        </p:nvSpPr>
        <p:spPr>
          <a:xfrm>
            <a:off x="457200" y="1133475"/>
            <a:ext cx="11277600" cy="0"/>
          </a:xfrm>
          <a:prstGeom prst="line">
            <a:avLst/>
          </a:prstGeom>
          <a:noFill/>
          <a:ln w="9525">
            <a:solidFill>
              <a:srgbClr val="B9C4CC"/>
            </a:solidFill>
          </a:ln>
        </p:spPr>
        <p:txBody>
          <a:bodyPr/>
          <a:lstStyle/>
          <a:p>
            <a:endParaRPr lang="en-US"/>
          </a:p>
        </p:txBody>
      </p:sp>
      <p:sp>
        <p:nvSpPr>
          <p:cNvPr id="3" name="TextBox 2">
            <a:extLst>
              <a:ext uri="{FF2B5EF4-FFF2-40B4-BE49-F238E27FC236}">
                <a16:creationId xmlns:a16="http://schemas.microsoft.com/office/drawing/2014/main" id="{9D2D3920-DB53-7F9F-0F64-749497689B97}"/>
              </a:ext>
            </a:extLst>
          </p:cNvPr>
          <p:cNvSpPr txBox="1"/>
          <p:nvPr/>
        </p:nvSpPr>
        <p:spPr>
          <a:xfrm>
            <a:off x="514350" y="1563624"/>
            <a:ext cx="10729156" cy="1569660"/>
          </a:xfrm>
          <a:prstGeom prst="rect">
            <a:avLst/>
          </a:prstGeom>
          <a:noFill/>
        </p:spPr>
        <p:txBody>
          <a:bodyPr wrap="none" rtlCol="0">
            <a:spAutoFit/>
          </a:bodyPr>
          <a:lstStyle/>
          <a:p>
            <a:pPr marL="285750" indent="-285750">
              <a:buFont typeface="Arial" panose="020B0604020202020204" pitchFamily="34" charset="0"/>
              <a:buChar char="•"/>
            </a:pPr>
            <a:r>
              <a:rPr lang="ru-RU" sz="2400" dirty="0"/>
              <a:t>Логические операторы</a:t>
            </a:r>
            <a:r>
              <a:rPr lang="en-US" sz="2400" dirty="0"/>
              <a:t>: &amp;&amp; (and), || (or), !(not)</a:t>
            </a:r>
          </a:p>
          <a:p>
            <a:pPr marL="285750" indent="-285750">
              <a:buFont typeface="Arial" panose="020B0604020202020204" pitchFamily="34" charset="0"/>
              <a:buChar char="•"/>
            </a:pPr>
            <a:r>
              <a:rPr lang="ru-RU" sz="2400" dirty="0"/>
              <a:t>Побитовые операторы</a:t>
            </a:r>
            <a:r>
              <a:rPr lang="en-US" sz="2400" dirty="0"/>
              <a:t>:</a:t>
            </a:r>
            <a:r>
              <a:rPr lang="ru-RU" sz="2400" dirty="0"/>
              <a:t> </a:t>
            </a:r>
            <a:r>
              <a:rPr lang="en-US" sz="2400" dirty="0"/>
              <a:t>&amp; (and), | (or), ^ (</a:t>
            </a:r>
            <a:r>
              <a:rPr lang="en-US" sz="2400" dirty="0" err="1"/>
              <a:t>xor</a:t>
            </a:r>
            <a:r>
              <a:rPr lang="en-US" sz="2400" dirty="0"/>
              <a:t>),  ~ (not), ^~(exclusive nor)</a:t>
            </a:r>
          </a:p>
          <a:p>
            <a:pPr marL="285750" indent="-285750">
              <a:buFont typeface="Arial" panose="020B0604020202020204" pitchFamily="34" charset="0"/>
              <a:buChar char="•"/>
            </a:pPr>
            <a:r>
              <a:rPr lang="ru-RU" sz="2400" dirty="0"/>
              <a:t>Операторы сравнения</a:t>
            </a:r>
            <a:r>
              <a:rPr lang="en-US" sz="2400" dirty="0"/>
              <a:t>: &lt;, &lt;=, &gt;, &gt;=, ==, !=</a:t>
            </a:r>
          </a:p>
          <a:p>
            <a:pPr marL="285750" indent="-285750">
              <a:buFont typeface="Arial" panose="020B0604020202020204" pitchFamily="34" charset="0"/>
              <a:buChar char="•"/>
            </a:pPr>
            <a:r>
              <a:rPr lang="ru-RU" sz="2400" dirty="0"/>
              <a:t>Арифметические операторы</a:t>
            </a:r>
            <a:r>
              <a:rPr lang="en-US" sz="2400" dirty="0"/>
              <a:t>: +, -, *, /, %. </a:t>
            </a:r>
            <a:r>
              <a:rPr lang="ru-RU" sz="2400" dirty="0"/>
              <a:t>(Требуется расширение разрядности)</a:t>
            </a:r>
          </a:p>
        </p:txBody>
      </p:sp>
      <p:sp>
        <p:nvSpPr>
          <p:cNvPr id="6" name="TextBox 5">
            <a:extLst>
              <a:ext uri="{FF2B5EF4-FFF2-40B4-BE49-F238E27FC236}">
                <a16:creationId xmlns:a16="http://schemas.microsoft.com/office/drawing/2014/main" id="{6F6A96F3-515E-9E9D-7C19-E2B7C055E8B9}"/>
              </a:ext>
            </a:extLst>
          </p:cNvPr>
          <p:cNvSpPr txBox="1"/>
          <p:nvPr/>
        </p:nvSpPr>
        <p:spPr>
          <a:xfrm>
            <a:off x="514350" y="4117909"/>
            <a:ext cx="2402586" cy="1781898"/>
          </a:xfrm>
          <a:prstGeom prst="rect">
            <a:avLst/>
          </a:prstGeom>
          <a:noFill/>
        </p:spPr>
        <p:txBody>
          <a:bodyPr wrap="square">
            <a:spAutoFit/>
          </a:bodyPr>
          <a:lstStyle/>
          <a:p>
            <a:pPr>
              <a:lnSpc>
                <a:spcPct val="113095"/>
              </a:lnSpc>
              <a:buNone/>
            </a:pPr>
            <a:r>
              <a:rPr lang="en-US" sz="1400" b="0" dirty="0">
                <a:solidFill>
                  <a:srgbClr val="CF222E"/>
                </a:solidFill>
                <a:effectLst/>
                <a:latin typeface="Consolas" panose="020B0609020204030204" pitchFamily="49" charset="0"/>
              </a:rPr>
              <a:t>wire</a:t>
            </a:r>
            <a:r>
              <a:rPr lang="en-US" sz="1400" b="0" dirty="0">
                <a:solidFill>
                  <a:srgbClr val="202020"/>
                </a:solidFill>
                <a:effectLst/>
                <a:latin typeface="Consolas" panose="020B0609020204030204" pitchFamily="49" charset="0"/>
              </a:rPr>
              <a:t> [</a:t>
            </a:r>
            <a:r>
              <a:rPr lang="en-US" sz="1400" b="0" dirty="0">
                <a:solidFill>
                  <a:srgbClr val="098658"/>
                </a:solidFill>
                <a:effectLst/>
                <a:latin typeface="Consolas" panose="020B0609020204030204" pitchFamily="49" charset="0"/>
              </a:rPr>
              <a:t>7</a:t>
            </a:r>
            <a:r>
              <a:rPr lang="en-US" sz="1400" b="0" dirty="0">
                <a:solidFill>
                  <a:srgbClr val="000000"/>
                </a:solidFill>
                <a:effectLst/>
                <a:latin typeface="Consolas" panose="020B0609020204030204" pitchFamily="49" charset="0"/>
              </a:rPr>
              <a:t>:</a:t>
            </a:r>
            <a:r>
              <a:rPr lang="en-US" sz="1400" b="0" dirty="0">
                <a:solidFill>
                  <a:srgbClr val="202020"/>
                </a:solidFill>
                <a:effectLst/>
                <a:latin typeface="Consolas" panose="020B0609020204030204" pitchFamily="49" charset="0"/>
              </a:rPr>
              <a:t> </a:t>
            </a:r>
            <a:r>
              <a:rPr lang="en-US" sz="1400" b="0" dirty="0">
                <a:solidFill>
                  <a:srgbClr val="098658"/>
                </a:solidFill>
                <a:effectLst/>
                <a:latin typeface="Consolas" panose="020B0609020204030204" pitchFamily="49" charset="0"/>
              </a:rPr>
              <a:t>0</a:t>
            </a:r>
            <a:r>
              <a:rPr lang="en-US" sz="1400" b="0" dirty="0">
                <a:solidFill>
                  <a:srgbClr val="202020"/>
                </a:solidFill>
                <a:effectLst/>
                <a:latin typeface="Consolas" panose="020B0609020204030204" pitchFamily="49" charset="0"/>
              </a:rPr>
              <a:t>] </a:t>
            </a:r>
            <a:r>
              <a:rPr lang="en-US" sz="1400" b="0" dirty="0">
                <a:solidFill>
                  <a:srgbClr val="1F2328"/>
                </a:solidFill>
                <a:effectLst/>
                <a:latin typeface="Consolas" panose="020B0609020204030204" pitchFamily="49" charset="0"/>
              </a:rPr>
              <a:t>a</a:t>
            </a:r>
            <a:r>
              <a:rPr lang="en-US" sz="1400" b="0" dirty="0">
                <a:solidFill>
                  <a:srgbClr val="202020"/>
                </a:solidFill>
                <a:effectLst/>
                <a:latin typeface="Consolas" panose="020B0609020204030204" pitchFamily="49" charset="0"/>
              </a:rPr>
              <a:t>, </a:t>
            </a:r>
            <a:r>
              <a:rPr lang="en-US" sz="1400" b="0" dirty="0">
                <a:solidFill>
                  <a:srgbClr val="1F2328"/>
                </a:solidFill>
                <a:effectLst/>
                <a:latin typeface="Consolas" panose="020B0609020204030204" pitchFamily="49" charset="0"/>
              </a:rPr>
              <a:t>b</a:t>
            </a:r>
            <a:r>
              <a:rPr lang="en-US" sz="1400" b="0" dirty="0">
                <a:solidFill>
                  <a:srgbClr val="202020"/>
                </a:solidFill>
                <a:effectLst/>
                <a:latin typeface="Consolas" panose="020B0609020204030204" pitchFamily="49" charset="0"/>
              </a:rPr>
              <a:t>;</a:t>
            </a:r>
          </a:p>
          <a:p>
            <a:pPr>
              <a:lnSpc>
                <a:spcPct val="113095"/>
              </a:lnSpc>
              <a:buNone/>
            </a:pPr>
            <a:r>
              <a:rPr lang="en-US" sz="1400" b="0" dirty="0">
                <a:solidFill>
                  <a:srgbClr val="CF222E"/>
                </a:solidFill>
                <a:effectLst/>
                <a:latin typeface="Consolas" panose="020B0609020204030204" pitchFamily="49" charset="0"/>
              </a:rPr>
              <a:t>wire</a:t>
            </a:r>
            <a:r>
              <a:rPr lang="en-US" sz="1400" b="0" dirty="0">
                <a:solidFill>
                  <a:srgbClr val="202020"/>
                </a:solidFill>
                <a:effectLst/>
                <a:latin typeface="Consolas" panose="020B0609020204030204" pitchFamily="49" charset="0"/>
              </a:rPr>
              <a:t> [</a:t>
            </a:r>
            <a:r>
              <a:rPr lang="en-US" sz="1400" b="0" dirty="0">
                <a:solidFill>
                  <a:srgbClr val="098658"/>
                </a:solidFill>
                <a:effectLst/>
                <a:latin typeface="Consolas" panose="020B0609020204030204" pitchFamily="49" charset="0"/>
              </a:rPr>
              <a:t>7</a:t>
            </a:r>
            <a:r>
              <a:rPr lang="en-US" sz="1400" b="0" dirty="0">
                <a:solidFill>
                  <a:srgbClr val="000000"/>
                </a:solidFill>
                <a:effectLst/>
                <a:latin typeface="Consolas" panose="020B0609020204030204" pitchFamily="49" charset="0"/>
              </a:rPr>
              <a:t>:</a:t>
            </a:r>
            <a:r>
              <a:rPr lang="en-US" sz="1400" b="0" dirty="0">
                <a:solidFill>
                  <a:srgbClr val="202020"/>
                </a:solidFill>
                <a:effectLst/>
                <a:latin typeface="Consolas" panose="020B0609020204030204" pitchFamily="49" charset="0"/>
              </a:rPr>
              <a:t> </a:t>
            </a:r>
            <a:r>
              <a:rPr lang="en-US" sz="1400" b="0" dirty="0">
                <a:solidFill>
                  <a:srgbClr val="098658"/>
                </a:solidFill>
                <a:effectLst/>
                <a:latin typeface="Consolas" panose="020B0609020204030204" pitchFamily="49" charset="0"/>
              </a:rPr>
              <a:t>0</a:t>
            </a:r>
            <a:r>
              <a:rPr lang="en-US" sz="1400" b="0" dirty="0">
                <a:solidFill>
                  <a:srgbClr val="202020"/>
                </a:solidFill>
                <a:effectLst/>
                <a:latin typeface="Consolas" panose="020B0609020204030204" pitchFamily="49" charset="0"/>
              </a:rPr>
              <a:t>] </a:t>
            </a:r>
            <a:r>
              <a:rPr lang="en-US" sz="1400" b="0" dirty="0">
                <a:solidFill>
                  <a:srgbClr val="1F2328"/>
                </a:solidFill>
                <a:effectLst/>
                <a:latin typeface="Consolas" panose="020B0609020204030204" pitchFamily="49" charset="0"/>
              </a:rPr>
              <a:t>c</a:t>
            </a:r>
            <a:r>
              <a:rPr lang="en-US" sz="1400" b="0" dirty="0">
                <a:solidFill>
                  <a:srgbClr val="202020"/>
                </a:solidFill>
                <a:effectLst/>
                <a:latin typeface="Consolas" panose="020B0609020204030204" pitchFamily="49" charset="0"/>
              </a:rPr>
              <a:t>;</a:t>
            </a:r>
          </a:p>
          <a:p>
            <a:pPr>
              <a:lnSpc>
                <a:spcPct val="113095"/>
              </a:lnSpc>
              <a:buNone/>
            </a:pPr>
            <a:r>
              <a:rPr lang="en-US" sz="1400" b="0" dirty="0">
                <a:solidFill>
                  <a:srgbClr val="CF222E"/>
                </a:solidFill>
                <a:effectLst/>
                <a:latin typeface="Consolas" panose="020B0609020204030204" pitchFamily="49" charset="0"/>
              </a:rPr>
              <a:t>wire</a:t>
            </a:r>
            <a:r>
              <a:rPr lang="en-US" sz="1400" b="0" dirty="0">
                <a:solidFill>
                  <a:srgbClr val="202020"/>
                </a:solidFill>
                <a:effectLst/>
                <a:latin typeface="Consolas" panose="020B0609020204030204" pitchFamily="49" charset="0"/>
              </a:rPr>
              <a:t> [</a:t>
            </a:r>
            <a:r>
              <a:rPr lang="en-US" sz="1400" b="0" dirty="0">
                <a:solidFill>
                  <a:srgbClr val="098658"/>
                </a:solidFill>
                <a:effectLst/>
                <a:latin typeface="Consolas" panose="020B0609020204030204" pitchFamily="49" charset="0"/>
              </a:rPr>
              <a:t>8</a:t>
            </a:r>
            <a:r>
              <a:rPr lang="en-US" sz="1400" b="0" dirty="0">
                <a:solidFill>
                  <a:srgbClr val="000000"/>
                </a:solidFill>
                <a:effectLst/>
                <a:latin typeface="Consolas" panose="020B0609020204030204" pitchFamily="49" charset="0"/>
              </a:rPr>
              <a:t>:</a:t>
            </a:r>
            <a:r>
              <a:rPr lang="en-US" sz="1400" b="0" dirty="0">
                <a:solidFill>
                  <a:srgbClr val="202020"/>
                </a:solidFill>
                <a:effectLst/>
                <a:latin typeface="Consolas" panose="020B0609020204030204" pitchFamily="49" charset="0"/>
              </a:rPr>
              <a:t> </a:t>
            </a:r>
            <a:r>
              <a:rPr lang="en-US" sz="1400" b="0" dirty="0">
                <a:solidFill>
                  <a:srgbClr val="098658"/>
                </a:solidFill>
                <a:effectLst/>
                <a:latin typeface="Consolas" panose="020B0609020204030204" pitchFamily="49" charset="0"/>
              </a:rPr>
              <a:t>0</a:t>
            </a:r>
            <a:r>
              <a:rPr lang="en-US" sz="1400" b="0" dirty="0">
                <a:solidFill>
                  <a:srgbClr val="202020"/>
                </a:solidFill>
                <a:effectLst/>
                <a:latin typeface="Consolas" panose="020B0609020204030204" pitchFamily="49" charset="0"/>
              </a:rPr>
              <a:t>] </a:t>
            </a:r>
            <a:r>
              <a:rPr lang="en-US" sz="1400" b="0" dirty="0">
                <a:solidFill>
                  <a:srgbClr val="1F2328"/>
                </a:solidFill>
                <a:effectLst/>
                <a:latin typeface="Consolas" panose="020B0609020204030204" pitchFamily="49" charset="0"/>
              </a:rPr>
              <a:t>d</a:t>
            </a:r>
            <a:r>
              <a:rPr lang="en-US" sz="1400" b="0" dirty="0">
                <a:solidFill>
                  <a:srgbClr val="202020"/>
                </a:solidFill>
                <a:effectLst/>
                <a:latin typeface="Consolas" panose="020B0609020204030204" pitchFamily="49" charset="0"/>
              </a:rPr>
              <a:t>;</a:t>
            </a:r>
          </a:p>
          <a:p>
            <a:pPr>
              <a:lnSpc>
                <a:spcPct val="113095"/>
              </a:lnSpc>
              <a:buNone/>
            </a:pPr>
            <a:br>
              <a:rPr lang="en-US" sz="1400" b="0" dirty="0">
                <a:solidFill>
                  <a:srgbClr val="202020"/>
                </a:solidFill>
                <a:effectLst/>
                <a:latin typeface="Consolas" panose="020B0609020204030204" pitchFamily="49" charset="0"/>
              </a:rPr>
            </a:br>
            <a:endParaRPr lang="en-US" sz="1400" b="0" dirty="0">
              <a:solidFill>
                <a:srgbClr val="202020"/>
              </a:solidFill>
              <a:effectLst/>
              <a:latin typeface="Consolas" panose="020B0609020204030204" pitchFamily="49" charset="0"/>
            </a:endParaRPr>
          </a:p>
          <a:p>
            <a:pPr>
              <a:lnSpc>
                <a:spcPct val="113095"/>
              </a:lnSpc>
              <a:buNone/>
            </a:pPr>
            <a:r>
              <a:rPr lang="en-US" sz="1400" b="0" dirty="0">
                <a:solidFill>
                  <a:srgbClr val="AF00DB"/>
                </a:solidFill>
                <a:effectLst/>
                <a:latin typeface="Consolas" panose="020B0609020204030204" pitchFamily="49" charset="0"/>
              </a:rPr>
              <a:t>assign</a:t>
            </a:r>
            <a:r>
              <a:rPr lang="en-US" sz="1400" b="0" dirty="0">
                <a:solidFill>
                  <a:srgbClr val="202020"/>
                </a:solidFill>
                <a:effectLst/>
                <a:latin typeface="Consolas" panose="020B0609020204030204" pitchFamily="49" charset="0"/>
              </a:rPr>
              <a:t> </a:t>
            </a:r>
            <a:r>
              <a:rPr lang="en-US" sz="1400" b="0" dirty="0">
                <a:solidFill>
                  <a:srgbClr val="1F2328"/>
                </a:solidFill>
                <a:effectLst/>
                <a:latin typeface="Consolas" panose="020B0609020204030204" pitchFamily="49" charset="0"/>
              </a:rPr>
              <a:t>c</a:t>
            </a:r>
            <a:r>
              <a:rPr lang="en-US" sz="1400" b="0" dirty="0">
                <a:solidFill>
                  <a:srgbClr val="202020"/>
                </a:solidFill>
                <a:effectLst/>
                <a:latin typeface="Consolas" panose="020B0609020204030204" pitchFamily="49" charset="0"/>
              </a:rPr>
              <a:t> </a:t>
            </a:r>
            <a:r>
              <a:rPr lang="en-US" sz="1400" b="0" dirty="0">
                <a:solidFill>
                  <a:srgbClr val="000000"/>
                </a:solidFill>
                <a:effectLst/>
                <a:latin typeface="Consolas" panose="020B0609020204030204" pitchFamily="49" charset="0"/>
              </a:rPr>
              <a:t>=</a:t>
            </a:r>
            <a:r>
              <a:rPr lang="en-US" sz="1400" b="0" dirty="0">
                <a:solidFill>
                  <a:srgbClr val="202020"/>
                </a:solidFill>
                <a:effectLst/>
                <a:latin typeface="Consolas" panose="020B0609020204030204" pitchFamily="49" charset="0"/>
              </a:rPr>
              <a:t> </a:t>
            </a:r>
            <a:r>
              <a:rPr lang="en-US" sz="1400" b="0" dirty="0">
                <a:solidFill>
                  <a:srgbClr val="1F2328"/>
                </a:solidFill>
                <a:effectLst/>
                <a:latin typeface="Consolas" panose="020B0609020204030204" pitchFamily="49" charset="0"/>
              </a:rPr>
              <a:t>a</a:t>
            </a:r>
            <a:r>
              <a:rPr lang="en-US" sz="1400" b="0" dirty="0">
                <a:solidFill>
                  <a:srgbClr val="202020"/>
                </a:solidFill>
                <a:effectLst/>
                <a:latin typeface="Consolas" panose="020B0609020204030204" pitchFamily="49" charset="0"/>
              </a:rPr>
              <a:t> </a:t>
            </a:r>
            <a:r>
              <a:rPr lang="en-US" sz="1400" b="0" dirty="0">
                <a:solidFill>
                  <a:srgbClr val="000000"/>
                </a:solidFill>
                <a:effectLst/>
                <a:latin typeface="Consolas" panose="020B0609020204030204" pitchFamily="49" charset="0"/>
              </a:rPr>
              <a:t>+</a:t>
            </a:r>
            <a:r>
              <a:rPr lang="en-US" sz="1400" b="0" dirty="0">
                <a:solidFill>
                  <a:srgbClr val="202020"/>
                </a:solidFill>
                <a:effectLst/>
                <a:latin typeface="Consolas" panose="020B0609020204030204" pitchFamily="49" charset="0"/>
              </a:rPr>
              <a:t> </a:t>
            </a:r>
            <a:r>
              <a:rPr lang="en-US" sz="1400" b="0" dirty="0">
                <a:solidFill>
                  <a:srgbClr val="1F2328"/>
                </a:solidFill>
                <a:effectLst/>
                <a:latin typeface="Consolas" panose="020B0609020204030204" pitchFamily="49" charset="0"/>
              </a:rPr>
              <a:t>b</a:t>
            </a:r>
            <a:r>
              <a:rPr lang="en-US" sz="1400" b="0" dirty="0">
                <a:solidFill>
                  <a:srgbClr val="202020"/>
                </a:solidFill>
                <a:effectLst/>
                <a:latin typeface="Consolas" panose="020B0609020204030204" pitchFamily="49" charset="0"/>
              </a:rPr>
              <a:t>;</a:t>
            </a:r>
          </a:p>
          <a:p>
            <a:pPr>
              <a:lnSpc>
                <a:spcPct val="113095"/>
              </a:lnSpc>
              <a:buNone/>
            </a:pPr>
            <a:r>
              <a:rPr lang="en-US" sz="1400" b="0" dirty="0">
                <a:solidFill>
                  <a:srgbClr val="AF00DB"/>
                </a:solidFill>
                <a:effectLst/>
                <a:latin typeface="Consolas" panose="020B0609020204030204" pitchFamily="49" charset="0"/>
              </a:rPr>
              <a:t>assign</a:t>
            </a:r>
            <a:r>
              <a:rPr lang="en-US" sz="1400" b="0" dirty="0">
                <a:solidFill>
                  <a:srgbClr val="202020"/>
                </a:solidFill>
                <a:effectLst/>
                <a:latin typeface="Consolas" panose="020B0609020204030204" pitchFamily="49" charset="0"/>
              </a:rPr>
              <a:t> </a:t>
            </a:r>
            <a:r>
              <a:rPr lang="en-US" sz="1400" b="0" dirty="0">
                <a:solidFill>
                  <a:srgbClr val="1F2328"/>
                </a:solidFill>
                <a:effectLst/>
                <a:latin typeface="Consolas" panose="020B0609020204030204" pitchFamily="49" charset="0"/>
              </a:rPr>
              <a:t>d</a:t>
            </a:r>
            <a:r>
              <a:rPr lang="en-US" sz="1400" b="0" dirty="0">
                <a:solidFill>
                  <a:srgbClr val="202020"/>
                </a:solidFill>
                <a:effectLst/>
                <a:latin typeface="Consolas" panose="020B0609020204030204" pitchFamily="49" charset="0"/>
              </a:rPr>
              <a:t> </a:t>
            </a:r>
            <a:r>
              <a:rPr lang="en-US" sz="1400" b="0" dirty="0">
                <a:solidFill>
                  <a:srgbClr val="000000"/>
                </a:solidFill>
                <a:effectLst/>
                <a:latin typeface="Consolas" panose="020B0609020204030204" pitchFamily="49" charset="0"/>
              </a:rPr>
              <a:t>=</a:t>
            </a:r>
            <a:r>
              <a:rPr lang="en-US" sz="1400" b="0" dirty="0">
                <a:solidFill>
                  <a:srgbClr val="202020"/>
                </a:solidFill>
                <a:effectLst/>
                <a:latin typeface="Consolas" panose="020B0609020204030204" pitchFamily="49" charset="0"/>
              </a:rPr>
              <a:t> </a:t>
            </a:r>
            <a:r>
              <a:rPr lang="en-US" sz="1400" b="0" dirty="0">
                <a:solidFill>
                  <a:srgbClr val="1F2328"/>
                </a:solidFill>
                <a:effectLst/>
                <a:latin typeface="Consolas" panose="020B0609020204030204" pitchFamily="49" charset="0"/>
              </a:rPr>
              <a:t>a</a:t>
            </a:r>
            <a:r>
              <a:rPr lang="en-US" sz="1400" b="0" dirty="0">
                <a:solidFill>
                  <a:srgbClr val="202020"/>
                </a:solidFill>
                <a:effectLst/>
                <a:latin typeface="Consolas" panose="020B0609020204030204" pitchFamily="49" charset="0"/>
              </a:rPr>
              <a:t> </a:t>
            </a:r>
            <a:r>
              <a:rPr lang="en-US" sz="1400" b="0" dirty="0">
                <a:solidFill>
                  <a:srgbClr val="000000"/>
                </a:solidFill>
                <a:effectLst/>
                <a:latin typeface="Consolas" panose="020B0609020204030204" pitchFamily="49" charset="0"/>
              </a:rPr>
              <a:t>+</a:t>
            </a:r>
            <a:r>
              <a:rPr lang="en-US" sz="1400" b="0" dirty="0">
                <a:solidFill>
                  <a:srgbClr val="202020"/>
                </a:solidFill>
                <a:effectLst/>
                <a:latin typeface="Consolas" panose="020B0609020204030204" pitchFamily="49" charset="0"/>
              </a:rPr>
              <a:t> </a:t>
            </a:r>
            <a:r>
              <a:rPr lang="en-US" sz="1400" b="0" dirty="0">
                <a:solidFill>
                  <a:srgbClr val="1F2328"/>
                </a:solidFill>
                <a:effectLst/>
                <a:latin typeface="Consolas" panose="020B0609020204030204" pitchFamily="49" charset="0"/>
              </a:rPr>
              <a:t>b</a:t>
            </a:r>
            <a:r>
              <a:rPr lang="en-US" sz="1400" b="0" dirty="0">
                <a:solidFill>
                  <a:srgbClr val="202020"/>
                </a:solidFill>
                <a:effectLst/>
                <a:latin typeface="Consolas" panose="020B0609020204030204" pitchFamily="49" charset="0"/>
              </a:rPr>
              <a:t>;</a:t>
            </a:r>
          </a:p>
        </p:txBody>
      </p:sp>
      <p:sp>
        <p:nvSpPr>
          <p:cNvPr id="12" name="TextBox 11">
            <a:extLst>
              <a:ext uri="{FF2B5EF4-FFF2-40B4-BE49-F238E27FC236}">
                <a16:creationId xmlns:a16="http://schemas.microsoft.com/office/drawing/2014/main" id="{92236A27-E8A7-D204-53A9-B75E4CD92CAE}"/>
              </a:ext>
            </a:extLst>
          </p:cNvPr>
          <p:cNvSpPr txBox="1"/>
          <p:nvPr/>
        </p:nvSpPr>
        <p:spPr>
          <a:xfrm>
            <a:off x="4117086" y="4117909"/>
            <a:ext cx="2686050" cy="1781898"/>
          </a:xfrm>
          <a:prstGeom prst="rect">
            <a:avLst/>
          </a:prstGeom>
          <a:noFill/>
        </p:spPr>
        <p:txBody>
          <a:bodyPr wrap="square">
            <a:spAutoFit/>
          </a:bodyPr>
          <a:lstStyle/>
          <a:p>
            <a:pPr>
              <a:lnSpc>
                <a:spcPct val="113095"/>
              </a:lnSpc>
              <a:buNone/>
            </a:pPr>
            <a:r>
              <a:rPr lang="en-US" sz="1400" b="0" dirty="0">
                <a:solidFill>
                  <a:srgbClr val="CF222E"/>
                </a:solidFill>
                <a:effectLst/>
                <a:latin typeface="Consolas" panose="020B0609020204030204" pitchFamily="49" charset="0"/>
              </a:rPr>
              <a:t>wire signed</a:t>
            </a:r>
            <a:r>
              <a:rPr lang="en-US" sz="1400" b="0" dirty="0">
                <a:solidFill>
                  <a:srgbClr val="202020"/>
                </a:solidFill>
                <a:effectLst/>
                <a:latin typeface="Consolas" panose="020B0609020204030204" pitchFamily="49" charset="0"/>
              </a:rPr>
              <a:t> [</a:t>
            </a:r>
            <a:r>
              <a:rPr lang="en-US" sz="1400" b="0" dirty="0">
                <a:solidFill>
                  <a:srgbClr val="098658"/>
                </a:solidFill>
                <a:effectLst/>
                <a:latin typeface="Consolas" panose="020B0609020204030204" pitchFamily="49" charset="0"/>
              </a:rPr>
              <a:t>7</a:t>
            </a:r>
            <a:r>
              <a:rPr lang="en-US" sz="1400" b="0" dirty="0">
                <a:solidFill>
                  <a:srgbClr val="000000"/>
                </a:solidFill>
                <a:effectLst/>
                <a:latin typeface="Consolas" panose="020B0609020204030204" pitchFamily="49" charset="0"/>
              </a:rPr>
              <a:t>:</a:t>
            </a:r>
            <a:r>
              <a:rPr lang="en-US" sz="1400" b="0" dirty="0">
                <a:solidFill>
                  <a:srgbClr val="202020"/>
                </a:solidFill>
                <a:effectLst/>
                <a:latin typeface="Consolas" panose="020B0609020204030204" pitchFamily="49" charset="0"/>
              </a:rPr>
              <a:t> </a:t>
            </a:r>
            <a:r>
              <a:rPr lang="en-US" sz="1400" b="0" dirty="0">
                <a:solidFill>
                  <a:srgbClr val="098658"/>
                </a:solidFill>
                <a:effectLst/>
                <a:latin typeface="Consolas" panose="020B0609020204030204" pitchFamily="49" charset="0"/>
              </a:rPr>
              <a:t>0</a:t>
            </a:r>
            <a:r>
              <a:rPr lang="en-US" sz="1400" b="0" dirty="0">
                <a:solidFill>
                  <a:srgbClr val="202020"/>
                </a:solidFill>
                <a:effectLst/>
                <a:latin typeface="Consolas" panose="020B0609020204030204" pitchFamily="49" charset="0"/>
              </a:rPr>
              <a:t>] </a:t>
            </a:r>
            <a:r>
              <a:rPr lang="en-US" sz="1400" b="0" dirty="0">
                <a:solidFill>
                  <a:srgbClr val="1F2328"/>
                </a:solidFill>
                <a:effectLst/>
                <a:latin typeface="Consolas" panose="020B0609020204030204" pitchFamily="49" charset="0"/>
              </a:rPr>
              <a:t>a</a:t>
            </a:r>
            <a:r>
              <a:rPr lang="en-US" sz="1400" b="0" dirty="0">
                <a:solidFill>
                  <a:srgbClr val="202020"/>
                </a:solidFill>
                <a:effectLst/>
                <a:latin typeface="Consolas" panose="020B0609020204030204" pitchFamily="49" charset="0"/>
              </a:rPr>
              <a:t>, </a:t>
            </a:r>
            <a:r>
              <a:rPr lang="en-US" sz="1400" b="0" dirty="0">
                <a:solidFill>
                  <a:srgbClr val="1F2328"/>
                </a:solidFill>
                <a:effectLst/>
                <a:latin typeface="Consolas" panose="020B0609020204030204" pitchFamily="49" charset="0"/>
              </a:rPr>
              <a:t>b</a:t>
            </a:r>
            <a:r>
              <a:rPr lang="en-US" sz="1400" b="0" dirty="0">
                <a:solidFill>
                  <a:srgbClr val="202020"/>
                </a:solidFill>
                <a:effectLst/>
                <a:latin typeface="Consolas" panose="020B0609020204030204" pitchFamily="49" charset="0"/>
              </a:rPr>
              <a:t>;</a:t>
            </a:r>
          </a:p>
          <a:p>
            <a:pPr>
              <a:lnSpc>
                <a:spcPct val="113095"/>
              </a:lnSpc>
              <a:buNone/>
            </a:pPr>
            <a:r>
              <a:rPr lang="en-US" sz="1400" b="0" dirty="0">
                <a:solidFill>
                  <a:srgbClr val="CF222E"/>
                </a:solidFill>
                <a:effectLst/>
                <a:latin typeface="Consolas" panose="020B0609020204030204" pitchFamily="49" charset="0"/>
              </a:rPr>
              <a:t>wire signed</a:t>
            </a:r>
            <a:r>
              <a:rPr lang="en-US" sz="1400" b="0" dirty="0">
                <a:solidFill>
                  <a:srgbClr val="202020"/>
                </a:solidFill>
                <a:effectLst/>
                <a:latin typeface="Consolas" panose="020B0609020204030204" pitchFamily="49" charset="0"/>
              </a:rPr>
              <a:t> [</a:t>
            </a:r>
            <a:r>
              <a:rPr lang="en-US" sz="1400" b="0" dirty="0">
                <a:solidFill>
                  <a:srgbClr val="098658"/>
                </a:solidFill>
                <a:effectLst/>
                <a:latin typeface="Consolas" panose="020B0609020204030204" pitchFamily="49" charset="0"/>
              </a:rPr>
              <a:t>7</a:t>
            </a:r>
            <a:r>
              <a:rPr lang="en-US" sz="1400" b="0" dirty="0">
                <a:solidFill>
                  <a:srgbClr val="000000"/>
                </a:solidFill>
                <a:effectLst/>
                <a:latin typeface="Consolas" panose="020B0609020204030204" pitchFamily="49" charset="0"/>
              </a:rPr>
              <a:t>:</a:t>
            </a:r>
            <a:r>
              <a:rPr lang="en-US" sz="1400" b="0" dirty="0">
                <a:solidFill>
                  <a:srgbClr val="202020"/>
                </a:solidFill>
                <a:effectLst/>
                <a:latin typeface="Consolas" panose="020B0609020204030204" pitchFamily="49" charset="0"/>
              </a:rPr>
              <a:t> </a:t>
            </a:r>
            <a:r>
              <a:rPr lang="en-US" sz="1400" b="0" dirty="0">
                <a:solidFill>
                  <a:srgbClr val="098658"/>
                </a:solidFill>
                <a:effectLst/>
                <a:latin typeface="Consolas" panose="020B0609020204030204" pitchFamily="49" charset="0"/>
              </a:rPr>
              <a:t>0</a:t>
            </a:r>
            <a:r>
              <a:rPr lang="en-US" sz="1400" b="0" dirty="0">
                <a:solidFill>
                  <a:srgbClr val="202020"/>
                </a:solidFill>
                <a:effectLst/>
                <a:latin typeface="Consolas" panose="020B0609020204030204" pitchFamily="49" charset="0"/>
              </a:rPr>
              <a:t>] </a:t>
            </a:r>
            <a:r>
              <a:rPr lang="en-US" sz="1400" b="0" dirty="0">
                <a:solidFill>
                  <a:srgbClr val="1F2328"/>
                </a:solidFill>
                <a:effectLst/>
                <a:latin typeface="Consolas" panose="020B0609020204030204" pitchFamily="49" charset="0"/>
              </a:rPr>
              <a:t>c</a:t>
            </a:r>
            <a:r>
              <a:rPr lang="en-US" sz="1400" b="0" dirty="0">
                <a:solidFill>
                  <a:srgbClr val="202020"/>
                </a:solidFill>
                <a:effectLst/>
                <a:latin typeface="Consolas" panose="020B0609020204030204" pitchFamily="49" charset="0"/>
              </a:rPr>
              <a:t>;</a:t>
            </a:r>
          </a:p>
          <a:p>
            <a:pPr>
              <a:lnSpc>
                <a:spcPct val="113095"/>
              </a:lnSpc>
              <a:buNone/>
            </a:pPr>
            <a:r>
              <a:rPr lang="en-US" sz="1400" b="0" dirty="0">
                <a:solidFill>
                  <a:srgbClr val="CF222E"/>
                </a:solidFill>
                <a:effectLst/>
                <a:latin typeface="Consolas" panose="020B0609020204030204" pitchFamily="49" charset="0"/>
              </a:rPr>
              <a:t>wire signed</a:t>
            </a:r>
            <a:r>
              <a:rPr lang="en-US" sz="1400" b="0" dirty="0">
                <a:solidFill>
                  <a:srgbClr val="202020"/>
                </a:solidFill>
                <a:effectLst/>
                <a:latin typeface="Consolas" panose="020B0609020204030204" pitchFamily="49" charset="0"/>
              </a:rPr>
              <a:t> [</a:t>
            </a:r>
            <a:r>
              <a:rPr lang="en-US" sz="1400" b="0" dirty="0">
                <a:solidFill>
                  <a:srgbClr val="098658"/>
                </a:solidFill>
                <a:effectLst/>
                <a:latin typeface="Consolas" panose="020B0609020204030204" pitchFamily="49" charset="0"/>
              </a:rPr>
              <a:t>8</a:t>
            </a:r>
            <a:r>
              <a:rPr lang="en-US" sz="1400" b="0" dirty="0">
                <a:solidFill>
                  <a:srgbClr val="000000"/>
                </a:solidFill>
                <a:effectLst/>
                <a:latin typeface="Consolas" panose="020B0609020204030204" pitchFamily="49" charset="0"/>
              </a:rPr>
              <a:t>:</a:t>
            </a:r>
            <a:r>
              <a:rPr lang="en-US" sz="1400" b="0" dirty="0">
                <a:solidFill>
                  <a:srgbClr val="202020"/>
                </a:solidFill>
                <a:effectLst/>
                <a:latin typeface="Consolas" panose="020B0609020204030204" pitchFamily="49" charset="0"/>
              </a:rPr>
              <a:t> </a:t>
            </a:r>
            <a:r>
              <a:rPr lang="en-US" sz="1400" b="0" dirty="0">
                <a:solidFill>
                  <a:srgbClr val="098658"/>
                </a:solidFill>
                <a:effectLst/>
                <a:latin typeface="Consolas" panose="020B0609020204030204" pitchFamily="49" charset="0"/>
              </a:rPr>
              <a:t>0</a:t>
            </a:r>
            <a:r>
              <a:rPr lang="en-US" sz="1400" b="0" dirty="0">
                <a:solidFill>
                  <a:srgbClr val="202020"/>
                </a:solidFill>
                <a:effectLst/>
                <a:latin typeface="Consolas" panose="020B0609020204030204" pitchFamily="49" charset="0"/>
              </a:rPr>
              <a:t>] </a:t>
            </a:r>
            <a:r>
              <a:rPr lang="en-US" sz="1400" b="0" dirty="0">
                <a:solidFill>
                  <a:srgbClr val="1F2328"/>
                </a:solidFill>
                <a:effectLst/>
                <a:latin typeface="Consolas" panose="020B0609020204030204" pitchFamily="49" charset="0"/>
              </a:rPr>
              <a:t>d</a:t>
            </a:r>
            <a:r>
              <a:rPr lang="en-US" sz="1400" b="0" dirty="0">
                <a:solidFill>
                  <a:srgbClr val="202020"/>
                </a:solidFill>
                <a:effectLst/>
                <a:latin typeface="Consolas" panose="020B0609020204030204" pitchFamily="49" charset="0"/>
              </a:rPr>
              <a:t>;</a:t>
            </a:r>
          </a:p>
          <a:p>
            <a:pPr>
              <a:lnSpc>
                <a:spcPct val="113095"/>
              </a:lnSpc>
              <a:buNone/>
            </a:pPr>
            <a:br>
              <a:rPr lang="en-US" sz="1400" b="0" dirty="0">
                <a:solidFill>
                  <a:srgbClr val="202020"/>
                </a:solidFill>
                <a:effectLst/>
                <a:latin typeface="Consolas" panose="020B0609020204030204" pitchFamily="49" charset="0"/>
              </a:rPr>
            </a:br>
            <a:endParaRPr lang="en-US" sz="1400" b="0" dirty="0">
              <a:solidFill>
                <a:srgbClr val="202020"/>
              </a:solidFill>
              <a:effectLst/>
              <a:latin typeface="Consolas" panose="020B0609020204030204" pitchFamily="49" charset="0"/>
            </a:endParaRPr>
          </a:p>
          <a:p>
            <a:pPr>
              <a:lnSpc>
                <a:spcPct val="113095"/>
              </a:lnSpc>
              <a:buNone/>
            </a:pPr>
            <a:r>
              <a:rPr lang="en-US" sz="1400" b="0" dirty="0">
                <a:solidFill>
                  <a:srgbClr val="AF00DB"/>
                </a:solidFill>
                <a:effectLst/>
                <a:latin typeface="Consolas" panose="020B0609020204030204" pitchFamily="49" charset="0"/>
              </a:rPr>
              <a:t>assign</a:t>
            </a:r>
            <a:r>
              <a:rPr lang="en-US" sz="1400" b="0" dirty="0">
                <a:solidFill>
                  <a:srgbClr val="202020"/>
                </a:solidFill>
                <a:effectLst/>
                <a:latin typeface="Consolas" panose="020B0609020204030204" pitchFamily="49" charset="0"/>
              </a:rPr>
              <a:t> </a:t>
            </a:r>
            <a:r>
              <a:rPr lang="en-US" sz="1400" b="0" dirty="0">
                <a:solidFill>
                  <a:srgbClr val="1F2328"/>
                </a:solidFill>
                <a:effectLst/>
                <a:latin typeface="Consolas" panose="020B0609020204030204" pitchFamily="49" charset="0"/>
              </a:rPr>
              <a:t>c</a:t>
            </a:r>
            <a:r>
              <a:rPr lang="en-US" sz="1400" b="0" dirty="0">
                <a:solidFill>
                  <a:srgbClr val="202020"/>
                </a:solidFill>
                <a:effectLst/>
                <a:latin typeface="Consolas" panose="020B0609020204030204" pitchFamily="49" charset="0"/>
              </a:rPr>
              <a:t> </a:t>
            </a:r>
            <a:r>
              <a:rPr lang="en-US" sz="1400" b="0" dirty="0">
                <a:solidFill>
                  <a:srgbClr val="000000"/>
                </a:solidFill>
                <a:effectLst/>
                <a:latin typeface="Consolas" panose="020B0609020204030204" pitchFamily="49" charset="0"/>
              </a:rPr>
              <a:t>=</a:t>
            </a:r>
            <a:r>
              <a:rPr lang="en-US" sz="1400" b="0" dirty="0">
                <a:solidFill>
                  <a:srgbClr val="202020"/>
                </a:solidFill>
                <a:effectLst/>
                <a:latin typeface="Consolas" panose="020B0609020204030204" pitchFamily="49" charset="0"/>
              </a:rPr>
              <a:t> </a:t>
            </a:r>
            <a:r>
              <a:rPr lang="en-US" sz="1400" b="0" dirty="0">
                <a:solidFill>
                  <a:srgbClr val="1F2328"/>
                </a:solidFill>
                <a:effectLst/>
                <a:latin typeface="Consolas" panose="020B0609020204030204" pitchFamily="49" charset="0"/>
              </a:rPr>
              <a:t>a</a:t>
            </a:r>
            <a:r>
              <a:rPr lang="en-US" sz="1400" b="0" dirty="0">
                <a:solidFill>
                  <a:srgbClr val="202020"/>
                </a:solidFill>
                <a:effectLst/>
                <a:latin typeface="Consolas" panose="020B0609020204030204" pitchFamily="49" charset="0"/>
              </a:rPr>
              <a:t> </a:t>
            </a:r>
            <a:r>
              <a:rPr lang="en-US" sz="1400" b="0" dirty="0">
                <a:solidFill>
                  <a:srgbClr val="000000"/>
                </a:solidFill>
                <a:effectLst/>
                <a:latin typeface="Consolas" panose="020B0609020204030204" pitchFamily="49" charset="0"/>
              </a:rPr>
              <a:t>+</a:t>
            </a:r>
            <a:r>
              <a:rPr lang="en-US" sz="1400" b="0" dirty="0">
                <a:solidFill>
                  <a:srgbClr val="202020"/>
                </a:solidFill>
                <a:effectLst/>
                <a:latin typeface="Consolas" panose="020B0609020204030204" pitchFamily="49" charset="0"/>
              </a:rPr>
              <a:t> </a:t>
            </a:r>
            <a:r>
              <a:rPr lang="en-US" sz="1400" b="0" dirty="0">
                <a:solidFill>
                  <a:srgbClr val="1F2328"/>
                </a:solidFill>
                <a:effectLst/>
                <a:latin typeface="Consolas" panose="020B0609020204030204" pitchFamily="49" charset="0"/>
              </a:rPr>
              <a:t>b</a:t>
            </a:r>
            <a:r>
              <a:rPr lang="en-US" sz="1400" b="0" dirty="0">
                <a:solidFill>
                  <a:srgbClr val="202020"/>
                </a:solidFill>
                <a:effectLst/>
                <a:latin typeface="Consolas" panose="020B0609020204030204" pitchFamily="49" charset="0"/>
              </a:rPr>
              <a:t>;</a:t>
            </a:r>
          </a:p>
          <a:p>
            <a:pPr>
              <a:lnSpc>
                <a:spcPct val="113095"/>
              </a:lnSpc>
              <a:buNone/>
            </a:pPr>
            <a:r>
              <a:rPr lang="en-US" sz="1400" b="0" dirty="0">
                <a:solidFill>
                  <a:srgbClr val="AF00DB"/>
                </a:solidFill>
                <a:effectLst/>
                <a:latin typeface="Consolas" panose="020B0609020204030204" pitchFamily="49" charset="0"/>
              </a:rPr>
              <a:t>assign</a:t>
            </a:r>
            <a:r>
              <a:rPr lang="en-US" sz="1400" b="0" dirty="0">
                <a:solidFill>
                  <a:srgbClr val="202020"/>
                </a:solidFill>
                <a:effectLst/>
                <a:latin typeface="Consolas" panose="020B0609020204030204" pitchFamily="49" charset="0"/>
              </a:rPr>
              <a:t> </a:t>
            </a:r>
            <a:r>
              <a:rPr lang="en-US" sz="1400" b="0" dirty="0">
                <a:solidFill>
                  <a:srgbClr val="1F2328"/>
                </a:solidFill>
                <a:effectLst/>
                <a:latin typeface="Consolas" panose="020B0609020204030204" pitchFamily="49" charset="0"/>
              </a:rPr>
              <a:t>d</a:t>
            </a:r>
            <a:r>
              <a:rPr lang="en-US" sz="1400" b="0" dirty="0">
                <a:solidFill>
                  <a:srgbClr val="202020"/>
                </a:solidFill>
                <a:effectLst/>
                <a:latin typeface="Consolas" panose="020B0609020204030204" pitchFamily="49" charset="0"/>
              </a:rPr>
              <a:t> </a:t>
            </a:r>
            <a:r>
              <a:rPr lang="en-US" sz="1400" b="0" dirty="0">
                <a:solidFill>
                  <a:srgbClr val="000000"/>
                </a:solidFill>
                <a:effectLst/>
                <a:latin typeface="Consolas" panose="020B0609020204030204" pitchFamily="49" charset="0"/>
              </a:rPr>
              <a:t>=</a:t>
            </a:r>
            <a:r>
              <a:rPr lang="en-US" sz="1400" b="0" dirty="0">
                <a:solidFill>
                  <a:srgbClr val="202020"/>
                </a:solidFill>
                <a:effectLst/>
                <a:latin typeface="Consolas" panose="020B0609020204030204" pitchFamily="49" charset="0"/>
              </a:rPr>
              <a:t> </a:t>
            </a:r>
            <a:r>
              <a:rPr lang="en-US" sz="1400" b="0" dirty="0">
                <a:solidFill>
                  <a:srgbClr val="1F2328"/>
                </a:solidFill>
                <a:effectLst/>
                <a:latin typeface="Consolas" panose="020B0609020204030204" pitchFamily="49" charset="0"/>
              </a:rPr>
              <a:t>a</a:t>
            </a:r>
            <a:r>
              <a:rPr lang="en-US" sz="1400" b="0" dirty="0">
                <a:solidFill>
                  <a:srgbClr val="202020"/>
                </a:solidFill>
                <a:effectLst/>
                <a:latin typeface="Consolas" panose="020B0609020204030204" pitchFamily="49" charset="0"/>
              </a:rPr>
              <a:t> </a:t>
            </a:r>
            <a:r>
              <a:rPr lang="en-US" sz="1400" b="0" dirty="0">
                <a:solidFill>
                  <a:srgbClr val="000000"/>
                </a:solidFill>
                <a:effectLst/>
                <a:latin typeface="Consolas" panose="020B0609020204030204" pitchFamily="49" charset="0"/>
              </a:rPr>
              <a:t>+</a:t>
            </a:r>
            <a:r>
              <a:rPr lang="en-US" sz="1400" b="0" dirty="0">
                <a:solidFill>
                  <a:srgbClr val="202020"/>
                </a:solidFill>
                <a:effectLst/>
                <a:latin typeface="Consolas" panose="020B0609020204030204" pitchFamily="49" charset="0"/>
              </a:rPr>
              <a:t> </a:t>
            </a:r>
            <a:r>
              <a:rPr lang="en-US" sz="1400" b="0" dirty="0">
                <a:solidFill>
                  <a:srgbClr val="1F2328"/>
                </a:solidFill>
                <a:effectLst/>
                <a:latin typeface="Consolas" panose="020B0609020204030204" pitchFamily="49" charset="0"/>
              </a:rPr>
              <a:t>b</a:t>
            </a:r>
            <a:r>
              <a:rPr lang="en-US" sz="1400" b="0" dirty="0">
                <a:solidFill>
                  <a:srgbClr val="202020"/>
                </a:solidFill>
                <a:effectLst/>
                <a:latin typeface="Consolas" panose="020B0609020204030204" pitchFamily="49" charset="0"/>
              </a:rPr>
              <a:t>;</a:t>
            </a:r>
          </a:p>
        </p:txBody>
      </p:sp>
      <p:sp>
        <p:nvSpPr>
          <p:cNvPr id="13" name="TextBox 12">
            <a:extLst>
              <a:ext uri="{FF2B5EF4-FFF2-40B4-BE49-F238E27FC236}">
                <a16:creationId xmlns:a16="http://schemas.microsoft.com/office/drawing/2014/main" id="{9DDA89AA-CD14-054F-9352-D1FDC92DFBE1}"/>
              </a:ext>
            </a:extLst>
          </p:cNvPr>
          <p:cNvSpPr txBox="1"/>
          <p:nvPr/>
        </p:nvSpPr>
        <p:spPr>
          <a:xfrm>
            <a:off x="393192" y="3724717"/>
            <a:ext cx="2847254" cy="369332"/>
          </a:xfrm>
          <a:prstGeom prst="rect">
            <a:avLst/>
          </a:prstGeom>
          <a:noFill/>
        </p:spPr>
        <p:txBody>
          <a:bodyPr wrap="none" rtlCol="0">
            <a:spAutoFit/>
          </a:bodyPr>
          <a:lstStyle/>
          <a:p>
            <a:r>
              <a:rPr lang="ru-RU" dirty="0"/>
              <a:t>(Расширение разрядности)</a:t>
            </a:r>
            <a:endParaRPr lang="en-US" dirty="0"/>
          </a:p>
        </p:txBody>
      </p:sp>
      <p:sp>
        <p:nvSpPr>
          <p:cNvPr id="16" name="TextBox 15">
            <a:extLst>
              <a:ext uri="{FF2B5EF4-FFF2-40B4-BE49-F238E27FC236}">
                <a16:creationId xmlns:a16="http://schemas.microsoft.com/office/drawing/2014/main" id="{5859DEC1-D74E-F9C8-D3ED-25A2B44DEAA1}"/>
              </a:ext>
            </a:extLst>
          </p:cNvPr>
          <p:cNvSpPr txBox="1"/>
          <p:nvPr/>
        </p:nvSpPr>
        <p:spPr>
          <a:xfrm>
            <a:off x="4036484" y="3724717"/>
            <a:ext cx="2477858" cy="369332"/>
          </a:xfrm>
          <a:prstGeom prst="rect">
            <a:avLst/>
          </a:prstGeom>
          <a:noFill/>
        </p:spPr>
        <p:txBody>
          <a:bodyPr wrap="none" rtlCol="0">
            <a:spAutoFit/>
          </a:bodyPr>
          <a:lstStyle/>
          <a:p>
            <a:r>
              <a:rPr lang="ru-RU" dirty="0"/>
              <a:t>(Знаковая арифметика)</a:t>
            </a:r>
            <a:endParaRPr lang="en-US" dirty="0"/>
          </a:p>
        </p:txBody>
      </p:sp>
    </p:spTree>
    <p:extLst>
      <p:ext uri="{BB962C8B-B14F-4D97-AF65-F5344CB8AC3E}">
        <p14:creationId xmlns:p14="http://schemas.microsoft.com/office/powerpoint/2010/main" val="376193015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FB7ABB7-8BB7-4F53-51E1-71B5C88B35D4}"/>
              </a:ext>
            </a:extLst>
          </p:cNvPr>
          <p:cNvPicPr>
            <a:picLocks noChangeAspect="1"/>
          </p:cNvPicPr>
          <p:nvPr/>
        </p:nvPicPr>
        <p:blipFill>
          <a:blip r:embed="rId2"/>
          <a:stretch>
            <a:fillRect/>
          </a:stretch>
        </p:blipFill>
        <p:spPr>
          <a:xfrm>
            <a:off x="795267" y="176570"/>
            <a:ext cx="9345429" cy="6051080"/>
          </a:xfrm>
          <a:prstGeom prst="rect">
            <a:avLst/>
          </a:prstGeom>
        </p:spPr>
      </p:pic>
    </p:spTree>
    <p:extLst>
      <p:ext uri="{BB962C8B-B14F-4D97-AF65-F5344CB8AC3E}">
        <p14:creationId xmlns:p14="http://schemas.microsoft.com/office/powerpoint/2010/main" val="161023260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733D14F-9D63-2D53-9416-878732D8D0DB}"/>
              </a:ext>
            </a:extLst>
          </p:cNvPr>
          <p:cNvPicPr>
            <a:picLocks noChangeAspect="1"/>
          </p:cNvPicPr>
          <p:nvPr/>
        </p:nvPicPr>
        <p:blipFill>
          <a:blip r:embed="rId2"/>
          <a:stretch>
            <a:fillRect/>
          </a:stretch>
        </p:blipFill>
        <p:spPr>
          <a:xfrm>
            <a:off x="466083" y="273454"/>
            <a:ext cx="10458747" cy="6311092"/>
          </a:xfrm>
          <a:prstGeom prst="rect">
            <a:avLst/>
          </a:prstGeom>
        </p:spPr>
      </p:pic>
    </p:spTree>
    <p:extLst>
      <p:ext uri="{BB962C8B-B14F-4D97-AF65-F5344CB8AC3E}">
        <p14:creationId xmlns:p14="http://schemas.microsoft.com/office/powerpoint/2010/main" val="313133045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868A9B-7C82-BA4F-BAD9-1C0C987A4360}"/>
            </a:ext>
          </a:extLst>
        </p:cNvPr>
        <p:cNvGrpSpPr/>
        <p:nvPr/>
      </p:nvGrpSpPr>
      <p:grpSpPr>
        <a:xfrm>
          <a:off x="0" y="0"/>
          <a:ext cx="0" cy="0"/>
          <a:chOff x="0" y="0"/>
          <a:chExt cx="0" cy="0"/>
        </a:xfrm>
      </p:grpSpPr>
      <p:sp>
        <p:nvSpPr>
          <p:cNvPr id="26" name="text_59">
            <a:extLst>
              <a:ext uri="{FF2B5EF4-FFF2-40B4-BE49-F238E27FC236}">
                <a16:creationId xmlns:a16="http://schemas.microsoft.com/office/drawing/2014/main" id="{E411CF21-F489-289B-1CAB-28EBB48CB225}"/>
              </a:ext>
            </a:extLst>
          </p:cNvPr>
          <p:cNvSpPr>
            <a:spLocks noGrp="1"/>
          </p:cNvSpPr>
          <p:nvPr/>
        </p:nvSpPr>
        <p:spPr>
          <a:xfrm>
            <a:off x="457200" y="333375"/>
            <a:ext cx="11277600" cy="762000"/>
          </a:xfrm>
          <a:prstGeom prst="rect">
            <a:avLst/>
          </a:prstGeom>
          <a:noFill/>
          <a:ln w="0">
            <a:noFill/>
          </a:ln>
        </p:spPr>
        <p:txBody>
          <a:bodyPr wrap="square" lIns="0" tIns="0" rIns="0" bIns="0">
            <a:noAutofit/>
          </a:bodyPr>
          <a:lstStyle/>
          <a:p>
            <a:pPr>
              <a:defRPr sz="3225" b="1">
                <a:solidFill>
                  <a:srgbClr val="182530"/>
                </a:solidFill>
                <a:latin typeface="Arial"/>
                <a:ea typeface="Arial"/>
                <a:cs typeface="Arial"/>
              </a:defRPr>
            </a:pPr>
            <a:r>
              <a:rPr lang="ru-RU" sz="3225" b="1" dirty="0">
                <a:solidFill>
                  <a:srgbClr val="182530"/>
                </a:solidFill>
                <a:latin typeface="Arial"/>
                <a:ea typeface="Arial"/>
                <a:cs typeface="Arial"/>
              </a:rPr>
              <a:t>Пример простого проекта</a:t>
            </a:r>
          </a:p>
        </p:txBody>
      </p:sp>
      <p:sp>
        <p:nvSpPr>
          <p:cNvPr id="2" name="line_60">
            <a:extLst>
              <a:ext uri="{FF2B5EF4-FFF2-40B4-BE49-F238E27FC236}">
                <a16:creationId xmlns:a16="http://schemas.microsoft.com/office/drawing/2014/main" id="{AF7D64FD-F9F0-42FA-1D86-7A82ED0DD321}"/>
              </a:ext>
            </a:extLst>
          </p:cNvPr>
          <p:cNvSpPr>
            <a:spLocks noGrp="1"/>
          </p:cNvSpPr>
          <p:nvPr/>
        </p:nvSpPr>
        <p:spPr>
          <a:xfrm>
            <a:off x="457200" y="1133475"/>
            <a:ext cx="11277600" cy="0"/>
          </a:xfrm>
          <a:prstGeom prst="line">
            <a:avLst/>
          </a:prstGeom>
          <a:noFill/>
          <a:ln w="9525">
            <a:solidFill>
              <a:srgbClr val="B9C4CC"/>
            </a:solidFill>
          </a:ln>
        </p:spPr>
        <p:txBody>
          <a:bodyPr/>
          <a:lstStyle/>
          <a:p>
            <a:endParaRPr lang="en-US"/>
          </a:p>
        </p:txBody>
      </p:sp>
      <p:sp>
        <p:nvSpPr>
          <p:cNvPr id="4" name="text_62">
            <a:extLst>
              <a:ext uri="{FF2B5EF4-FFF2-40B4-BE49-F238E27FC236}">
                <a16:creationId xmlns:a16="http://schemas.microsoft.com/office/drawing/2014/main" id="{D1F54333-A212-F9C2-E30A-D1E4B6461A6E}"/>
              </a:ext>
            </a:extLst>
          </p:cNvPr>
          <p:cNvSpPr>
            <a:spLocks noGrp="1"/>
          </p:cNvSpPr>
          <p:nvPr/>
        </p:nvSpPr>
        <p:spPr>
          <a:xfrm>
            <a:off x="11220450" y="6343650"/>
            <a:ext cx="514350" cy="304800"/>
          </a:xfrm>
          <a:prstGeom prst="rect">
            <a:avLst/>
          </a:prstGeom>
          <a:noFill/>
          <a:ln w="0">
            <a:noFill/>
          </a:ln>
        </p:spPr>
        <p:txBody>
          <a:bodyPr wrap="square" lIns="0" tIns="0" rIns="0" bIns="0">
            <a:noAutofit/>
          </a:bodyPr>
          <a:lstStyle/>
          <a:p>
            <a:pPr algn="r">
              <a:defRPr sz="1500">
                <a:solidFill>
                  <a:srgbClr val="56616A"/>
                </a:solidFill>
                <a:latin typeface="Arial"/>
                <a:ea typeface="Arial"/>
                <a:cs typeface="Arial"/>
              </a:defRPr>
            </a:pPr>
            <a:r>
              <a:rPr sz="1500">
                <a:solidFill>
                  <a:srgbClr val="56616A"/>
                </a:solidFill>
                <a:latin typeface="Arial"/>
                <a:ea typeface="Arial"/>
                <a:cs typeface="Arial"/>
              </a:rPr>
              <a:t>04</a:t>
            </a:r>
          </a:p>
        </p:txBody>
      </p:sp>
      <p:grpSp>
        <p:nvGrpSpPr>
          <p:cNvPr id="3" name="Group 2">
            <a:extLst>
              <a:ext uri="{FF2B5EF4-FFF2-40B4-BE49-F238E27FC236}">
                <a16:creationId xmlns:a16="http://schemas.microsoft.com/office/drawing/2014/main" id="{7538D65F-F7F7-5713-F1A4-DF63D152465E}"/>
              </a:ext>
            </a:extLst>
          </p:cNvPr>
          <p:cNvGrpSpPr/>
          <p:nvPr/>
        </p:nvGrpSpPr>
        <p:grpSpPr>
          <a:xfrm>
            <a:off x="4352890" y="3429000"/>
            <a:ext cx="6964885" cy="2022922"/>
            <a:chOff x="2085178" y="3312127"/>
            <a:chExt cx="6964885" cy="2022922"/>
          </a:xfrm>
        </p:grpSpPr>
        <p:pic>
          <p:nvPicPr>
            <p:cNvPr id="6" name="Picture 5">
              <a:extLst>
                <a:ext uri="{FF2B5EF4-FFF2-40B4-BE49-F238E27FC236}">
                  <a16:creationId xmlns:a16="http://schemas.microsoft.com/office/drawing/2014/main" id="{49280422-70E6-7D2E-5BC1-B0F726E80A9F}"/>
                </a:ext>
              </a:extLst>
            </p:cNvPr>
            <p:cNvPicPr>
              <a:picLocks noChangeAspect="1"/>
            </p:cNvPicPr>
            <p:nvPr/>
          </p:nvPicPr>
          <p:blipFill>
            <a:blip r:embed="rId3"/>
            <a:stretch>
              <a:fillRect/>
            </a:stretch>
          </p:blipFill>
          <p:spPr>
            <a:xfrm>
              <a:off x="2085178" y="3312127"/>
              <a:ext cx="6964885" cy="2022922"/>
            </a:xfrm>
            <a:prstGeom prst="rect">
              <a:avLst/>
            </a:prstGeom>
          </p:spPr>
        </p:pic>
        <p:sp>
          <p:nvSpPr>
            <p:cNvPr id="7" name="TextBox 6">
              <a:extLst>
                <a:ext uri="{FF2B5EF4-FFF2-40B4-BE49-F238E27FC236}">
                  <a16:creationId xmlns:a16="http://schemas.microsoft.com/office/drawing/2014/main" id="{3D4D8FC8-D4B0-346F-9EA5-1FDDD5CF54FA}"/>
                </a:ext>
              </a:extLst>
            </p:cNvPr>
            <p:cNvSpPr txBox="1"/>
            <p:nvPr/>
          </p:nvSpPr>
          <p:spPr>
            <a:xfrm>
              <a:off x="4325198" y="4934763"/>
              <a:ext cx="2484847" cy="276999"/>
            </a:xfrm>
            <a:prstGeom prst="rect">
              <a:avLst/>
            </a:prstGeom>
            <a:noFill/>
          </p:spPr>
          <p:txBody>
            <a:bodyPr wrap="none" rtlCol="0">
              <a:spAutoFit/>
            </a:bodyPr>
            <a:lstStyle/>
            <a:p>
              <a:r>
                <a:rPr lang="ru-RU" sz="1200" dirty="0"/>
                <a:t>(Здесь могла бы быть ваша логика)</a:t>
              </a:r>
              <a:endParaRPr lang="en-US" sz="1200" dirty="0"/>
            </a:p>
          </p:txBody>
        </p:sp>
      </p:grpSp>
      <p:sp>
        <p:nvSpPr>
          <p:cNvPr id="8" name="TextBox 7">
            <a:extLst>
              <a:ext uri="{FF2B5EF4-FFF2-40B4-BE49-F238E27FC236}">
                <a16:creationId xmlns:a16="http://schemas.microsoft.com/office/drawing/2014/main" id="{1551D430-A354-7316-7D1C-ABC14958502D}"/>
              </a:ext>
            </a:extLst>
          </p:cNvPr>
          <p:cNvSpPr txBox="1"/>
          <p:nvPr/>
        </p:nvSpPr>
        <p:spPr>
          <a:xfrm>
            <a:off x="457200" y="1390650"/>
            <a:ext cx="4758995" cy="923330"/>
          </a:xfrm>
          <a:prstGeom prst="rect">
            <a:avLst/>
          </a:prstGeom>
          <a:noFill/>
        </p:spPr>
        <p:txBody>
          <a:bodyPr wrap="none" rtlCol="0">
            <a:spAutoFit/>
          </a:bodyPr>
          <a:lstStyle/>
          <a:p>
            <a:r>
              <a:rPr lang="ru-RU" b="1" dirty="0"/>
              <a:t>Описание</a:t>
            </a:r>
            <a:r>
              <a:rPr lang="en-US" b="1" dirty="0"/>
              <a:t>:</a:t>
            </a:r>
            <a:endParaRPr lang="ru-RU" b="1" dirty="0"/>
          </a:p>
          <a:p>
            <a:pPr marL="285750" indent="-285750">
              <a:buFont typeface="Arial" panose="020B0604020202020204" pitchFamily="34" charset="0"/>
              <a:buChar char="•"/>
            </a:pPr>
            <a:r>
              <a:rPr lang="ru-RU" dirty="0"/>
              <a:t>Нажаты обе кнопки – светодиод горит</a:t>
            </a:r>
            <a:endParaRPr lang="en-US" dirty="0"/>
          </a:p>
          <a:p>
            <a:pPr marL="285750" indent="-285750">
              <a:buFont typeface="Arial" panose="020B0604020202020204" pitchFamily="34" charset="0"/>
              <a:buChar char="•"/>
            </a:pPr>
            <a:r>
              <a:rPr lang="ru-RU" dirty="0"/>
              <a:t>В любом другом случае светодиод не горит</a:t>
            </a:r>
            <a:endParaRPr lang="en-US" dirty="0"/>
          </a:p>
        </p:txBody>
      </p:sp>
      <p:sp>
        <p:nvSpPr>
          <p:cNvPr id="9" name="TextBox 8">
            <a:extLst>
              <a:ext uri="{FF2B5EF4-FFF2-40B4-BE49-F238E27FC236}">
                <a16:creationId xmlns:a16="http://schemas.microsoft.com/office/drawing/2014/main" id="{8431DAC6-98AD-5780-D2A2-3395B6B1ED32}"/>
              </a:ext>
            </a:extLst>
          </p:cNvPr>
          <p:cNvSpPr txBox="1"/>
          <p:nvPr/>
        </p:nvSpPr>
        <p:spPr>
          <a:xfrm>
            <a:off x="457200" y="3092469"/>
            <a:ext cx="3493354" cy="2512291"/>
          </a:xfrm>
          <a:prstGeom prst="rect">
            <a:avLst/>
          </a:prstGeom>
          <a:noFill/>
        </p:spPr>
        <p:txBody>
          <a:bodyPr wrap="square">
            <a:spAutoFit/>
          </a:bodyPr>
          <a:lstStyle/>
          <a:p>
            <a:pPr>
              <a:lnSpc>
                <a:spcPct val="113095"/>
              </a:lnSpc>
              <a:buNone/>
            </a:pPr>
            <a:r>
              <a:rPr lang="en-US" sz="1400" b="0" dirty="0">
                <a:solidFill>
                  <a:srgbClr val="CF222E"/>
                </a:solidFill>
                <a:effectLst/>
                <a:latin typeface="Consolas" panose="020B0609020204030204" pitchFamily="49" charset="0"/>
              </a:rPr>
              <a:t>module</a:t>
            </a:r>
            <a:r>
              <a:rPr lang="en-US" sz="1400" b="0" dirty="0">
                <a:solidFill>
                  <a:srgbClr val="1F2328"/>
                </a:solidFill>
                <a:effectLst/>
                <a:latin typeface="Consolas" panose="020B0609020204030204" pitchFamily="49" charset="0"/>
              </a:rPr>
              <a:t> </a:t>
            </a:r>
            <a:r>
              <a:rPr lang="en-US" sz="1400" b="0" dirty="0">
                <a:solidFill>
                  <a:srgbClr val="267F99"/>
                </a:solidFill>
                <a:effectLst/>
                <a:latin typeface="Consolas" panose="020B0609020204030204" pitchFamily="49" charset="0"/>
              </a:rPr>
              <a:t>top</a:t>
            </a:r>
            <a:r>
              <a:rPr lang="en-US" sz="1400" b="0" dirty="0">
                <a:solidFill>
                  <a:srgbClr val="1F2328"/>
                </a:solidFill>
                <a:effectLst/>
                <a:latin typeface="Consolas" panose="020B0609020204030204" pitchFamily="49" charset="0"/>
              </a:rPr>
              <a:t> (</a:t>
            </a:r>
            <a:endParaRPr lang="en-US" sz="1400" b="0" dirty="0">
              <a:solidFill>
                <a:srgbClr val="202020"/>
              </a:solidFill>
              <a:effectLst/>
              <a:latin typeface="Consolas" panose="020B0609020204030204" pitchFamily="49" charset="0"/>
            </a:endParaRPr>
          </a:p>
          <a:p>
            <a:pPr>
              <a:lnSpc>
                <a:spcPct val="113095"/>
              </a:lnSpc>
              <a:buNone/>
            </a:pPr>
            <a:r>
              <a:rPr lang="en-US" sz="1400" b="0" dirty="0">
                <a:solidFill>
                  <a:srgbClr val="1F2328"/>
                </a:solidFill>
                <a:effectLst/>
                <a:latin typeface="Consolas" panose="020B0609020204030204" pitchFamily="49" charset="0"/>
              </a:rPr>
              <a:t>    </a:t>
            </a:r>
            <a:r>
              <a:rPr lang="en-US" sz="1400" b="0" dirty="0">
                <a:solidFill>
                  <a:srgbClr val="CF222E"/>
                </a:solidFill>
                <a:effectLst/>
                <a:latin typeface="Consolas" panose="020B0609020204030204" pitchFamily="49" charset="0"/>
              </a:rPr>
              <a:t>input</a:t>
            </a:r>
            <a:r>
              <a:rPr lang="en-US" sz="1400" b="0" dirty="0">
                <a:solidFill>
                  <a:srgbClr val="1F2328"/>
                </a:solidFill>
                <a:effectLst/>
                <a:latin typeface="Consolas" panose="020B0609020204030204" pitchFamily="49" charset="0"/>
              </a:rPr>
              <a:t> btn_1, btn_2,</a:t>
            </a:r>
            <a:endParaRPr lang="en-US" sz="1400" b="0" dirty="0">
              <a:solidFill>
                <a:srgbClr val="202020"/>
              </a:solidFill>
              <a:effectLst/>
              <a:latin typeface="Consolas" panose="020B0609020204030204" pitchFamily="49" charset="0"/>
            </a:endParaRPr>
          </a:p>
          <a:p>
            <a:pPr>
              <a:lnSpc>
                <a:spcPct val="113095"/>
              </a:lnSpc>
              <a:buNone/>
            </a:pPr>
            <a:r>
              <a:rPr lang="en-US" sz="1400" b="0" dirty="0">
                <a:solidFill>
                  <a:srgbClr val="1F2328"/>
                </a:solidFill>
                <a:effectLst/>
                <a:latin typeface="Consolas" panose="020B0609020204030204" pitchFamily="49" charset="0"/>
              </a:rPr>
              <a:t>    </a:t>
            </a:r>
            <a:r>
              <a:rPr lang="en-US" sz="1400" b="0" dirty="0">
                <a:solidFill>
                  <a:srgbClr val="CF222E"/>
                </a:solidFill>
                <a:effectLst/>
                <a:latin typeface="Consolas" panose="020B0609020204030204" pitchFamily="49" charset="0"/>
              </a:rPr>
              <a:t>output</a:t>
            </a:r>
            <a:r>
              <a:rPr lang="en-US" sz="1400" b="0" dirty="0">
                <a:solidFill>
                  <a:srgbClr val="1F2328"/>
                </a:solidFill>
                <a:effectLst/>
                <a:latin typeface="Consolas" panose="020B0609020204030204" pitchFamily="49" charset="0"/>
              </a:rPr>
              <a:t> led</a:t>
            </a:r>
            <a:endParaRPr lang="en-US" sz="1400" b="0" dirty="0">
              <a:solidFill>
                <a:srgbClr val="202020"/>
              </a:solidFill>
              <a:effectLst/>
              <a:latin typeface="Consolas" panose="020B0609020204030204" pitchFamily="49" charset="0"/>
            </a:endParaRPr>
          </a:p>
          <a:p>
            <a:pPr>
              <a:lnSpc>
                <a:spcPct val="113095"/>
              </a:lnSpc>
              <a:buNone/>
            </a:pPr>
            <a:r>
              <a:rPr lang="en-US" sz="1400" b="0" dirty="0">
                <a:solidFill>
                  <a:srgbClr val="1F2328"/>
                </a:solidFill>
                <a:effectLst/>
                <a:latin typeface="Consolas" panose="020B0609020204030204" pitchFamily="49" charset="0"/>
              </a:rPr>
              <a:t>);</a:t>
            </a:r>
            <a:endParaRPr lang="en-US" sz="1400" b="0" dirty="0">
              <a:solidFill>
                <a:srgbClr val="202020"/>
              </a:solidFill>
              <a:effectLst/>
              <a:latin typeface="Consolas" panose="020B0609020204030204" pitchFamily="49" charset="0"/>
            </a:endParaRPr>
          </a:p>
          <a:p>
            <a:pPr>
              <a:lnSpc>
                <a:spcPct val="113095"/>
              </a:lnSpc>
              <a:buNone/>
            </a:pPr>
            <a:r>
              <a:rPr lang="en-US" sz="1400" b="0" dirty="0">
                <a:solidFill>
                  <a:srgbClr val="1F2328"/>
                </a:solidFill>
                <a:effectLst/>
                <a:latin typeface="Consolas" panose="020B0609020204030204" pitchFamily="49" charset="0"/>
              </a:rPr>
              <a:t>    </a:t>
            </a:r>
            <a:endParaRPr lang="en-US" sz="1400" b="0" dirty="0">
              <a:solidFill>
                <a:srgbClr val="202020"/>
              </a:solidFill>
              <a:effectLst/>
              <a:latin typeface="Consolas" panose="020B0609020204030204" pitchFamily="49" charset="0"/>
            </a:endParaRPr>
          </a:p>
          <a:p>
            <a:pPr>
              <a:lnSpc>
                <a:spcPct val="113095"/>
              </a:lnSpc>
              <a:buNone/>
            </a:pPr>
            <a:r>
              <a:rPr lang="en-US" sz="1400" b="0" dirty="0">
                <a:solidFill>
                  <a:srgbClr val="1F2328"/>
                </a:solidFill>
                <a:effectLst/>
                <a:latin typeface="Consolas" panose="020B0609020204030204" pitchFamily="49" charset="0"/>
              </a:rPr>
              <a:t>    </a:t>
            </a:r>
            <a:r>
              <a:rPr lang="en-US" sz="1400" b="0" dirty="0">
                <a:solidFill>
                  <a:srgbClr val="CF222E"/>
                </a:solidFill>
                <a:effectLst/>
                <a:latin typeface="Consolas" panose="020B0609020204030204" pitchFamily="49" charset="0"/>
              </a:rPr>
              <a:t>assign</a:t>
            </a:r>
            <a:r>
              <a:rPr lang="en-US" sz="1400" b="0" dirty="0">
                <a:solidFill>
                  <a:srgbClr val="1F2328"/>
                </a:solidFill>
                <a:effectLst/>
                <a:latin typeface="Consolas" panose="020B0609020204030204" pitchFamily="49" charset="0"/>
              </a:rPr>
              <a:t> led </a:t>
            </a:r>
            <a:r>
              <a:rPr lang="en-US" sz="1400" b="0" dirty="0">
                <a:solidFill>
                  <a:srgbClr val="000000"/>
                </a:solidFill>
                <a:effectLst/>
                <a:latin typeface="Consolas" panose="020B0609020204030204" pitchFamily="49" charset="0"/>
              </a:rPr>
              <a:t>=</a:t>
            </a:r>
            <a:r>
              <a:rPr lang="en-US" sz="1400" b="0" dirty="0">
                <a:solidFill>
                  <a:srgbClr val="1F2328"/>
                </a:solidFill>
                <a:effectLst/>
                <a:latin typeface="Consolas" panose="020B0609020204030204" pitchFamily="49" charset="0"/>
              </a:rPr>
              <a:t> btn_1 </a:t>
            </a:r>
            <a:r>
              <a:rPr lang="en-US" sz="1400" b="0" dirty="0">
                <a:solidFill>
                  <a:srgbClr val="000000"/>
                </a:solidFill>
                <a:effectLst/>
                <a:latin typeface="Consolas" panose="020B0609020204030204" pitchFamily="49" charset="0"/>
              </a:rPr>
              <a:t>&amp;</a:t>
            </a:r>
            <a:r>
              <a:rPr lang="en-US" sz="1400" b="0" dirty="0">
                <a:solidFill>
                  <a:srgbClr val="1F2328"/>
                </a:solidFill>
                <a:effectLst/>
                <a:latin typeface="Consolas" panose="020B0609020204030204" pitchFamily="49" charset="0"/>
              </a:rPr>
              <a:t> btn_2;</a:t>
            </a:r>
            <a:endParaRPr lang="en-US" sz="1400" b="0" dirty="0">
              <a:solidFill>
                <a:srgbClr val="202020"/>
              </a:solidFill>
              <a:effectLst/>
              <a:latin typeface="Consolas" panose="020B0609020204030204" pitchFamily="49" charset="0"/>
            </a:endParaRPr>
          </a:p>
          <a:p>
            <a:pPr>
              <a:lnSpc>
                <a:spcPct val="113095"/>
              </a:lnSpc>
              <a:buNone/>
            </a:pPr>
            <a:r>
              <a:rPr lang="en-US" sz="1400" b="0" dirty="0">
                <a:solidFill>
                  <a:srgbClr val="1F2328"/>
                </a:solidFill>
                <a:effectLst/>
                <a:latin typeface="Consolas" panose="020B0609020204030204" pitchFamily="49" charset="0"/>
              </a:rPr>
              <a:t>    </a:t>
            </a:r>
            <a:endParaRPr lang="en-US" sz="1400" b="0" dirty="0">
              <a:solidFill>
                <a:srgbClr val="202020"/>
              </a:solidFill>
              <a:effectLst/>
              <a:latin typeface="Consolas" panose="020B0609020204030204" pitchFamily="49" charset="0"/>
            </a:endParaRPr>
          </a:p>
          <a:p>
            <a:pPr>
              <a:lnSpc>
                <a:spcPct val="113095"/>
              </a:lnSpc>
              <a:buNone/>
            </a:pPr>
            <a:r>
              <a:rPr lang="en-US" sz="1400" b="0" dirty="0">
                <a:solidFill>
                  <a:srgbClr val="CF222E"/>
                </a:solidFill>
                <a:effectLst/>
                <a:latin typeface="Consolas" panose="020B0609020204030204" pitchFamily="49" charset="0"/>
              </a:rPr>
              <a:t>endmodule</a:t>
            </a:r>
            <a:endParaRPr lang="en-US" sz="1400" b="0" dirty="0">
              <a:solidFill>
                <a:srgbClr val="202020"/>
              </a:solidFill>
              <a:effectLst/>
              <a:latin typeface="Consolas" panose="020B0609020204030204" pitchFamily="49" charset="0"/>
            </a:endParaRPr>
          </a:p>
          <a:p>
            <a:pPr>
              <a:lnSpc>
                <a:spcPct val="113095"/>
              </a:lnSpc>
              <a:buNone/>
            </a:pPr>
            <a:br>
              <a:rPr lang="en-US" sz="1400" b="0" dirty="0">
                <a:solidFill>
                  <a:srgbClr val="202020"/>
                </a:solidFill>
                <a:effectLst/>
                <a:latin typeface="Consolas" panose="020B0609020204030204" pitchFamily="49" charset="0"/>
              </a:rPr>
            </a:br>
            <a:endParaRPr lang="en-US" sz="1400" b="0" dirty="0">
              <a:solidFill>
                <a:srgbClr val="202020"/>
              </a:solidFill>
              <a:effectLst/>
              <a:latin typeface="Consolas" panose="020B0609020204030204" pitchFamily="49" charset="0"/>
            </a:endParaRPr>
          </a:p>
        </p:txBody>
      </p:sp>
    </p:spTree>
    <p:extLst>
      <p:ext uri="{BB962C8B-B14F-4D97-AF65-F5344CB8AC3E}">
        <p14:creationId xmlns:p14="http://schemas.microsoft.com/office/powerpoint/2010/main" val="417465966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A04AD4-BD93-52E9-E2C3-725457BE865D}"/>
            </a:ext>
          </a:extLst>
        </p:cNvPr>
        <p:cNvGrpSpPr/>
        <p:nvPr/>
      </p:nvGrpSpPr>
      <p:grpSpPr>
        <a:xfrm>
          <a:off x="0" y="0"/>
          <a:ext cx="0" cy="0"/>
          <a:chOff x="0" y="0"/>
          <a:chExt cx="0" cy="0"/>
        </a:xfrm>
      </p:grpSpPr>
      <p:sp>
        <p:nvSpPr>
          <p:cNvPr id="26" name="text_59">
            <a:extLst>
              <a:ext uri="{FF2B5EF4-FFF2-40B4-BE49-F238E27FC236}">
                <a16:creationId xmlns:a16="http://schemas.microsoft.com/office/drawing/2014/main" id="{3A8C79CA-73D5-3286-E318-7555EA7BA293}"/>
              </a:ext>
            </a:extLst>
          </p:cNvPr>
          <p:cNvSpPr>
            <a:spLocks noGrp="1"/>
          </p:cNvSpPr>
          <p:nvPr/>
        </p:nvSpPr>
        <p:spPr>
          <a:xfrm>
            <a:off x="457200" y="333375"/>
            <a:ext cx="11277600" cy="762000"/>
          </a:xfrm>
          <a:prstGeom prst="rect">
            <a:avLst/>
          </a:prstGeom>
          <a:noFill/>
          <a:ln w="0">
            <a:noFill/>
          </a:ln>
        </p:spPr>
        <p:txBody>
          <a:bodyPr wrap="square" lIns="0" tIns="0" rIns="0" bIns="0">
            <a:noAutofit/>
          </a:bodyPr>
          <a:lstStyle/>
          <a:p>
            <a:pPr>
              <a:defRPr sz="3225" b="1">
                <a:solidFill>
                  <a:srgbClr val="182530"/>
                </a:solidFill>
                <a:latin typeface="Arial"/>
                <a:ea typeface="Arial"/>
                <a:cs typeface="Arial"/>
              </a:defRPr>
            </a:pPr>
            <a:r>
              <a:rPr lang="ru-RU" sz="3225" b="1" dirty="0">
                <a:solidFill>
                  <a:srgbClr val="182530"/>
                </a:solidFill>
                <a:latin typeface="Arial"/>
                <a:ea typeface="Arial"/>
                <a:cs typeface="Arial"/>
              </a:rPr>
              <a:t>Симуляция</a:t>
            </a:r>
            <a:endParaRPr sz="3225" b="1" dirty="0">
              <a:solidFill>
                <a:srgbClr val="182530"/>
              </a:solidFill>
              <a:latin typeface="Arial"/>
              <a:ea typeface="Arial"/>
              <a:cs typeface="Arial"/>
            </a:endParaRPr>
          </a:p>
        </p:txBody>
      </p:sp>
      <p:sp>
        <p:nvSpPr>
          <p:cNvPr id="2" name="line_60">
            <a:extLst>
              <a:ext uri="{FF2B5EF4-FFF2-40B4-BE49-F238E27FC236}">
                <a16:creationId xmlns:a16="http://schemas.microsoft.com/office/drawing/2014/main" id="{72FF514F-1066-2D4E-6A70-66A245AB5273}"/>
              </a:ext>
            </a:extLst>
          </p:cNvPr>
          <p:cNvSpPr>
            <a:spLocks noGrp="1"/>
          </p:cNvSpPr>
          <p:nvPr/>
        </p:nvSpPr>
        <p:spPr>
          <a:xfrm>
            <a:off x="457200" y="1133475"/>
            <a:ext cx="11277600" cy="0"/>
          </a:xfrm>
          <a:prstGeom prst="line">
            <a:avLst/>
          </a:prstGeom>
          <a:noFill/>
          <a:ln w="9525">
            <a:solidFill>
              <a:srgbClr val="B9C4CC"/>
            </a:solidFill>
          </a:ln>
        </p:spPr>
        <p:txBody>
          <a:bodyPr/>
          <a:lstStyle/>
          <a:p>
            <a:endParaRPr lang="en-US"/>
          </a:p>
        </p:txBody>
      </p:sp>
      <p:sp>
        <p:nvSpPr>
          <p:cNvPr id="4" name="text_62">
            <a:extLst>
              <a:ext uri="{FF2B5EF4-FFF2-40B4-BE49-F238E27FC236}">
                <a16:creationId xmlns:a16="http://schemas.microsoft.com/office/drawing/2014/main" id="{89934798-C83D-08E9-6686-D0EAEDFABF16}"/>
              </a:ext>
            </a:extLst>
          </p:cNvPr>
          <p:cNvSpPr>
            <a:spLocks noGrp="1"/>
          </p:cNvSpPr>
          <p:nvPr/>
        </p:nvSpPr>
        <p:spPr>
          <a:xfrm>
            <a:off x="11220450" y="6343650"/>
            <a:ext cx="514350" cy="304800"/>
          </a:xfrm>
          <a:prstGeom prst="rect">
            <a:avLst/>
          </a:prstGeom>
          <a:noFill/>
          <a:ln w="0">
            <a:noFill/>
          </a:ln>
        </p:spPr>
        <p:txBody>
          <a:bodyPr wrap="square" lIns="0" tIns="0" rIns="0" bIns="0">
            <a:noAutofit/>
          </a:bodyPr>
          <a:lstStyle/>
          <a:p>
            <a:pPr algn="r">
              <a:defRPr sz="1500">
                <a:solidFill>
                  <a:srgbClr val="56616A"/>
                </a:solidFill>
                <a:latin typeface="Arial"/>
                <a:ea typeface="Arial"/>
                <a:cs typeface="Arial"/>
              </a:defRPr>
            </a:pPr>
            <a:r>
              <a:rPr sz="1500">
                <a:solidFill>
                  <a:srgbClr val="56616A"/>
                </a:solidFill>
                <a:latin typeface="Arial"/>
                <a:ea typeface="Arial"/>
                <a:cs typeface="Arial"/>
              </a:rPr>
              <a:t>04</a:t>
            </a:r>
          </a:p>
        </p:txBody>
      </p:sp>
      <p:pic>
        <p:nvPicPr>
          <p:cNvPr id="10" name="Picture 9">
            <a:extLst>
              <a:ext uri="{FF2B5EF4-FFF2-40B4-BE49-F238E27FC236}">
                <a16:creationId xmlns:a16="http://schemas.microsoft.com/office/drawing/2014/main" id="{E8F72E25-2882-1618-1EF9-4DE286067913}"/>
              </a:ext>
            </a:extLst>
          </p:cNvPr>
          <p:cNvPicPr>
            <a:picLocks noChangeAspect="1"/>
          </p:cNvPicPr>
          <p:nvPr/>
        </p:nvPicPr>
        <p:blipFill>
          <a:blip r:embed="rId3"/>
          <a:stretch>
            <a:fillRect/>
          </a:stretch>
        </p:blipFill>
        <p:spPr>
          <a:xfrm>
            <a:off x="6342888" y="1480576"/>
            <a:ext cx="4663597" cy="2717858"/>
          </a:xfrm>
          <a:prstGeom prst="rect">
            <a:avLst/>
          </a:prstGeom>
        </p:spPr>
      </p:pic>
      <p:pic>
        <p:nvPicPr>
          <p:cNvPr id="16" name="Picture 15">
            <a:extLst>
              <a:ext uri="{FF2B5EF4-FFF2-40B4-BE49-F238E27FC236}">
                <a16:creationId xmlns:a16="http://schemas.microsoft.com/office/drawing/2014/main" id="{C41684BD-D1E4-4B50-636C-4CDCA5AFBA48}"/>
              </a:ext>
            </a:extLst>
          </p:cNvPr>
          <p:cNvPicPr>
            <a:picLocks noChangeAspect="1"/>
          </p:cNvPicPr>
          <p:nvPr/>
        </p:nvPicPr>
        <p:blipFill>
          <a:blip r:embed="rId4"/>
          <a:stretch>
            <a:fillRect/>
          </a:stretch>
        </p:blipFill>
        <p:spPr>
          <a:xfrm>
            <a:off x="3659775" y="4687527"/>
            <a:ext cx="7648208" cy="1128055"/>
          </a:xfrm>
          <a:prstGeom prst="rect">
            <a:avLst/>
          </a:prstGeom>
        </p:spPr>
      </p:pic>
      <p:sp>
        <p:nvSpPr>
          <p:cNvPr id="18" name="TextBox 17">
            <a:extLst>
              <a:ext uri="{FF2B5EF4-FFF2-40B4-BE49-F238E27FC236}">
                <a16:creationId xmlns:a16="http://schemas.microsoft.com/office/drawing/2014/main" id="{ABE95879-5FBD-A025-D864-40EB9E3FC97C}"/>
              </a:ext>
            </a:extLst>
          </p:cNvPr>
          <p:cNvSpPr txBox="1"/>
          <p:nvPr/>
        </p:nvSpPr>
        <p:spPr>
          <a:xfrm>
            <a:off x="457200" y="1228688"/>
            <a:ext cx="4434951" cy="5295937"/>
          </a:xfrm>
          <a:prstGeom prst="rect">
            <a:avLst/>
          </a:prstGeom>
          <a:noFill/>
        </p:spPr>
        <p:txBody>
          <a:bodyPr wrap="square">
            <a:spAutoFit/>
          </a:bodyPr>
          <a:lstStyle/>
          <a:p>
            <a:pPr>
              <a:lnSpc>
                <a:spcPct val="113095"/>
              </a:lnSpc>
              <a:buNone/>
            </a:pPr>
            <a:r>
              <a:rPr lang="en-US" sz="1200" b="0" dirty="0">
                <a:solidFill>
                  <a:srgbClr val="CF222E"/>
                </a:solidFill>
                <a:effectLst/>
                <a:latin typeface="Consolas" panose="020B0609020204030204" pitchFamily="49" charset="0"/>
              </a:rPr>
              <a:t>`timescale</a:t>
            </a:r>
            <a:r>
              <a:rPr lang="en-US" sz="1200" b="0" dirty="0">
                <a:solidFill>
                  <a:srgbClr val="202020"/>
                </a:solidFill>
                <a:effectLst/>
                <a:latin typeface="Consolas" panose="020B0609020204030204" pitchFamily="49" charset="0"/>
              </a:rPr>
              <a:t> 1ps</a:t>
            </a:r>
            <a:r>
              <a:rPr lang="en-US" sz="1200" b="0" dirty="0">
                <a:solidFill>
                  <a:srgbClr val="000000"/>
                </a:solidFill>
                <a:effectLst/>
                <a:latin typeface="Consolas" panose="020B0609020204030204" pitchFamily="49" charset="0"/>
              </a:rPr>
              <a:t>/</a:t>
            </a:r>
            <a:r>
              <a:rPr lang="en-US" sz="1200" b="0" dirty="0">
                <a:solidFill>
                  <a:srgbClr val="202020"/>
                </a:solidFill>
                <a:effectLst/>
                <a:latin typeface="Consolas" panose="020B0609020204030204" pitchFamily="49" charset="0"/>
              </a:rPr>
              <a:t>1ps</a:t>
            </a:r>
          </a:p>
          <a:p>
            <a:pPr>
              <a:lnSpc>
                <a:spcPct val="113095"/>
              </a:lnSpc>
              <a:buNone/>
            </a:pPr>
            <a:br>
              <a:rPr lang="en-US" sz="1200" b="0" dirty="0">
                <a:solidFill>
                  <a:srgbClr val="202020"/>
                </a:solidFill>
                <a:effectLst/>
                <a:latin typeface="Consolas" panose="020B0609020204030204" pitchFamily="49" charset="0"/>
              </a:rPr>
            </a:br>
            <a:endParaRPr lang="en-US" sz="1200" b="0" dirty="0">
              <a:solidFill>
                <a:srgbClr val="202020"/>
              </a:solidFill>
              <a:effectLst/>
              <a:latin typeface="Consolas" panose="020B0609020204030204" pitchFamily="49" charset="0"/>
            </a:endParaRPr>
          </a:p>
          <a:p>
            <a:pPr>
              <a:lnSpc>
                <a:spcPct val="113095"/>
              </a:lnSpc>
              <a:buNone/>
            </a:pPr>
            <a:r>
              <a:rPr lang="en-US" sz="1200" b="0" dirty="0">
                <a:solidFill>
                  <a:srgbClr val="CF222E"/>
                </a:solidFill>
                <a:effectLst/>
                <a:latin typeface="Consolas" panose="020B0609020204030204" pitchFamily="49" charset="0"/>
              </a:rPr>
              <a:t>module</a:t>
            </a:r>
            <a:r>
              <a:rPr lang="en-US" sz="1200" b="0" dirty="0">
                <a:solidFill>
                  <a:srgbClr val="1F2328"/>
                </a:solidFill>
                <a:effectLst/>
                <a:latin typeface="Consolas" panose="020B0609020204030204" pitchFamily="49" charset="0"/>
              </a:rPr>
              <a:t> </a:t>
            </a:r>
            <a:r>
              <a:rPr lang="en-US" sz="1200" b="0" dirty="0">
                <a:solidFill>
                  <a:srgbClr val="267F99"/>
                </a:solidFill>
                <a:effectLst/>
                <a:latin typeface="Consolas" panose="020B0609020204030204" pitchFamily="49" charset="0"/>
              </a:rPr>
              <a:t>tb</a:t>
            </a:r>
            <a:r>
              <a:rPr lang="en-US" sz="1200" b="0" dirty="0">
                <a:solidFill>
                  <a:srgbClr val="1F2328"/>
                </a:solidFill>
                <a:effectLst/>
                <a:latin typeface="Consolas" panose="020B0609020204030204" pitchFamily="49" charset="0"/>
              </a:rPr>
              <a:t>();</a:t>
            </a:r>
            <a:endParaRPr lang="en-US" sz="1200" b="0" dirty="0">
              <a:solidFill>
                <a:srgbClr val="202020"/>
              </a:solidFill>
              <a:effectLst/>
              <a:latin typeface="Consolas" panose="020B0609020204030204" pitchFamily="49" charset="0"/>
            </a:endParaRPr>
          </a:p>
          <a:p>
            <a:pPr>
              <a:lnSpc>
                <a:spcPct val="113095"/>
              </a:lnSpc>
              <a:buNone/>
            </a:pPr>
            <a:br>
              <a:rPr lang="en-US" sz="1200" b="0" dirty="0">
                <a:solidFill>
                  <a:srgbClr val="202020"/>
                </a:solidFill>
                <a:effectLst/>
                <a:latin typeface="Consolas" panose="020B0609020204030204" pitchFamily="49" charset="0"/>
              </a:rPr>
            </a:br>
            <a:endParaRPr lang="en-US" sz="1200" b="0" dirty="0">
              <a:solidFill>
                <a:srgbClr val="202020"/>
              </a:solidFill>
              <a:effectLst/>
              <a:latin typeface="Consolas" panose="020B0609020204030204" pitchFamily="49" charset="0"/>
            </a:endParaRPr>
          </a:p>
          <a:p>
            <a:pPr>
              <a:lnSpc>
                <a:spcPct val="113095"/>
              </a:lnSpc>
              <a:buNone/>
            </a:pPr>
            <a:r>
              <a:rPr lang="en-US" sz="1200" b="0" dirty="0">
                <a:solidFill>
                  <a:srgbClr val="CF222E"/>
                </a:solidFill>
                <a:effectLst/>
                <a:latin typeface="Consolas" panose="020B0609020204030204" pitchFamily="49" charset="0"/>
              </a:rPr>
              <a:t>reg</a:t>
            </a:r>
            <a:r>
              <a:rPr lang="en-US" sz="1200" b="0" dirty="0">
                <a:solidFill>
                  <a:srgbClr val="1F2328"/>
                </a:solidFill>
                <a:effectLst/>
                <a:latin typeface="Consolas" panose="020B0609020204030204" pitchFamily="49" charset="0"/>
              </a:rPr>
              <a:t> btn_1 </a:t>
            </a:r>
            <a:r>
              <a:rPr lang="en-US" sz="1200" b="0" dirty="0">
                <a:solidFill>
                  <a:srgbClr val="000000"/>
                </a:solidFill>
                <a:effectLst/>
                <a:latin typeface="Consolas" panose="020B0609020204030204" pitchFamily="49" charset="0"/>
              </a:rPr>
              <a:t>=</a:t>
            </a:r>
            <a:r>
              <a:rPr lang="en-US" sz="1200" b="0" dirty="0">
                <a:solidFill>
                  <a:srgbClr val="1F2328"/>
                </a:solidFill>
                <a:effectLst/>
                <a:latin typeface="Consolas" panose="020B0609020204030204" pitchFamily="49" charset="0"/>
              </a:rPr>
              <a:t> </a:t>
            </a:r>
            <a:r>
              <a:rPr lang="en-US" sz="1200" b="0" dirty="0">
                <a:solidFill>
                  <a:srgbClr val="098658"/>
                </a:solidFill>
                <a:effectLst/>
                <a:latin typeface="Consolas" panose="020B0609020204030204" pitchFamily="49" charset="0"/>
              </a:rPr>
              <a:t>1'b0</a:t>
            </a:r>
            <a:r>
              <a:rPr lang="en-US" sz="1200" b="0" dirty="0">
                <a:solidFill>
                  <a:srgbClr val="1F2328"/>
                </a:solidFill>
                <a:effectLst/>
                <a:latin typeface="Consolas" panose="020B0609020204030204" pitchFamily="49" charset="0"/>
              </a:rPr>
              <a:t>;</a:t>
            </a:r>
            <a:endParaRPr lang="en-US" sz="1200" b="0" dirty="0">
              <a:solidFill>
                <a:srgbClr val="202020"/>
              </a:solidFill>
              <a:effectLst/>
              <a:latin typeface="Consolas" panose="020B0609020204030204" pitchFamily="49" charset="0"/>
            </a:endParaRPr>
          </a:p>
          <a:p>
            <a:pPr>
              <a:lnSpc>
                <a:spcPct val="113095"/>
              </a:lnSpc>
              <a:buNone/>
            </a:pPr>
            <a:r>
              <a:rPr lang="en-US" sz="1200" b="0" dirty="0">
                <a:solidFill>
                  <a:srgbClr val="CF222E"/>
                </a:solidFill>
                <a:effectLst/>
                <a:latin typeface="Consolas" panose="020B0609020204030204" pitchFamily="49" charset="0"/>
              </a:rPr>
              <a:t>reg</a:t>
            </a:r>
            <a:r>
              <a:rPr lang="en-US" sz="1200" b="0" dirty="0">
                <a:solidFill>
                  <a:srgbClr val="1F2328"/>
                </a:solidFill>
                <a:effectLst/>
                <a:latin typeface="Consolas" panose="020B0609020204030204" pitchFamily="49" charset="0"/>
              </a:rPr>
              <a:t> btn_2 </a:t>
            </a:r>
            <a:r>
              <a:rPr lang="en-US" sz="1200" b="0" dirty="0">
                <a:solidFill>
                  <a:srgbClr val="000000"/>
                </a:solidFill>
                <a:effectLst/>
                <a:latin typeface="Consolas" panose="020B0609020204030204" pitchFamily="49" charset="0"/>
              </a:rPr>
              <a:t>=</a:t>
            </a:r>
            <a:r>
              <a:rPr lang="en-US" sz="1200" b="0" dirty="0">
                <a:solidFill>
                  <a:srgbClr val="1F2328"/>
                </a:solidFill>
                <a:effectLst/>
                <a:latin typeface="Consolas" panose="020B0609020204030204" pitchFamily="49" charset="0"/>
              </a:rPr>
              <a:t> </a:t>
            </a:r>
            <a:r>
              <a:rPr lang="en-US" sz="1200" b="0" dirty="0">
                <a:solidFill>
                  <a:srgbClr val="098658"/>
                </a:solidFill>
                <a:effectLst/>
                <a:latin typeface="Consolas" panose="020B0609020204030204" pitchFamily="49" charset="0"/>
              </a:rPr>
              <a:t>1'b0</a:t>
            </a:r>
            <a:r>
              <a:rPr lang="en-US" sz="1200" b="0" dirty="0">
                <a:solidFill>
                  <a:srgbClr val="1F2328"/>
                </a:solidFill>
                <a:effectLst/>
                <a:latin typeface="Consolas" panose="020B0609020204030204" pitchFamily="49" charset="0"/>
              </a:rPr>
              <a:t>;</a:t>
            </a:r>
            <a:endParaRPr lang="en-US" sz="1200" b="0" dirty="0">
              <a:solidFill>
                <a:srgbClr val="202020"/>
              </a:solidFill>
              <a:effectLst/>
              <a:latin typeface="Consolas" panose="020B0609020204030204" pitchFamily="49" charset="0"/>
            </a:endParaRPr>
          </a:p>
          <a:p>
            <a:pPr>
              <a:lnSpc>
                <a:spcPct val="113095"/>
              </a:lnSpc>
              <a:buNone/>
            </a:pPr>
            <a:r>
              <a:rPr lang="en-US" sz="1200" b="0" dirty="0">
                <a:solidFill>
                  <a:srgbClr val="CF222E"/>
                </a:solidFill>
                <a:effectLst/>
                <a:latin typeface="Consolas" panose="020B0609020204030204" pitchFamily="49" charset="0"/>
              </a:rPr>
              <a:t>wire</a:t>
            </a:r>
            <a:r>
              <a:rPr lang="en-US" sz="1200" b="0" dirty="0">
                <a:solidFill>
                  <a:srgbClr val="1F2328"/>
                </a:solidFill>
                <a:effectLst/>
                <a:latin typeface="Consolas" panose="020B0609020204030204" pitchFamily="49" charset="0"/>
              </a:rPr>
              <a:t> led;</a:t>
            </a:r>
            <a:endParaRPr lang="en-US" sz="1200" b="0" dirty="0">
              <a:solidFill>
                <a:srgbClr val="202020"/>
              </a:solidFill>
              <a:effectLst/>
              <a:latin typeface="Consolas" panose="020B0609020204030204" pitchFamily="49" charset="0"/>
            </a:endParaRPr>
          </a:p>
          <a:p>
            <a:pPr>
              <a:lnSpc>
                <a:spcPct val="113095"/>
              </a:lnSpc>
              <a:buNone/>
            </a:pPr>
            <a:r>
              <a:rPr lang="en-US" sz="1200" b="0" dirty="0">
                <a:solidFill>
                  <a:srgbClr val="116329"/>
                </a:solidFill>
                <a:effectLst/>
                <a:latin typeface="Consolas" panose="020B0609020204030204" pitchFamily="49" charset="0"/>
              </a:rPr>
              <a:t>top</a:t>
            </a:r>
            <a:r>
              <a:rPr lang="en-US" sz="1200" b="0" dirty="0">
                <a:solidFill>
                  <a:srgbClr val="1F2328"/>
                </a:solidFill>
                <a:effectLst/>
                <a:latin typeface="Consolas" panose="020B0609020204030204" pitchFamily="49" charset="0"/>
              </a:rPr>
              <a:t> </a:t>
            </a:r>
            <a:r>
              <a:rPr lang="en-US" sz="1200" b="0" dirty="0" err="1">
                <a:solidFill>
                  <a:srgbClr val="116329"/>
                </a:solidFill>
                <a:effectLst/>
                <a:latin typeface="Consolas" panose="020B0609020204030204" pitchFamily="49" charset="0"/>
              </a:rPr>
              <a:t>dut</a:t>
            </a:r>
            <a:r>
              <a:rPr lang="en-US" sz="1200" b="0" dirty="0">
                <a:solidFill>
                  <a:srgbClr val="1F2328"/>
                </a:solidFill>
                <a:effectLst/>
                <a:latin typeface="Consolas" panose="020B0609020204030204" pitchFamily="49" charset="0"/>
              </a:rPr>
              <a:t>(.btn_1(btn_1), .btn_2(btn_2), .led(led));</a:t>
            </a:r>
            <a:endParaRPr lang="en-US" sz="1200" b="0" dirty="0">
              <a:solidFill>
                <a:srgbClr val="202020"/>
              </a:solidFill>
              <a:effectLst/>
              <a:latin typeface="Consolas" panose="020B0609020204030204" pitchFamily="49" charset="0"/>
            </a:endParaRPr>
          </a:p>
          <a:p>
            <a:pPr>
              <a:lnSpc>
                <a:spcPct val="113095"/>
              </a:lnSpc>
              <a:buNone/>
            </a:pPr>
            <a:br>
              <a:rPr lang="en-US" sz="1200" b="0" dirty="0">
                <a:solidFill>
                  <a:srgbClr val="202020"/>
                </a:solidFill>
                <a:effectLst/>
                <a:latin typeface="Consolas" panose="020B0609020204030204" pitchFamily="49" charset="0"/>
              </a:rPr>
            </a:br>
            <a:endParaRPr lang="en-US" sz="1200" b="0" dirty="0">
              <a:solidFill>
                <a:srgbClr val="202020"/>
              </a:solidFill>
              <a:effectLst/>
              <a:latin typeface="Consolas" panose="020B0609020204030204" pitchFamily="49" charset="0"/>
            </a:endParaRPr>
          </a:p>
          <a:p>
            <a:pPr>
              <a:lnSpc>
                <a:spcPct val="113095"/>
              </a:lnSpc>
              <a:buNone/>
            </a:pPr>
            <a:r>
              <a:rPr lang="en-US" sz="1200" b="0" dirty="0">
                <a:solidFill>
                  <a:srgbClr val="CF222E"/>
                </a:solidFill>
                <a:effectLst/>
                <a:latin typeface="Consolas" panose="020B0609020204030204" pitchFamily="49" charset="0"/>
              </a:rPr>
              <a:t>initial</a:t>
            </a:r>
            <a:r>
              <a:rPr lang="en-US" sz="1200" b="0" dirty="0">
                <a:solidFill>
                  <a:srgbClr val="1F2328"/>
                </a:solidFill>
                <a:effectLst/>
                <a:latin typeface="Consolas" panose="020B0609020204030204" pitchFamily="49" charset="0"/>
              </a:rPr>
              <a:t> </a:t>
            </a:r>
            <a:r>
              <a:rPr lang="en-US" sz="1200" b="0" dirty="0">
                <a:solidFill>
                  <a:srgbClr val="CF222E"/>
                </a:solidFill>
                <a:effectLst/>
                <a:latin typeface="Consolas" panose="020B0609020204030204" pitchFamily="49" charset="0"/>
              </a:rPr>
              <a:t>begin</a:t>
            </a:r>
            <a:endParaRPr lang="en-US" sz="1200" b="0" dirty="0">
              <a:solidFill>
                <a:srgbClr val="202020"/>
              </a:solidFill>
              <a:effectLst/>
              <a:latin typeface="Consolas" panose="020B0609020204030204" pitchFamily="49" charset="0"/>
            </a:endParaRPr>
          </a:p>
          <a:p>
            <a:pPr>
              <a:lnSpc>
                <a:spcPct val="113095"/>
              </a:lnSpc>
              <a:buNone/>
            </a:pPr>
            <a:r>
              <a:rPr lang="en-US" sz="1200" b="0" dirty="0">
                <a:solidFill>
                  <a:srgbClr val="1F2328"/>
                </a:solidFill>
                <a:effectLst/>
                <a:latin typeface="Consolas" panose="020B0609020204030204" pitchFamily="49" charset="0"/>
              </a:rPr>
              <a:t>    </a:t>
            </a:r>
            <a:r>
              <a:rPr lang="en-US" sz="1200" b="0" dirty="0">
                <a:solidFill>
                  <a:srgbClr val="098658"/>
                </a:solidFill>
                <a:effectLst/>
                <a:latin typeface="Consolas" panose="020B0609020204030204" pitchFamily="49" charset="0"/>
              </a:rPr>
              <a:t>#5</a:t>
            </a:r>
            <a:r>
              <a:rPr lang="en-US" sz="1200" b="0" dirty="0">
                <a:solidFill>
                  <a:srgbClr val="1F2328"/>
                </a:solidFill>
                <a:effectLst/>
                <a:latin typeface="Consolas" panose="020B0609020204030204" pitchFamily="49" charset="0"/>
              </a:rPr>
              <a:t>;</a:t>
            </a:r>
            <a:endParaRPr lang="en-US" sz="1200" b="0" dirty="0">
              <a:solidFill>
                <a:srgbClr val="202020"/>
              </a:solidFill>
              <a:effectLst/>
              <a:latin typeface="Consolas" panose="020B0609020204030204" pitchFamily="49" charset="0"/>
            </a:endParaRPr>
          </a:p>
          <a:p>
            <a:pPr>
              <a:lnSpc>
                <a:spcPct val="113095"/>
              </a:lnSpc>
              <a:buNone/>
            </a:pPr>
            <a:r>
              <a:rPr lang="en-US" sz="1200" b="0" dirty="0">
                <a:solidFill>
                  <a:srgbClr val="1F2328"/>
                </a:solidFill>
                <a:effectLst/>
                <a:latin typeface="Consolas" panose="020B0609020204030204" pitchFamily="49" charset="0"/>
              </a:rPr>
              <a:t>    btn_1 </a:t>
            </a:r>
            <a:r>
              <a:rPr lang="en-US" sz="1200" b="0" dirty="0">
                <a:solidFill>
                  <a:srgbClr val="000000"/>
                </a:solidFill>
                <a:effectLst/>
                <a:latin typeface="Consolas" panose="020B0609020204030204" pitchFamily="49" charset="0"/>
              </a:rPr>
              <a:t>&lt;=</a:t>
            </a:r>
            <a:r>
              <a:rPr lang="en-US" sz="1200" b="0" dirty="0">
                <a:solidFill>
                  <a:srgbClr val="1F2328"/>
                </a:solidFill>
                <a:effectLst/>
                <a:latin typeface="Consolas" panose="020B0609020204030204" pitchFamily="49" charset="0"/>
              </a:rPr>
              <a:t> </a:t>
            </a:r>
            <a:r>
              <a:rPr lang="en-US" sz="1200" b="0" dirty="0">
                <a:solidFill>
                  <a:srgbClr val="098658"/>
                </a:solidFill>
                <a:effectLst/>
                <a:latin typeface="Consolas" panose="020B0609020204030204" pitchFamily="49" charset="0"/>
              </a:rPr>
              <a:t>1'b1</a:t>
            </a:r>
            <a:r>
              <a:rPr lang="en-US" sz="1200" b="0" dirty="0">
                <a:solidFill>
                  <a:srgbClr val="1F2328"/>
                </a:solidFill>
                <a:effectLst/>
                <a:latin typeface="Consolas" panose="020B0609020204030204" pitchFamily="49" charset="0"/>
              </a:rPr>
              <a:t>;</a:t>
            </a:r>
            <a:endParaRPr lang="en-US" sz="1200" b="0" dirty="0">
              <a:solidFill>
                <a:srgbClr val="202020"/>
              </a:solidFill>
              <a:effectLst/>
              <a:latin typeface="Consolas" panose="020B0609020204030204" pitchFamily="49" charset="0"/>
            </a:endParaRPr>
          </a:p>
          <a:p>
            <a:pPr>
              <a:lnSpc>
                <a:spcPct val="113095"/>
              </a:lnSpc>
              <a:buNone/>
            </a:pPr>
            <a:r>
              <a:rPr lang="en-US" sz="1200" b="0" dirty="0">
                <a:solidFill>
                  <a:srgbClr val="1F2328"/>
                </a:solidFill>
                <a:effectLst/>
                <a:latin typeface="Consolas" panose="020B0609020204030204" pitchFamily="49" charset="0"/>
              </a:rPr>
              <a:t>    </a:t>
            </a:r>
            <a:r>
              <a:rPr lang="en-US" sz="1200" b="0" dirty="0">
                <a:solidFill>
                  <a:srgbClr val="098658"/>
                </a:solidFill>
                <a:effectLst/>
                <a:latin typeface="Consolas" panose="020B0609020204030204" pitchFamily="49" charset="0"/>
              </a:rPr>
              <a:t>#5</a:t>
            </a:r>
            <a:r>
              <a:rPr lang="en-US" sz="1200" b="0" dirty="0">
                <a:solidFill>
                  <a:srgbClr val="1F2328"/>
                </a:solidFill>
                <a:effectLst/>
                <a:latin typeface="Consolas" panose="020B0609020204030204" pitchFamily="49" charset="0"/>
              </a:rPr>
              <a:t>;</a:t>
            </a:r>
            <a:endParaRPr lang="en-US" sz="1200" b="0" dirty="0">
              <a:solidFill>
                <a:srgbClr val="202020"/>
              </a:solidFill>
              <a:effectLst/>
              <a:latin typeface="Consolas" panose="020B0609020204030204" pitchFamily="49" charset="0"/>
            </a:endParaRPr>
          </a:p>
          <a:p>
            <a:pPr>
              <a:lnSpc>
                <a:spcPct val="113095"/>
              </a:lnSpc>
              <a:buNone/>
            </a:pPr>
            <a:r>
              <a:rPr lang="en-US" sz="1200" b="0" dirty="0">
                <a:solidFill>
                  <a:srgbClr val="1F2328"/>
                </a:solidFill>
                <a:effectLst/>
                <a:latin typeface="Consolas" panose="020B0609020204030204" pitchFamily="49" charset="0"/>
              </a:rPr>
              <a:t>    btn_2 </a:t>
            </a:r>
            <a:r>
              <a:rPr lang="en-US" sz="1200" b="0" dirty="0">
                <a:solidFill>
                  <a:srgbClr val="000000"/>
                </a:solidFill>
                <a:effectLst/>
                <a:latin typeface="Consolas" panose="020B0609020204030204" pitchFamily="49" charset="0"/>
              </a:rPr>
              <a:t>&lt;=</a:t>
            </a:r>
            <a:r>
              <a:rPr lang="en-US" sz="1200" b="0" dirty="0">
                <a:solidFill>
                  <a:srgbClr val="1F2328"/>
                </a:solidFill>
                <a:effectLst/>
                <a:latin typeface="Consolas" panose="020B0609020204030204" pitchFamily="49" charset="0"/>
              </a:rPr>
              <a:t> </a:t>
            </a:r>
            <a:r>
              <a:rPr lang="en-US" sz="1200" b="0" dirty="0">
                <a:solidFill>
                  <a:srgbClr val="098658"/>
                </a:solidFill>
                <a:effectLst/>
                <a:latin typeface="Consolas" panose="020B0609020204030204" pitchFamily="49" charset="0"/>
              </a:rPr>
              <a:t>1'b1</a:t>
            </a:r>
            <a:r>
              <a:rPr lang="en-US" sz="1200" b="0" dirty="0">
                <a:solidFill>
                  <a:srgbClr val="1F2328"/>
                </a:solidFill>
                <a:effectLst/>
                <a:latin typeface="Consolas" panose="020B0609020204030204" pitchFamily="49" charset="0"/>
              </a:rPr>
              <a:t>;</a:t>
            </a:r>
            <a:endParaRPr lang="en-US" sz="1200" b="0" dirty="0">
              <a:solidFill>
                <a:srgbClr val="202020"/>
              </a:solidFill>
              <a:effectLst/>
              <a:latin typeface="Consolas" panose="020B0609020204030204" pitchFamily="49" charset="0"/>
            </a:endParaRPr>
          </a:p>
          <a:p>
            <a:pPr>
              <a:lnSpc>
                <a:spcPct val="113095"/>
              </a:lnSpc>
              <a:buNone/>
            </a:pPr>
            <a:r>
              <a:rPr lang="en-US" sz="1200" b="0" dirty="0">
                <a:solidFill>
                  <a:srgbClr val="1F2328"/>
                </a:solidFill>
                <a:effectLst/>
                <a:latin typeface="Consolas" panose="020B0609020204030204" pitchFamily="49" charset="0"/>
              </a:rPr>
              <a:t>    </a:t>
            </a:r>
            <a:r>
              <a:rPr lang="en-US" sz="1200" b="0" dirty="0">
                <a:solidFill>
                  <a:srgbClr val="098658"/>
                </a:solidFill>
                <a:effectLst/>
                <a:latin typeface="Consolas" panose="020B0609020204030204" pitchFamily="49" charset="0"/>
              </a:rPr>
              <a:t>#5</a:t>
            </a:r>
            <a:r>
              <a:rPr lang="en-US" sz="1200" b="0" dirty="0">
                <a:solidFill>
                  <a:srgbClr val="1F2328"/>
                </a:solidFill>
                <a:effectLst/>
                <a:latin typeface="Consolas" panose="020B0609020204030204" pitchFamily="49" charset="0"/>
              </a:rPr>
              <a:t>;</a:t>
            </a:r>
            <a:endParaRPr lang="en-US" sz="1200" b="0" dirty="0">
              <a:solidFill>
                <a:srgbClr val="202020"/>
              </a:solidFill>
              <a:effectLst/>
              <a:latin typeface="Consolas" panose="020B0609020204030204" pitchFamily="49" charset="0"/>
            </a:endParaRPr>
          </a:p>
          <a:p>
            <a:pPr>
              <a:lnSpc>
                <a:spcPct val="113095"/>
              </a:lnSpc>
              <a:buNone/>
            </a:pPr>
            <a:r>
              <a:rPr lang="en-US" sz="1200" b="0" dirty="0">
                <a:solidFill>
                  <a:srgbClr val="1F2328"/>
                </a:solidFill>
                <a:effectLst/>
                <a:latin typeface="Consolas" panose="020B0609020204030204" pitchFamily="49" charset="0"/>
              </a:rPr>
              <a:t>    btn_1 </a:t>
            </a:r>
            <a:r>
              <a:rPr lang="en-US" sz="1200" b="0" dirty="0">
                <a:solidFill>
                  <a:srgbClr val="000000"/>
                </a:solidFill>
                <a:effectLst/>
                <a:latin typeface="Consolas" panose="020B0609020204030204" pitchFamily="49" charset="0"/>
              </a:rPr>
              <a:t>&lt;=</a:t>
            </a:r>
            <a:r>
              <a:rPr lang="en-US" sz="1200" b="0" dirty="0">
                <a:solidFill>
                  <a:srgbClr val="1F2328"/>
                </a:solidFill>
                <a:effectLst/>
                <a:latin typeface="Consolas" panose="020B0609020204030204" pitchFamily="49" charset="0"/>
              </a:rPr>
              <a:t> </a:t>
            </a:r>
            <a:r>
              <a:rPr lang="en-US" sz="1200" b="0" dirty="0">
                <a:solidFill>
                  <a:srgbClr val="098658"/>
                </a:solidFill>
                <a:effectLst/>
                <a:latin typeface="Consolas" panose="020B0609020204030204" pitchFamily="49" charset="0"/>
              </a:rPr>
              <a:t>1'b0</a:t>
            </a:r>
            <a:r>
              <a:rPr lang="en-US" sz="1200" b="0" dirty="0">
                <a:solidFill>
                  <a:srgbClr val="1F2328"/>
                </a:solidFill>
                <a:effectLst/>
                <a:latin typeface="Consolas" panose="020B0609020204030204" pitchFamily="49" charset="0"/>
              </a:rPr>
              <a:t>;</a:t>
            </a:r>
            <a:endParaRPr lang="en-US" sz="1200" b="0" dirty="0">
              <a:solidFill>
                <a:srgbClr val="202020"/>
              </a:solidFill>
              <a:effectLst/>
              <a:latin typeface="Consolas" panose="020B0609020204030204" pitchFamily="49" charset="0"/>
            </a:endParaRPr>
          </a:p>
          <a:p>
            <a:pPr>
              <a:lnSpc>
                <a:spcPct val="113095"/>
              </a:lnSpc>
              <a:buNone/>
            </a:pPr>
            <a:r>
              <a:rPr lang="en-US" sz="1200" b="0" dirty="0">
                <a:solidFill>
                  <a:srgbClr val="1F2328"/>
                </a:solidFill>
                <a:effectLst/>
                <a:latin typeface="Consolas" panose="020B0609020204030204" pitchFamily="49" charset="0"/>
              </a:rPr>
              <a:t>    </a:t>
            </a:r>
            <a:r>
              <a:rPr lang="en-US" sz="1200" b="0" dirty="0">
                <a:solidFill>
                  <a:srgbClr val="098658"/>
                </a:solidFill>
                <a:effectLst/>
                <a:latin typeface="Consolas" panose="020B0609020204030204" pitchFamily="49" charset="0"/>
              </a:rPr>
              <a:t>#5</a:t>
            </a:r>
            <a:endParaRPr lang="en-US" sz="1200" b="0" dirty="0">
              <a:solidFill>
                <a:srgbClr val="202020"/>
              </a:solidFill>
              <a:effectLst/>
              <a:latin typeface="Consolas" panose="020B0609020204030204" pitchFamily="49" charset="0"/>
            </a:endParaRPr>
          </a:p>
          <a:p>
            <a:pPr>
              <a:lnSpc>
                <a:spcPct val="113095"/>
              </a:lnSpc>
              <a:buNone/>
            </a:pPr>
            <a:r>
              <a:rPr lang="en-US" sz="1200" b="0" dirty="0">
                <a:solidFill>
                  <a:srgbClr val="1F2328"/>
                </a:solidFill>
                <a:effectLst/>
                <a:latin typeface="Consolas" panose="020B0609020204030204" pitchFamily="49" charset="0"/>
              </a:rPr>
              <a:t>    </a:t>
            </a:r>
            <a:r>
              <a:rPr lang="en-US" sz="1200" b="0" dirty="0">
                <a:solidFill>
                  <a:srgbClr val="795E26"/>
                </a:solidFill>
                <a:effectLst/>
                <a:latin typeface="Consolas" panose="020B0609020204030204" pitchFamily="49" charset="0"/>
              </a:rPr>
              <a:t>$finish</a:t>
            </a:r>
            <a:r>
              <a:rPr lang="en-US" sz="1200" b="0" dirty="0">
                <a:solidFill>
                  <a:srgbClr val="1F2328"/>
                </a:solidFill>
                <a:effectLst/>
                <a:latin typeface="Consolas" panose="020B0609020204030204" pitchFamily="49" charset="0"/>
              </a:rPr>
              <a:t>();</a:t>
            </a:r>
            <a:endParaRPr lang="en-US" sz="1200" b="0" dirty="0">
              <a:solidFill>
                <a:srgbClr val="202020"/>
              </a:solidFill>
              <a:effectLst/>
              <a:latin typeface="Consolas" panose="020B0609020204030204" pitchFamily="49" charset="0"/>
            </a:endParaRPr>
          </a:p>
          <a:p>
            <a:pPr>
              <a:lnSpc>
                <a:spcPct val="113095"/>
              </a:lnSpc>
              <a:buNone/>
            </a:pPr>
            <a:r>
              <a:rPr lang="en-US" sz="1200" b="0" dirty="0">
                <a:solidFill>
                  <a:srgbClr val="CF222E"/>
                </a:solidFill>
                <a:effectLst/>
                <a:latin typeface="Consolas" panose="020B0609020204030204" pitchFamily="49" charset="0"/>
              </a:rPr>
              <a:t>end</a:t>
            </a:r>
            <a:endParaRPr lang="en-US" sz="1200" b="0" dirty="0">
              <a:solidFill>
                <a:srgbClr val="202020"/>
              </a:solidFill>
              <a:effectLst/>
              <a:latin typeface="Consolas" panose="020B0609020204030204" pitchFamily="49" charset="0"/>
            </a:endParaRPr>
          </a:p>
          <a:p>
            <a:pPr>
              <a:lnSpc>
                <a:spcPct val="113095"/>
              </a:lnSpc>
              <a:buNone/>
            </a:pPr>
            <a:br>
              <a:rPr lang="en-US" sz="1200" b="0" dirty="0">
                <a:solidFill>
                  <a:srgbClr val="202020"/>
                </a:solidFill>
                <a:effectLst/>
                <a:latin typeface="Consolas" panose="020B0609020204030204" pitchFamily="49" charset="0"/>
              </a:rPr>
            </a:br>
            <a:endParaRPr lang="en-US" sz="1200" b="0" dirty="0">
              <a:solidFill>
                <a:srgbClr val="202020"/>
              </a:solidFill>
              <a:effectLst/>
              <a:latin typeface="Consolas" panose="020B0609020204030204" pitchFamily="49" charset="0"/>
            </a:endParaRPr>
          </a:p>
          <a:p>
            <a:pPr>
              <a:lnSpc>
                <a:spcPct val="113095"/>
              </a:lnSpc>
              <a:buNone/>
            </a:pPr>
            <a:r>
              <a:rPr lang="en-US" sz="1200" b="0" dirty="0">
                <a:solidFill>
                  <a:srgbClr val="CF222E"/>
                </a:solidFill>
                <a:effectLst/>
                <a:latin typeface="Consolas" panose="020B0609020204030204" pitchFamily="49" charset="0"/>
              </a:rPr>
              <a:t>endmodule</a:t>
            </a:r>
            <a:endParaRPr lang="en-US" sz="1200" b="0" dirty="0">
              <a:solidFill>
                <a:srgbClr val="202020"/>
              </a:solidFill>
              <a:effectLst/>
              <a:latin typeface="Consolas" panose="020B0609020204030204" pitchFamily="49" charset="0"/>
            </a:endParaRPr>
          </a:p>
        </p:txBody>
      </p:sp>
    </p:spTree>
    <p:extLst>
      <p:ext uri="{BB962C8B-B14F-4D97-AF65-F5344CB8AC3E}">
        <p14:creationId xmlns:p14="http://schemas.microsoft.com/office/powerpoint/2010/main" val="279821756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AE804A-A147-BFED-1D78-7FDCA9EAAC07}"/>
            </a:ext>
          </a:extLst>
        </p:cNvPr>
        <p:cNvGrpSpPr/>
        <p:nvPr/>
      </p:nvGrpSpPr>
      <p:grpSpPr>
        <a:xfrm>
          <a:off x="0" y="0"/>
          <a:ext cx="0" cy="0"/>
          <a:chOff x="0" y="0"/>
          <a:chExt cx="0" cy="0"/>
        </a:xfrm>
      </p:grpSpPr>
      <p:sp>
        <p:nvSpPr>
          <p:cNvPr id="26" name="text_59">
            <a:extLst>
              <a:ext uri="{FF2B5EF4-FFF2-40B4-BE49-F238E27FC236}">
                <a16:creationId xmlns:a16="http://schemas.microsoft.com/office/drawing/2014/main" id="{09C08AFC-ACBF-01EE-19BA-93ACDDD205A2}"/>
              </a:ext>
            </a:extLst>
          </p:cNvPr>
          <p:cNvSpPr>
            <a:spLocks noGrp="1"/>
          </p:cNvSpPr>
          <p:nvPr/>
        </p:nvSpPr>
        <p:spPr>
          <a:xfrm>
            <a:off x="457200" y="333375"/>
            <a:ext cx="11277600" cy="762000"/>
          </a:xfrm>
          <a:prstGeom prst="rect">
            <a:avLst/>
          </a:prstGeom>
          <a:noFill/>
          <a:ln w="0">
            <a:noFill/>
          </a:ln>
        </p:spPr>
        <p:txBody>
          <a:bodyPr wrap="square" lIns="0" tIns="0" rIns="0" bIns="0">
            <a:noAutofit/>
          </a:bodyPr>
          <a:lstStyle/>
          <a:p>
            <a:pPr>
              <a:defRPr sz="3225" b="1">
                <a:solidFill>
                  <a:srgbClr val="182530"/>
                </a:solidFill>
                <a:latin typeface="Arial"/>
                <a:ea typeface="Arial"/>
                <a:cs typeface="Arial"/>
              </a:defRPr>
            </a:pPr>
            <a:r>
              <a:rPr lang="ru-RU" sz="3225" b="1" dirty="0">
                <a:solidFill>
                  <a:srgbClr val="182530"/>
                </a:solidFill>
                <a:latin typeface="Arial"/>
                <a:ea typeface="Arial"/>
                <a:cs typeface="Arial"/>
              </a:rPr>
              <a:t>Конфигурация портов</a:t>
            </a:r>
            <a:endParaRPr sz="3225" b="1" dirty="0">
              <a:solidFill>
                <a:srgbClr val="182530"/>
              </a:solidFill>
              <a:latin typeface="Arial"/>
              <a:ea typeface="Arial"/>
              <a:cs typeface="Arial"/>
            </a:endParaRPr>
          </a:p>
        </p:txBody>
      </p:sp>
      <p:sp>
        <p:nvSpPr>
          <p:cNvPr id="2" name="line_60">
            <a:extLst>
              <a:ext uri="{FF2B5EF4-FFF2-40B4-BE49-F238E27FC236}">
                <a16:creationId xmlns:a16="http://schemas.microsoft.com/office/drawing/2014/main" id="{F20E3EAD-7311-4810-ECFB-B39447C18A79}"/>
              </a:ext>
            </a:extLst>
          </p:cNvPr>
          <p:cNvSpPr>
            <a:spLocks noGrp="1"/>
          </p:cNvSpPr>
          <p:nvPr/>
        </p:nvSpPr>
        <p:spPr>
          <a:xfrm>
            <a:off x="457200" y="1133475"/>
            <a:ext cx="11277600" cy="0"/>
          </a:xfrm>
          <a:prstGeom prst="line">
            <a:avLst/>
          </a:prstGeom>
          <a:noFill/>
          <a:ln w="9525">
            <a:solidFill>
              <a:srgbClr val="B9C4CC"/>
            </a:solidFill>
          </a:ln>
        </p:spPr>
        <p:txBody>
          <a:bodyPr/>
          <a:lstStyle/>
          <a:p>
            <a:endParaRPr lang="en-US"/>
          </a:p>
        </p:txBody>
      </p:sp>
      <p:sp>
        <p:nvSpPr>
          <p:cNvPr id="4" name="text_62">
            <a:extLst>
              <a:ext uri="{FF2B5EF4-FFF2-40B4-BE49-F238E27FC236}">
                <a16:creationId xmlns:a16="http://schemas.microsoft.com/office/drawing/2014/main" id="{591AF30F-33AB-C7B7-EBA0-A1601D6A26DC}"/>
              </a:ext>
            </a:extLst>
          </p:cNvPr>
          <p:cNvSpPr>
            <a:spLocks noGrp="1"/>
          </p:cNvSpPr>
          <p:nvPr/>
        </p:nvSpPr>
        <p:spPr>
          <a:xfrm>
            <a:off x="11220450" y="6343650"/>
            <a:ext cx="514350" cy="304800"/>
          </a:xfrm>
          <a:prstGeom prst="rect">
            <a:avLst/>
          </a:prstGeom>
          <a:noFill/>
          <a:ln w="0">
            <a:noFill/>
          </a:ln>
        </p:spPr>
        <p:txBody>
          <a:bodyPr wrap="square" lIns="0" tIns="0" rIns="0" bIns="0">
            <a:noAutofit/>
          </a:bodyPr>
          <a:lstStyle/>
          <a:p>
            <a:pPr algn="r">
              <a:defRPr sz="1500">
                <a:solidFill>
                  <a:srgbClr val="56616A"/>
                </a:solidFill>
                <a:latin typeface="Arial"/>
                <a:ea typeface="Arial"/>
                <a:cs typeface="Arial"/>
              </a:defRPr>
            </a:pPr>
            <a:r>
              <a:rPr sz="1500">
                <a:solidFill>
                  <a:srgbClr val="56616A"/>
                </a:solidFill>
                <a:latin typeface="Arial"/>
                <a:ea typeface="Arial"/>
                <a:cs typeface="Arial"/>
              </a:rPr>
              <a:t>04</a:t>
            </a:r>
          </a:p>
        </p:txBody>
      </p:sp>
      <p:pic>
        <p:nvPicPr>
          <p:cNvPr id="7" name="Picture 6">
            <a:extLst>
              <a:ext uri="{FF2B5EF4-FFF2-40B4-BE49-F238E27FC236}">
                <a16:creationId xmlns:a16="http://schemas.microsoft.com/office/drawing/2014/main" id="{72E2170F-D5B7-2AF2-92DE-7F8412F0E2D5}"/>
              </a:ext>
            </a:extLst>
          </p:cNvPr>
          <p:cNvPicPr>
            <a:picLocks noChangeAspect="1"/>
          </p:cNvPicPr>
          <p:nvPr/>
        </p:nvPicPr>
        <p:blipFill>
          <a:blip r:embed="rId3"/>
          <a:stretch>
            <a:fillRect/>
          </a:stretch>
        </p:blipFill>
        <p:spPr>
          <a:xfrm>
            <a:off x="3100252" y="1864030"/>
            <a:ext cx="5001142" cy="1452561"/>
          </a:xfrm>
          <a:prstGeom prst="rect">
            <a:avLst/>
          </a:prstGeom>
        </p:spPr>
      </p:pic>
      <p:pic>
        <p:nvPicPr>
          <p:cNvPr id="10" name="Picture 9">
            <a:extLst>
              <a:ext uri="{FF2B5EF4-FFF2-40B4-BE49-F238E27FC236}">
                <a16:creationId xmlns:a16="http://schemas.microsoft.com/office/drawing/2014/main" id="{2B9F56FF-56DB-EC8E-BC22-247EF645F82D}"/>
              </a:ext>
            </a:extLst>
          </p:cNvPr>
          <p:cNvPicPr>
            <a:picLocks noChangeAspect="1"/>
          </p:cNvPicPr>
          <p:nvPr/>
        </p:nvPicPr>
        <p:blipFill>
          <a:blip r:embed="rId4"/>
          <a:stretch>
            <a:fillRect/>
          </a:stretch>
        </p:blipFill>
        <p:spPr>
          <a:xfrm>
            <a:off x="712396" y="3945545"/>
            <a:ext cx="4126304" cy="2704165"/>
          </a:xfrm>
          <a:prstGeom prst="rect">
            <a:avLst/>
          </a:prstGeom>
        </p:spPr>
      </p:pic>
      <p:pic>
        <p:nvPicPr>
          <p:cNvPr id="13" name="Picture 12">
            <a:extLst>
              <a:ext uri="{FF2B5EF4-FFF2-40B4-BE49-F238E27FC236}">
                <a16:creationId xmlns:a16="http://schemas.microsoft.com/office/drawing/2014/main" id="{B222A877-60DB-3FE8-DE1A-D0BC624B0730}"/>
              </a:ext>
            </a:extLst>
          </p:cNvPr>
          <p:cNvPicPr>
            <a:picLocks noChangeAspect="1"/>
          </p:cNvPicPr>
          <p:nvPr/>
        </p:nvPicPr>
        <p:blipFill>
          <a:blip r:embed="rId5"/>
          <a:stretch>
            <a:fillRect/>
          </a:stretch>
        </p:blipFill>
        <p:spPr>
          <a:xfrm>
            <a:off x="6096000" y="4619859"/>
            <a:ext cx="3744088" cy="2028591"/>
          </a:xfrm>
          <a:prstGeom prst="rect">
            <a:avLst/>
          </a:prstGeom>
        </p:spPr>
      </p:pic>
      <p:sp>
        <p:nvSpPr>
          <p:cNvPr id="14" name="TextBox 13">
            <a:extLst>
              <a:ext uri="{FF2B5EF4-FFF2-40B4-BE49-F238E27FC236}">
                <a16:creationId xmlns:a16="http://schemas.microsoft.com/office/drawing/2014/main" id="{767E5EFA-A9F2-DB89-8466-D2B3E5B130DA}"/>
              </a:ext>
            </a:extLst>
          </p:cNvPr>
          <p:cNvSpPr txBox="1"/>
          <p:nvPr/>
        </p:nvSpPr>
        <p:spPr>
          <a:xfrm>
            <a:off x="4146550" y="1762430"/>
            <a:ext cx="292068" cy="369332"/>
          </a:xfrm>
          <a:prstGeom prst="rect">
            <a:avLst/>
          </a:prstGeom>
          <a:noFill/>
        </p:spPr>
        <p:txBody>
          <a:bodyPr wrap="none" rtlCol="0">
            <a:spAutoFit/>
          </a:bodyPr>
          <a:lstStyle/>
          <a:p>
            <a:r>
              <a:rPr lang="en-US" dirty="0">
                <a:solidFill>
                  <a:srgbClr val="FF0000"/>
                </a:solidFill>
              </a:rPr>
              <a:t>?</a:t>
            </a:r>
          </a:p>
        </p:txBody>
      </p:sp>
      <p:sp>
        <p:nvSpPr>
          <p:cNvPr id="16" name="TextBox 15">
            <a:extLst>
              <a:ext uri="{FF2B5EF4-FFF2-40B4-BE49-F238E27FC236}">
                <a16:creationId xmlns:a16="http://schemas.microsoft.com/office/drawing/2014/main" id="{F0E76987-1C89-D5BB-B183-5C27D9B3EF5E}"/>
              </a:ext>
            </a:extLst>
          </p:cNvPr>
          <p:cNvSpPr txBox="1"/>
          <p:nvPr/>
        </p:nvSpPr>
        <p:spPr>
          <a:xfrm>
            <a:off x="4146550" y="2692001"/>
            <a:ext cx="292068" cy="369332"/>
          </a:xfrm>
          <a:prstGeom prst="rect">
            <a:avLst/>
          </a:prstGeom>
          <a:noFill/>
        </p:spPr>
        <p:txBody>
          <a:bodyPr wrap="none" rtlCol="0">
            <a:spAutoFit/>
          </a:bodyPr>
          <a:lstStyle/>
          <a:p>
            <a:r>
              <a:rPr lang="en-US" dirty="0">
                <a:solidFill>
                  <a:srgbClr val="FF0000"/>
                </a:solidFill>
              </a:rPr>
              <a:t>?</a:t>
            </a:r>
          </a:p>
        </p:txBody>
      </p:sp>
      <p:sp>
        <p:nvSpPr>
          <p:cNvPr id="18" name="TextBox 17">
            <a:extLst>
              <a:ext uri="{FF2B5EF4-FFF2-40B4-BE49-F238E27FC236}">
                <a16:creationId xmlns:a16="http://schemas.microsoft.com/office/drawing/2014/main" id="{36AFB7A0-CD52-6DA7-3BAF-FADCAAE0FB2B}"/>
              </a:ext>
            </a:extLst>
          </p:cNvPr>
          <p:cNvSpPr txBox="1"/>
          <p:nvPr/>
        </p:nvSpPr>
        <p:spPr>
          <a:xfrm>
            <a:off x="6775450" y="2252078"/>
            <a:ext cx="292068" cy="369332"/>
          </a:xfrm>
          <a:prstGeom prst="rect">
            <a:avLst/>
          </a:prstGeom>
          <a:noFill/>
        </p:spPr>
        <p:txBody>
          <a:bodyPr wrap="none" rtlCol="0">
            <a:spAutoFit/>
          </a:bodyPr>
          <a:lstStyle/>
          <a:p>
            <a:r>
              <a:rPr lang="en-US" dirty="0">
                <a:solidFill>
                  <a:srgbClr val="FF0000"/>
                </a:solidFill>
              </a:rPr>
              <a:t>?</a:t>
            </a:r>
          </a:p>
        </p:txBody>
      </p:sp>
    </p:spTree>
    <p:extLst>
      <p:ext uri="{BB962C8B-B14F-4D97-AF65-F5344CB8AC3E}">
        <p14:creationId xmlns:p14="http://schemas.microsoft.com/office/powerpoint/2010/main" val="250845266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5B74EB-2E49-3036-51A3-39EBFE117F8A}"/>
            </a:ext>
          </a:extLst>
        </p:cNvPr>
        <p:cNvGrpSpPr/>
        <p:nvPr/>
      </p:nvGrpSpPr>
      <p:grpSpPr>
        <a:xfrm>
          <a:off x="0" y="0"/>
          <a:ext cx="0" cy="0"/>
          <a:chOff x="0" y="0"/>
          <a:chExt cx="0" cy="0"/>
        </a:xfrm>
      </p:grpSpPr>
      <p:sp>
        <p:nvSpPr>
          <p:cNvPr id="26" name="text_59">
            <a:extLst>
              <a:ext uri="{FF2B5EF4-FFF2-40B4-BE49-F238E27FC236}">
                <a16:creationId xmlns:a16="http://schemas.microsoft.com/office/drawing/2014/main" id="{46249346-2436-67A9-EFC0-325B7C94357C}"/>
              </a:ext>
            </a:extLst>
          </p:cNvPr>
          <p:cNvSpPr>
            <a:spLocks noGrp="1"/>
          </p:cNvSpPr>
          <p:nvPr/>
        </p:nvSpPr>
        <p:spPr>
          <a:xfrm>
            <a:off x="457200" y="333375"/>
            <a:ext cx="11277600" cy="762000"/>
          </a:xfrm>
          <a:prstGeom prst="rect">
            <a:avLst/>
          </a:prstGeom>
          <a:noFill/>
          <a:ln w="0">
            <a:noFill/>
          </a:ln>
        </p:spPr>
        <p:txBody>
          <a:bodyPr wrap="square" lIns="0" tIns="0" rIns="0" bIns="0">
            <a:noAutofit/>
          </a:bodyPr>
          <a:lstStyle/>
          <a:p>
            <a:pPr>
              <a:defRPr sz="3225" b="1">
                <a:solidFill>
                  <a:srgbClr val="182530"/>
                </a:solidFill>
                <a:latin typeface="Arial"/>
                <a:ea typeface="Arial"/>
                <a:cs typeface="Arial"/>
              </a:defRPr>
            </a:pPr>
            <a:r>
              <a:rPr lang="ru-RU" sz="3225" b="1" dirty="0">
                <a:solidFill>
                  <a:srgbClr val="182530"/>
                </a:solidFill>
                <a:latin typeface="Arial"/>
                <a:ea typeface="Arial"/>
                <a:cs typeface="Arial"/>
              </a:rPr>
              <a:t>Конфигурация портов</a:t>
            </a:r>
            <a:endParaRPr sz="3225" b="1" dirty="0">
              <a:solidFill>
                <a:srgbClr val="182530"/>
              </a:solidFill>
              <a:latin typeface="Arial"/>
              <a:ea typeface="Arial"/>
              <a:cs typeface="Arial"/>
            </a:endParaRPr>
          </a:p>
        </p:txBody>
      </p:sp>
      <p:sp>
        <p:nvSpPr>
          <p:cNvPr id="2" name="line_60">
            <a:extLst>
              <a:ext uri="{FF2B5EF4-FFF2-40B4-BE49-F238E27FC236}">
                <a16:creationId xmlns:a16="http://schemas.microsoft.com/office/drawing/2014/main" id="{8A395703-0AC3-D299-FB43-A7C3D9CD16B1}"/>
              </a:ext>
            </a:extLst>
          </p:cNvPr>
          <p:cNvSpPr>
            <a:spLocks noGrp="1"/>
          </p:cNvSpPr>
          <p:nvPr/>
        </p:nvSpPr>
        <p:spPr>
          <a:xfrm>
            <a:off x="457200" y="1133475"/>
            <a:ext cx="11277600" cy="0"/>
          </a:xfrm>
          <a:prstGeom prst="line">
            <a:avLst/>
          </a:prstGeom>
          <a:noFill/>
          <a:ln w="9525">
            <a:solidFill>
              <a:srgbClr val="B9C4CC"/>
            </a:solidFill>
          </a:ln>
        </p:spPr>
        <p:txBody>
          <a:bodyPr/>
          <a:lstStyle/>
          <a:p>
            <a:endParaRPr lang="en-US"/>
          </a:p>
        </p:txBody>
      </p:sp>
      <p:sp>
        <p:nvSpPr>
          <p:cNvPr id="4" name="text_62">
            <a:extLst>
              <a:ext uri="{FF2B5EF4-FFF2-40B4-BE49-F238E27FC236}">
                <a16:creationId xmlns:a16="http://schemas.microsoft.com/office/drawing/2014/main" id="{55532A30-BFE8-C59B-66BA-DD69F2B28CAA}"/>
              </a:ext>
            </a:extLst>
          </p:cNvPr>
          <p:cNvSpPr>
            <a:spLocks noGrp="1"/>
          </p:cNvSpPr>
          <p:nvPr/>
        </p:nvSpPr>
        <p:spPr>
          <a:xfrm>
            <a:off x="11220450" y="6343650"/>
            <a:ext cx="514350" cy="304800"/>
          </a:xfrm>
          <a:prstGeom prst="rect">
            <a:avLst/>
          </a:prstGeom>
          <a:noFill/>
          <a:ln w="0">
            <a:noFill/>
          </a:ln>
        </p:spPr>
        <p:txBody>
          <a:bodyPr wrap="square" lIns="0" tIns="0" rIns="0" bIns="0">
            <a:noAutofit/>
          </a:bodyPr>
          <a:lstStyle/>
          <a:p>
            <a:pPr algn="r">
              <a:defRPr sz="1500">
                <a:solidFill>
                  <a:srgbClr val="56616A"/>
                </a:solidFill>
                <a:latin typeface="Arial"/>
                <a:ea typeface="Arial"/>
                <a:cs typeface="Arial"/>
              </a:defRPr>
            </a:pPr>
            <a:r>
              <a:rPr sz="1500">
                <a:solidFill>
                  <a:srgbClr val="56616A"/>
                </a:solidFill>
                <a:latin typeface="Arial"/>
                <a:ea typeface="Arial"/>
                <a:cs typeface="Arial"/>
              </a:rPr>
              <a:t>04</a:t>
            </a:r>
          </a:p>
        </p:txBody>
      </p:sp>
      <p:pic>
        <p:nvPicPr>
          <p:cNvPr id="7" name="Picture 6">
            <a:extLst>
              <a:ext uri="{FF2B5EF4-FFF2-40B4-BE49-F238E27FC236}">
                <a16:creationId xmlns:a16="http://schemas.microsoft.com/office/drawing/2014/main" id="{39348A54-6440-3C12-3C3B-008C61B98429}"/>
              </a:ext>
            </a:extLst>
          </p:cNvPr>
          <p:cNvPicPr>
            <a:picLocks noChangeAspect="1"/>
          </p:cNvPicPr>
          <p:nvPr/>
        </p:nvPicPr>
        <p:blipFill>
          <a:blip r:embed="rId3"/>
          <a:stretch>
            <a:fillRect/>
          </a:stretch>
        </p:blipFill>
        <p:spPr>
          <a:xfrm>
            <a:off x="3011352" y="1997896"/>
            <a:ext cx="5001142" cy="1452561"/>
          </a:xfrm>
          <a:prstGeom prst="rect">
            <a:avLst/>
          </a:prstGeom>
        </p:spPr>
      </p:pic>
      <p:pic>
        <p:nvPicPr>
          <p:cNvPr id="10" name="Picture 9">
            <a:extLst>
              <a:ext uri="{FF2B5EF4-FFF2-40B4-BE49-F238E27FC236}">
                <a16:creationId xmlns:a16="http://schemas.microsoft.com/office/drawing/2014/main" id="{4EB7BB9D-D0B8-A59B-BD00-577B149C781C}"/>
              </a:ext>
            </a:extLst>
          </p:cNvPr>
          <p:cNvPicPr>
            <a:picLocks noChangeAspect="1"/>
          </p:cNvPicPr>
          <p:nvPr/>
        </p:nvPicPr>
        <p:blipFill>
          <a:blip r:embed="rId4"/>
          <a:stretch>
            <a:fillRect/>
          </a:stretch>
        </p:blipFill>
        <p:spPr>
          <a:xfrm>
            <a:off x="712396" y="3945545"/>
            <a:ext cx="4126304" cy="2704165"/>
          </a:xfrm>
          <a:prstGeom prst="rect">
            <a:avLst/>
          </a:prstGeom>
        </p:spPr>
      </p:pic>
      <p:pic>
        <p:nvPicPr>
          <p:cNvPr id="13" name="Picture 12">
            <a:extLst>
              <a:ext uri="{FF2B5EF4-FFF2-40B4-BE49-F238E27FC236}">
                <a16:creationId xmlns:a16="http://schemas.microsoft.com/office/drawing/2014/main" id="{99329BE8-95E5-FC40-38AD-73C84E999135}"/>
              </a:ext>
            </a:extLst>
          </p:cNvPr>
          <p:cNvPicPr>
            <a:picLocks noChangeAspect="1"/>
          </p:cNvPicPr>
          <p:nvPr/>
        </p:nvPicPr>
        <p:blipFill>
          <a:blip r:embed="rId5"/>
          <a:stretch>
            <a:fillRect/>
          </a:stretch>
        </p:blipFill>
        <p:spPr>
          <a:xfrm>
            <a:off x="6096000" y="4619859"/>
            <a:ext cx="3744088" cy="2028591"/>
          </a:xfrm>
          <a:prstGeom prst="rect">
            <a:avLst/>
          </a:prstGeom>
        </p:spPr>
      </p:pic>
      <p:sp>
        <p:nvSpPr>
          <p:cNvPr id="14" name="TextBox 13">
            <a:extLst>
              <a:ext uri="{FF2B5EF4-FFF2-40B4-BE49-F238E27FC236}">
                <a16:creationId xmlns:a16="http://schemas.microsoft.com/office/drawing/2014/main" id="{93FF2DDD-6FEE-C455-A290-6969D5637791}"/>
              </a:ext>
            </a:extLst>
          </p:cNvPr>
          <p:cNvSpPr txBox="1"/>
          <p:nvPr/>
        </p:nvSpPr>
        <p:spPr>
          <a:xfrm>
            <a:off x="4057650" y="1865197"/>
            <a:ext cx="292068" cy="369332"/>
          </a:xfrm>
          <a:prstGeom prst="rect">
            <a:avLst/>
          </a:prstGeom>
          <a:noFill/>
        </p:spPr>
        <p:txBody>
          <a:bodyPr wrap="none" rtlCol="0">
            <a:spAutoFit/>
          </a:bodyPr>
          <a:lstStyle/>
          <a:p>
            <a:r>
              <a:rPr lang="en-US" dirty="0">
                <a:solidFill>
                  <a:srgbClr val="FF0000"/>
                </a:solidFill>
              </a:rPr>
              <a:t>?</a:t>
            </a:r>
          </a:p>
        </p:txBody>
      </p:sp>
      <p:sp>
        <p:nvSpPr>
          <p:cNvPr id="16" name="TextBox 15">
            <a:extLst>
              <a:ext uri="{FF2B5EF4-FFF2-40B4-BE49-F238E27FC236}">
                <a16:creationId xmlns:a16="http://schemas.microsoft.com/office/drawing/2014/main" id="{EA8C8063-E074-26FF-CFD1-07332517BEAD}"/>
              </a:ext>
            </a:extLst>
          </p:cNvPr>
          <p:cNvSpPr txBox="1"/>
          <p:nvPr/>
        </p:nvSpPr>
        <p:spPr>
          <a:xfrm>
            <a:off x="4057650" y="2794768"/>
            <a:ext cx="292068" cy="369332"/>
          </a:xfrm>
          <a:prstGeom prst="rect">
            <a:avLst/>
          </a:prstGeom>
          <a:noFill/>
        </p:spPr>
        <p:txBody>
          <a:bodyPr wrap="none" rtlCol="0">
            <a:spAutoFit/>
          </a:bodyPr>
          <a:lstStyle/>
          <a:p>
            <a:r>
              <a:rPr lang="en-US" dirty="0">
                <a:solidFill>
                  <a:srgbClr val="FF0000"/>
                </a:solidFill>
              </a:rPr>
              <a:t>?</a:t>
            </a:r>
          </a:p>
        </p:txBody>
      </p:sp>
      <p:sp>
        <p:nvSpPr>
          <p:cNvPr id="18" name="TextBox 17">
            <a:extLst>
              <a:ext uri="{FF2B5EF4-FFF2-40B4-BE49-F238E27FC236}">
                <a16:creationId xmlns:a16="http://schemas.microsoft.com/office/drawing/2014/main" id="{E3AE78F0-F66E-C487-B061-D661F7E69FAE}"/>
              </a:ext>
            </a:extLst>
          </p:cNvPr>
          <p:cNvSpPr txBox="1"/>
          <p:nvPr/>
        </p:nvSpPr>
        <p:spPr>
          <a:xfrm>
            <a:off x="6686550" y="2354845"/>
            <a:ext cx="292068" cy="369332"/>
          </a:xfrm>
          <a:prstGeom prst="rect">
            <a:avLst/>
          </a:prstGeom>
          <a:noFill/>
        </p:spPr>
        <p:txBody>
          <a:bodyPr wrap="none" rtlCol="0">
            <a:spAutoFit/>
          </a:bodyPr>
          <a:lstStyle/>
          <a:p>
            <a:r>
              <a:rPr lang="en-US" dirty="0">
                <a:solidFill>
                  <a:srgbClr val="FF0000"/>
                </a:solidFill>
              </a:rPr>
              <a:t>?</a:t>
            </a:r>
          </a:p>
        </p:txBody>
      </p:sp>
      <p:sp>
        <p:nvSpPr>
          <p:cNvPr id="3" name="TextBox 2">
            <a:extLst>
              <a:ext uri="{FF2B5EF4-FFF2-40B4-BE49-F238E27FC236}">
                <a16:creationId xmlns:a16="http://schemas.microsoft.com/office/drawing/2014/main" id="{B07BECB3-9887-A8A6-B1DA-37157A015DB4}"/>
              </a:ext>
            </a:extLst>
          </p:cNvPr>
          <p:cNvSpPr txBox="1"/>
          <p:nvPr/>
        </p:nvSpPr>
        <p:spPr>
          <a:xfrm>
            <a:off x="4203684" y="1365631"/>
            <a:ext cx="2489143" cy="400110"/>
          </a:xfrm>
          <a:prstGeom prst="rect">
            <a:avLst/>
          </a:prstGeom>
          <a:noFill/>
        </p:spPr>
        <p:txBody>
          <a:bodyPr wrap="none" rtlCol="0">
            <a:spAutoFit/>
          </a:bodyPr>
          <a:lstStyle/>
          <a:p>
            <a:r>
              <a:rPr lang="ru-RU" sz="2000" b="1" dirty="0">
                <a:solidFill>
                  <a:srgbClr val="FF0000"/>
                </a:solidFill>
              </a:rPr>
              <a:t>Где в схеме ошибка</a:t>
            </a:r>
            <a:r>
              <a:rPr lang="en-US" sz="2000" b="1" dirty="0">
                <a:solidFill>
                  <a:srgbClr val="FF0000"/>
                </a:solidFill>
              </a:rPr>
              <a:t>?</a:t>
            </a:r>
          </a:p>
        </p:txBody>
      </p:sp>
    </p:spTree>
    <p:extLst>
      <p:ext uri="{BB962C8B-B14F-4D97-AF65-F5344CB8AC3E}">
        <p14:creationId xmlns:p14="http://schemas.microsoft.com/office/powerpoint/2010/main" val="122259738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E8F016-F1DF-B811-B72B-771B99F930E5}"/>
            </a:ext>
          </a:extLst>
        </p:cNvPr>
        <p:cNvGrpSpPr/>
        <p:nvPr/>
      </p:nvGrpSpPr>
      <p:grpSpPr>
        <a:xfrm>
          <a:off x="0" y="0"/>
          <a:ext cx="0" cy="0"/>
          <a:chOff x="0" y="0"/>
          <a:chExt cx="0" cy="0"/>
        </a:xfrm>
      </p:grpSpPr>
      <p:sp>
        <p:nvSpPr>
          <p:cNvPr id="26" name="text_59">
            <a:extLst>
              <a:ext uri="{FF2B5EF4-FFF2-40B4-BE49-F238E27FC236}">
                <a16:creationId xmlns:a16="http://schemas.microsoft.com/office/drawing/2014/main" id="{CD03D377-ABCB-574C-38D2-B192E6F83673}"/>
              </a:ext>
            </a:extLst>
          </p:cNvPr>
          <p:cNvSpPr>
            <a:spLocks noGrp="1"/>
          </p:cNvSpPr>
          <p:nvPr/>
        </p:nvSpPr>
        <p:spPr>
          <a:xfrm>
            <a:off x="457200" y="333375"/>
            <a:ext cx="11277600" cy="762000"/>
          </a:xfrm>
          <a:prstGeom prst="rect">
            <a:avLst/>
          </a:prstGeom>
          <a:noFill/>
          <a:ln w="0">
            <a:noFill/>
          </a:ln>
        </p:spPr>
        <p:txBody>
          <a:bodyPr wrap="square" lIns="0" tIns="0" rIns="0" bIns="0">
            <a:noAutofit/>
          </a:bodyPr>
          <a:lstStyle/>
          <a:p>
            <a:pPr>
              <a:defRPr sz="3225" b="1">
                <a:solidFill>
                  <a:srgbClr val="182530"/>
                </a:solidFill>
                <a:latin typeface="Arial"/>
                <a:ea typeface="Arial"/>
                <a:cs typeface="Arial"/>
              </a:defRPr>
            </a:pPr>
            <a:r>
              <a:rPr lang="ru-RU" sz="3225" b="1" dirty="0">
                <a:solidFill>
                  <a:srgbClr val="182530"/>
                </a:solidFill>
                <a:latin typeface="Arial"/>
                <a:ea typeface="Arial"/>
                <a:cs typeface="Arial"/>
              </a:rPr>
              <a:t>Конфигурация портов</a:t>
            </a:r>
            <a:r>
              <a:rPr lang="en-US" sz="3225" b="1" dirty="0">
                <a:solidFill>
                  <a:srgbClr val="182530"/>
                </a:solidFill>
                <a:latin typeface="Arial"/>
                <a:ea typeface="Arial"/>
                <a:cs typeface="Arial"/>
              </a:rPr>
              <a:t>: (Pin Planner)</a:t>
            </a:r>
            <a:endParaRPr sz="3225" b="1" dirty="0">
              <a:solidFill>
                <a:srgbClr val="182530"/>
              </a:solidFill>
              <a:latin typeface="Arial"/>
              <a:ea typeface="Arial"/>
              <a:cs typeface="Arial"/>
            </a:endParaRPr>
          </a:p>
        </p:txBody>
      </p:sp>
      <p:sp>
        <p:nvSpPr>
          <p:cNvPr id="2" name="line_60">
            <a:extLst>
              <a:ext uri="{FF2B5EF4-FFF2-40B4-BE49-F238E27FC236}">
                <a16:creationId xmlns:a16="http://schemas.microsoft.com/office/drawing/2014/main" id="{94E507DA-1B97-3D46-DCB1-5290E0BE009C}"/>
              </a:ext>
            </a:extLst>
          </p:cNvPr>
          <p:cNvSpPr>
            <a:spLocks noGrp="1"/>
          </p:cNvSpPr>
          <p:nvPr/>
        </p:nvSpPr>
        <p:spPr>
          <a:xfrm>
            <a:off x="457200" y="1133475"/>
            <a:ext cx="11277600" cy="0"/>
          </a:xfrm>
          <a:prstGeom prst="line">
            <a:avLst/>
          </a:prstGeom>
          <a:noFill/>
          <a:ln w="9525">
            <a:solidFill>
              <a:srgbClr val="B9C4CC"/>
            </a:solidFill>
          </a:ln>
        </p:spPr>
        <p:txBody>
          <a:bodyPr/>
          <a:lstStyle/>
          <a:p>
            <a:endParaRPr lang="en-US"/>
          </a:p>
        </p:txBody>
      </p:sp>
      <p:sp>
        <p:nvSpPr>
          <p:cNvPr id="4" name="text_62">
            <a:extLst>
              <a:ext uri="{FF2B5EF4-FFF2-40B4-BE49-F238E27FC236}">
                <a16:creationId xmlns:a16="http://schemas.microsoft.com/office/drawing/2014/main" id="{3C98FCE1-F5B2-7D0A-7E2A-CCA24AA85993}"/>
              </a:ext>
            </a:extLst>
          </p:cNvPr>
          <p:cNvSpPr>
            <a:spLocks noGrp="1"/>
          </p:cNvSpPr>
          <p:nvPr/>
        </p:nvSpPr>
        <p:spPr>
          <a:xfrm>
            <a:off x="11220450" y="6343650"/>
            <a:ext cx="514350" cy="304800"/>
          </a:xfrm>
          <a:prstGeom prst="rect">
            <a:avLst/>
          </a:prstGeom>
          <a:noFill/>
          <a:ln w="0">
            <a:noFill/>
          </a:ln>
        </p:spPr>
        <p:txBody>
          <a:bodyPr wrap="square" lIns="0" tIns="0" rIns="0" bIns="0">
            <a:noAutofit/>
          </a:bodyPr>
          <a:lstStyle/>
          <a:p>
            <a:pPr algn="r">
              <a:defRPr sz="1500">
                <a:solidFill>
                  <a:srgbClr val="56616A"/>
                </a:solidFill>
                <a:latin typeface="Arial"/>
                <a:ea typeface="Arial"/>
                <a:cs typeface="Arial"/>
              </a:defRPr>
            </a:pPr>
            <a:r>
              <a:rPr sz="1500">
                <a:solidFill>
                  <a:srgbClr val="56616A"/>
                </a:solidFill>
                <a:latin typeface="Arial"/>
                <a:ea typeface="Arial"/>
                <a:cs typeface="Arial"/>
              </a:rPr>
              <a:t>04</a:t>
            </a:r>
          </a:p>
        </p:txBody>
      </p:sp>
      <p:pic>
        <p:nvPicPr>
          <p:cNvPr id="10" name="Picture 9">
            <a:extLst>
              <a:ext uri="{FF2B5EF4-FFF2-40B4-BE49-F238E27FC236}">
                <a16:creationId xmlns:a16="http://schemas.microsoft.com/office/drawing/2014/main" id="{378BEF58-AAFD-7FBC-F575-E35EDC222858}"/>
              </a:ext>
            </a:extLst>
          </p:cNvPr>
          <p:cNvPicPr>
            <a:picLocks noChangeAspect="1"/>
          </p:cNvPicPr>
          <p:nvPr/>
        </p:nvPicPr>
        <p:blipFill>
          <a:blip r:embed="rId3"/>
          <a:stretch>
            <a:fillRect/>
          </a:stretch>
        </p:blipFill>
        <p:spPr>
          <a:xfrm>
            <a:off x="712396" y="3945545"/>
            <a:ext cx="4126304" cy="2704165"/>
          </a:xfrm>
          <a:prstGeom prst="rect">
            <a:avLst/>
          </a:prstGeom>
        </p:spPr>
      </p:pic>
      <p:pic>
        <p:nvPicPr>
          <p:cNvPr id="13" name="Picture 12">
            <a:extLst>
              <a:ext uri="{FF2B5EF4-FFF2-40B4-BE49-F238E27FC236}">
                <a16:creationId xmlns:a16="http://schemas.microsoft.com/office/drawing/2014/main" id="{CC539134-3673-3A9A-4ADF-98DFD8B82874}"/>
              </a:ext>
            </a:extLst>
          </p:cNvPr>
          <p:cNvPicPr>
            <a:picLocks noChangeAspect="1"/>
          </p:cNvPicPr>
          <p:nvPr/>
        </p:nvPicPr>
        <p:blipFill>
          <a:blip r:embed="rId4"/>
          <a:stretch>
            <a:fillRect/>
          </a:stretch>
        </p:blipFill>
        <p:spPr>
          <a:xfrm>
            <a:off x="6096000" y="4619859"/>
            <a:ext cx="3744088" cy="2028591"/>
          </a:xfrm>
          <a:prstGeom prst="rect">
            <a:avLst/>
          </a:prstGeom>
        </p:spPr>
      </p:pic>
      <p:pic>
        <p:nvPicPr>
          <p:cNvPr id="6" name="Picture 5">
            <a:extLst>
              <a:ext uri="{FF2B5EF4-FFF2-40B4-BE49-F238E27FC236}">
                <a16:creationId xmlns:a16="http://schemas.microsoft.com/office/drawing/2014/main" id="{C88E031B-4203-8973-DF9A-858E13EFECFE}"/>
              </a:ext>
            </a:extLst>
          </p:cNvPr>
          <p:cNvPicPr>
            <a:picLocks noChangeAspect="1"/>
          </p:cNvPicPr>
          <p:nvPr/>
        </p:nvPicPr>
        <p:blipFill>
          <a:blip r:embed="rId5"/>
          <a:stretch>
            <a:fillRect/>
          </a:stretch>
        </p:blipFill>
        <p:spPr>
          <a:xfrm>
            <a:off x="108702" y="2464717"/>
            <a:ext cx="11974596" cy="895475"/>
          </a:xfrm>
          <a:prstGeom prst="rect">
            <a:avLst/>
          </a:prstGeom>
        </p:spPr>
      </p:pic>
    </p:spTree>
    <p:extLst>
      <p:ext uri="{BB962C8B-B14F-4D97-AF65-F5344CB8AC3E}">
        <p14:creationId xmlns:p14="http://schemas.microsoft.com/office/powerpoint/2010/main" val="423831841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9C1331-E14D-5696-5E5E-DBCEBE0DF596}"/>
            </a:ext>
          </a:extLst>
        </p:cNvPr>
        <p:cNvGrpSpPr/>
        <p:nvPr/>
      </p:nvGrpSpPr>
      <p:grpSpPr>
        <a:xfrm>
          <a:off x="0" y="0"/>
          <a:ext cx="0" cy="0"/>
          <a:chOff x="0" y="0"/>
          <a:chExt cx="0" cy="0"/>
        </a:xfrm>
      </p:grpSpPr>
      <p:sp>
        <p:nvSpPr>
          <p:cNvPr id="26" name="text_59">
            <a:extLst>
              <a:ext uri="{FF2B5EF4-FFF2-40B4-BE49-F238E27FC236}">
                <a16:creationId xmlns:a16="http://schemas.microsoft.com/office/drawing/2014/main" id="{06D0F603-1467-97B1-CE4B-FAC04CDD1D82}"/>
              </a:ext>
            </a:extLst>
          </p:cNvPr>
          <p:cNvSpPr>
            <a:spLocks noGrp="1"/>
          </p:cNvSpPr>
          <p:nvPr/>
        </p:nvSpPr>
        <p:spPr>
          <a:xfrm>
            <a:off x="457200" y="333375"/>
            <a:ext cx="11277600" cy="762000"/>
          </a:xfrm>
          <a:prstGeom prst="rect">
            <a:avLst/>
          </a:prstGeom>
          <a:noFill/>
          <a:ln w="0">
            <a:noFill/>
          </a:ln>
        </p:spPr>
        <p:txBody>
          <a:bodyPr wrap="square" lIns="0" tIns="0" rIns="0" bIns="0">
            <a:noAutofit/>
          </a:bodyPr>
          <a:lstStyle/>
          <a:p>
            <a:pPr>
              <a:defRPr sz="3225" b="1">
                <a:solidFill>
                  <a:srgbClr val="182530"/>
                </a:solidFill>
                <a:latin typeface="Arial"/>
                <a:ea typeface="Arial"/>
                <a:cs typeface="Arial"/>
              </a:defRPr>
            </a:pPr>
            <a:r>
              <a:rPr lang="en-US" sz="3225" b="1" dirty="0">
                <a:solidFill>
                  <a:srgbClr val="182530"/>
                </a:solidFill>
                <a:latin typeface="Arial"/>
                <a:ea typeface="Arial"/>
                <a:cs typeface="Arial"/>
              </a:rPr>
              <a:t>Synthesis</a:t>
            </a:r>
            <a:endParaRPr sz="3225" b="1" dirty="0">
              <a:solidFill>
                <a:srgbClr val="182530"/>
              </a:solidFill>
              <a:latin typeface="Arial"/>
              <a:ea typeface="Arial"/>
              <a:cs typeface="Arial"/>
            </a:endParaRPr>
          </a:p>
        </p:txBody>
      </p:sp>
      <p:sp>
        <p:nvSpPr>
          <p:cNvPr id="2" name="line_60">
            <a:extLst>
              <a:ext uri="{FF2B5EF4-FFF2-40B4-BE49-F238E27FC236}">
                <a16:creationId xmlns:a16="http://schemas.microsoft.com/office/drawing/2014/main" id="{CBDDE770-FB3A-6992-10B1-88ECC4E1801C}"/>
              </a:ext>
            </a:extLst>
          </p:cNvPr>
          <p:cNvSpPr>
            <a:spLocks noGrp="1"/>
          </p:cNvSpPr>
          <p:nvPr/>
        </p:nvSpPr>
        <p:spPr>
          <a:xfrm>
            <a:off x="457200" y="1133475"/>
            <a:ext cx="11277600" cy="0"/>
          </a:xfrm>
          <a:prstGeom prst="line">
            <a:avLst/>
          </a:prstGeom>
          <a:noFill/>
          <a:ln w="9525">
            <a:solidFill>
              <a:srgbClr val="B9C4CC"/>
            </a:solidFill>
          </a:ln>
        </p:spPr>
        <p:txBody>
          <a:bodyPr/>
          <a:lstStyle/>
          <a:p>
            <a:endParaRPr lang="en-US"/>
          </a:p>
        </p:txBody>
      </p:sp>
      <p:sp>
        <p:nvSpPr>
          <p:cNvPr id="4" name="text_62">
            <a:extLst>
              <a:ext uri="{FF2B5EF4-FFF2-40B4-BE49-F238E27FC236}">
                <a16:creationId xmlns:a16="http://schemas.microsoft.com/office/drawing/2014/main" id="{7A320BA0-5B9E-B69A-EDF7-2CC83D98E87A}"/>
              </a:ext>
            </a:extLst>
          </p:cNvPr>
          <p:cNvSpPr>
            <a:spLocks noGrp="1"/>
          </p:cNvSpPr>
          <p:nvPr/>
        </p:nvSpPr>
        <p:spPr>
          <a:xfrm>
            <a:off x="11220450" y="6343650"/>
            <a:ext cx="514350" cy="304800"/>
          </a:xfrm>
          <a:prstGeom prst="rect">
            <a:avLst/>
          </a:prstGeom>
          <a:noFill/>
          <a:ln w="0">
            <a:noFill/>
          </a:ln>
        </p:spPr>
        <p:txBody>
          <a:bodyPr wrap="square" lIns="0" tIns="0" rIns="0" bIns="0">
            <a:noAutofit/>
          </a:bodyPr>
          <a:lstStyle/>
          <a:p>
            <a:pPr algn="r">
              <a:defRPr sz="1500">
                <a:solidFill>
                  <a:srgbClr val="56616A"/>
                </a:solidFill>
                <a:latin typeface="Arial"/>
                <a:ea typeface="Arial"/>
                <a:cs typeface="Arial"/>
              </a:defRPr>
            </a:pPr>
            <a:r>
              <a:rPr sz="1500">
                <a:solidFill>
                  <a:srgbClr val="56616A"/>
                </a:solidFill>
                <a:latin typeface="Arial"/>
                <a:ea typeface="Arial"/>
                <a:cs typeface="Arial"/>
              </a:rPr>
              <a:t>04</a:t>
            </a:r>
          </a:p>
        </p:txBody>
      </p:sp>
      <p:sp>
        <p:nvSpPr>
          <p:cNvPr id="11" name="Arrow: Right 10">
            <a:extLst>
              <a:ext uri="{FF2B5EF4-FFF2-40B4-BE49-F238E27FC236}">
                <a16:creationId xmlns:a16="http://schemas.microsoft.com/office/drawing/2014/main" id="{23CC8C47-0199-2EF4-3C99-E5B55591E129}"/>
              </a:ext>
            </a:extLst>
          </p:cNvPr>
          <p:cNvSpPr/>
          <p:nvPr/>
        </p:nvSpPr>
        <p:spPr>
          <a:xfrm>
            <a:off x="3003550" y="2527137"/>
            <a:ext cx="1320800" cy="509837"/>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Box 5">
            <a:extLst>
              <a:ext uri="{FF2B5EF4-FFF2-40B4-BE49-F238E27FC236}">
                <a16:creationId xmlns:a16="http://schemas.microsoft.com/office/drawing/2014/main" id="{4B68DFA4-C1D8-F93D-EC54-3D43F6F1A124}"/>
              </a:ext>
            </a:extLst>
          </p:cNvPr>
          <p:cNvSpPr txBox="1"/>
          <p:nvPr/>
        </p:nvSpPr>
        <p:spPr>
          <a:xfrm>
            <a:off x="393700" y="1953117"/>
            <a:ext cx="2609850" cy="1907445"/>
          </a:xfrm>
          <a:prstGeom prst="rect">
            <a:avLst/>
          </a:prstGeom>
          <a:noFill/>
        </p:spPr>
        <p:txBody>
          <a:bodyPr wrap="square">
            <a:spAutoFit/>
          </a:bodyPr>
          <a:lstStyle/>
          <a:p>
            <a:pPr>
              <a:lnSpc>
                <a:spcPct val="113095"/>
              </a:lnSpc>
              <a:buNone/>
            </a:pPr>
            <a:r>
              <a:rPr lang="en-US" sz="1050" b="0" dirty="0">
                <a:solidFill>
                  <a:srgbClr val="CF222E"/>
                </a:solidFill>
                <a:effectLst/>
                <a:latin typeface="Consolas" panose="020B0609020204030204" pitchFamily="49" charset="0"/>
              </a:rPr>
              <a:t>module</a:t>
            </a:r>
            <a:r>
              <a:rPr lang="en-US" sz="1050" b="0" dirty="0">
                <a:solidFill>
                  <a:srgbClr val="1F2328"/>
                </a:solidFill>
                <a:effectLst/>
                <a:latin typeface="Consolas" panose="020B0609020204030204" pitchFamily="49" charset="0"/>
              </a:rPr>
              <a:t> </a:t>
            </a:r>
            <a:r>
              <a:rPr lang="en-US" sz="1050" b="0" dirty="0">
                <a:solidFill>
                  <a:srgbClr val="267F99"/>
                </a:solidFill>
                <a:effectLst/>
                <a:latin typeface="Consolas" panose="020B0609020204030204" pitchFamily="49" charset="0"/>
              </a:rPr>
              <a:t>top</a:t>
            </a:r>
            <a:r>
              <a:rPr lang="en-US" sz="1050" b="0" dirty="0">
                <a:solidFill>
                  <a:srgbClr val="1F2328"/>
                </a:solidFill>
                <a:effectLst/>
                <a:latin typeface="Consolas" panose="020B0609020204030204" pitchFamily="49" charset="0"/>
              </a:rPr>
              <a:t> (</a:t>
            </a:r>
            <a:endParaRPr lang="en-US" sz="1050" b="0" dirty="0">
              <a:solidFill>
                <a:srgbClr val="202020"/>
              </a:solidFill>
              <a:effectLst/>
              <a:latin typeface="Consolas" panose="020B0609020204030204" pitchFamily="49" charset="0"/>
            </a:endParaRPr>
          </a:p>
          <a:p>
            <a:pPr>
              <a:lnSpc>
                <a:spcPct val="113095"/>
              </a:lnSpc>
              <a:buNone/>
            </a:pPr>
            <a:r>
              <a:rPr lang="en-US" sz="1050" b="0" dirty="0">
                <a:solidFill>
                  <a:srgbClr val="1F2328"/>
                </a:solidFill>
                <a:effectLst/>
                <a:latin typeface="Consolas" panose="020B0609020204030204" pitchFamily="49" charset="0"/>
              </a:rPr>
              <a:t>    </a:t>
            </a:r>
            <a:r>
              <a:rPr lang="en-US" sz="1050" b="0" dirty="0">
                <a:solidFill>
                  <a:srgbClr val="CF222E"/>
                </a:solidFill>
                <a:effectLst/>
                <a:latin typeface="Consolas" panose="020B0609020204030204" pitchFamily="49" charset="0"/>
              </a:rPr>
              <a:t>input</a:t>
            </a:r>
            <a:r>
              <a:rPr lang="en-US" sz="1050" b="0" dirty="0">
                <a:solidFill>
                  <a:srgbClr val="1F2328"/>
                </a:solidFill>
                <a:effectLst/>
                <a:latin typeface="Consolas" panose="020B0609020204030204" pitchFamily="49" charset="0"/>
              </a:rPr>
              <a:t> btn_1, btn_2,</a:t>
            </a:r>
            <a:endParaRPr lang="en-US" sz="1050" b="0" dirty="0">
              <a:solidFill>
                <a:srgbClr val="202020"/>
              </a:solidFill>
              <a:effectLst/>
              <a:latin typeface="Consolas" panose="020B0609020204030204" pitchFamily="49" charset="0"/>
            </a:endParaRPr>
          </a:p>
          <a:p>
            <a:pPr>
              <a:lnSpc>
                <a:spcPct val="113095"/>
              </a:lnSpc>
              <a:buNone/>
            </a:pPr>
            <a:r>
              <a:rPr lang="en-US" sz="1050" b="0" dirty="0">
                <a:solidFill>
                  <a:srgbClr val="1F2328"/>
                </a:solidFill>
                <a:effectLst/>
                <a:latin typeface="Consolas" panose="020B0609020204030204" pitchFamily="49" charset="0"/>
              </a:rPr>
              <a:t>    </a:t>
            </a:r>
            <a:r>
              <a:rPr lang="en-US" sz="1050" b="0" dirty="0">
                <a:solidFill>
                  <a:srgbClr val="CF222E"/>
                </a:solidFill>
                <a:effectLst/>
                <a:latin typeface="Consolas" panose="020B0609020204030204" pitchFamily="49" charset="0"/>
              </a:rPr>
              <a:t>output</a:t>
            </a:r>
            <a:r>
              <a:rPr lang="en-US" sz="1050" b="0" dirty="0">
                <a:solidFill>
                  <a:srgbClr val="1F2328"/>
                </a:solidFill>
                <a:effectLst/>
                <a:latin typeface="Consolas" panose="020B0609020204030204" pitchFamily="49" charset="0"/>
              </a:rPr>
              <a:t> led</a:t>
            </a:r>
            <a:endParaRPr lang="en-US" sz="1050" b="0" dirty="0">
              <a:solidFill>
                <a:srgbClr val="202020"/>
              </a:solidFill>
              <a:effectLst/>
              <a:latin typeface="Consolas" panose="020B0609020204030204" pitchFamily="49" charset="0"/>
            </a:endParaRPr>
          </a:p>
          <a:p>
            <a:pPr>
              <a:lnSpc>
                <a:spcPct val="113095"/>
              </a:lnSpc>
              <a:buNone/>
            </a:pPr>
            <a:r>
              <a:rPr lang="en-US" sz="1050" b="0" dirty="0">
                <a:solidFill>
                  <a:srgbClr val="1F2328"/>
                </a:solidFill>
                <a:effectLst/>
                <a:latin typeface="Consolas" panose="020B0609020204030204" pitchFamily="49" charset="0"/>
              </a:rPr>
              <a:t>);</a:t>
            </a:r>
            <a:endParaRPr lang="en-US" sz="1050" b="0" dirty="0">
              <a:solidFill>
                <a:srgbClr val="202020"/>
              </a:solidFill>
              <a:effectLst/>
              <a:latin typeface="Consolas" panose="020B0609020204030204" pitchFamily="49" charset="0"/>
            </a:endParaRPr>
          </a:p>
          <a:p>
            <a:pPr>
              <a:lnSpc>
                <a:spcPct val="113095"/>
              </a:lnSpc>
              <a:buNone/>
            </a:pPr>
            <a:r>
              <a:rPr lang="en-US" sz="1050" b="0" dirty="0">
                <a:solidFill>
                  <a:srgbClr val="1F2328"/>
                </a:solidFill>
                <a:effectLst/>
                <a:latin typeface="Consolas" panose="020B0609020204030204" pitchFamily="49" charset="0"/>
              </a:rPr>
              <a:t>    </a:t>
            </a:r>
            <a:endParaRPr lang="en-US" sz="1050" b="0" dirty="0">
              <a:solidFill>
                <a:srgbClr val="202020"/>
              </a:solidFill>
              <a:effectLst/>
              <a:latin typeface="Consolas" panose="020B0609020204030204" pitchFamily="49" charset="0"/>
            </a:endParaRPr>
          </a:p>
          <a:p>
            <a:pPr>
              <a:lnSpc>
                <a:spcPct val="113095"/>
              </a:lnSpc>
              <a:buNone/>
            </a:pPr>
            <a:r>
              <a:rPr lang="en-US" sz="1050" b="0" dirty="0">
                <a:solidFill>
                  <a:srgbClr val="1F2328"/>
                </a:solidFill>
                <a:effectLst/>
                <a:latin typeface="Consolas" panose="020B0609020204030204" pitchFamily="49" charset="0"/>
              </a:rPr>
              <a:t>    </a:t>
            </a:r>
            <a:r>
              <a:rPr lang="en-US" sz="1050" b="0" dirty="0">
                <a:solidFill>
                  <a:srgbClr val="CF222E"/>
                </a:solidFill>
                <a:effectLst/>
                <a:latin typeface="Consolas" panose="020B0609020204030204" pitchFamily="49" charset="0"/>
              </a:rPr>
              <a:t>assign</a:t>
            </a:r>
            <a:r>
              <a:rPr lang="en-US" sz="1050" b="0" dirty="0">
                <a:solidFill>
                  <a:srgbClr val="1F2328"/>
                </a:solidFill>
                <a:effectLst/>
                <a:latin typeface="Consolas" panose="020B0609020204030204" pitchFamily="49" charset="0"/>
              </a:rPr>
              <a:t> led </a:t>
            </a:r>
            <a:r>
              <a:rPr lang="en-US" sz="1050" b="0" dirty="0">
                <a:solidFill>
                  <a:srgbClr val="000000"/>
                </a:solidFill>
                <a:effectLst/>
                <a:latin typeface="Consolas" panose="020B0609020204030204" pitchFamily="49" charset="0"/>
              </a:rPr>
              <a:t>=</a:t>
            </a:r>
            <a:r>
              <a:rPr lang="en-US" sz="1050" b="0" dirty="0">
                <a:solidFill>
                  <a:srgbClr val="1F2328"/>
                </a:solidFill>
                <a:effectLst/>
                <a:latin typeface="Consolas" panose="020B0609020204030204" pitchFamily="49" charset="0"/>
              </a:rPr>
              <a:t> btn_1 </a:t>
            </a:r>
            <a:r>
              <a:rPr lang="en-US" sz="1050" b="0" dirty="0">
                <a:solidFill>
                  <a:srgbClr val="000000"/>
                </a:solidFill>
                <a:effectLst/>
                <a:latin typeface="Consolas" panose="020B0609020204030204" pitchFamily="49" charset="0"/>
              </a:rPr>
              <a:t>&amp;</a:t>
            </a:r>
            <a:r>
              <a:rPr lang="en-US" sz="1050" b="0" dirty="0">
                <a:solidFill>
                  <a:srgbClr val="1F2328"/>
                </a:solidFill>
                <a:effectLst/>
                <a:latin typeface="Consolas" panose="020B0609020204030204" pitchFamily="49" charset="0"/>
              </a:rPr>
              <a:t> btn_2;</a:t>
            </a:r>
            <a:endParaRPr lang="en-US" sz="1050" b="0" dirty="0">
              <a:solidFill>
                <a:srgbClr val="202020"/>
              </a:solidFill>
              <a:effectLst/>
              <a:latin typeface="Consolas" panose="020B0609020204030204" pitchFamily="49" charset="0"/>
            </a:endParaRPr>
          </a:p>
          <a:p>
            <a:pPr>
              <a:lnSpc>
                <a:spcPct val="113095"/>
              </a:lnSpc>
              <a:buNone/>
            </a:pPr>
            <a:r>
              <a:rPr lang="en-US" sz="1050" b="0" dirty="0">
                <a:solidFill>
                  <a:srgbClr val="1F2328"/>
                </a:solidFill>
                <a:effectLst/>
                <a:latin typeface="Consolas" panose="020B0609020204030204" pitchFamily="49" charset="0"/>
              </a:rPr>
              <a:t>    </a:t>
            </a:r>
            <a:endParaRPr lang="en-US" sz="1050" b="0" dirty="0">
              <a:solidFill>
                <a:srgbClr val="202020"/>
              </a:solidFill>
              <a:effectLst/>
              <a:latin typeface="Consolas" panose="020B0609020204030204" pitchFamily="49" charset="0"/>
            </a:endParaRPr>
          </a:p>
          <a:p>
            <a:pPr>
              <a:lnSpc>
                <a:spcPct val="113095"/>
              </a:lnSpc>
              <a:buNone/>
            </a:pPr>
            <a:r>
              <a:rPr lang="en-US" sz="1050" b="0" dirty="0">
                <a:solidFill>
                  <a:srgbClr val="CF222E"/>
                </a:solidFill>
                <a:effectLst/>
                <a:latin typeface="Consolas" panose="020B0609020204030204" pitchFamily="49" charset="0"/>
              </a:rPr>
              <a:t>endmodule</a:t>
            </a:r>
            <a:endParaRPr lang="en-US" sz="1050" b="0" dirty="0">
              <a:solidFill>
                <a:srgbClr val="202020"/>
              </a:solidFill>
              <a:effectLst/>
              <a:latin typeface="Consolas" panose="020B0609020204030204" pitchFamily="49" charset="0"/>
            </a:endParaRPr>
          </a:p>
          <a:p>
            <a:pPr>
              <a:lnSpc>
                <a:spcPct val="113095"/>
              </a:lnSpc>
              <a:buNone/>
            </a:pPr>
            <a:br>
              <a:rPr lang="en-US" sz="1050" b="0" dirty="0">
                <a:solidFill>
                  <a:srgbClr val="202020"/>
                </a:solidFill>
                <a:effectLst/>
                <a:latin typeface="Consolas" panose="020B0609020204030204" pitchFamily="49" charset="0"/>
              </a:rPr>
            </a:br>
            <a:endParaRPr lang="en-US" sz="1050" b="0" dirty="0">
              <a:solidFill>
                <a:srgbClr val="202020"/>
              </a:solidFill>
              <a:effectLst/>
              <a:latin typeface="Consolas" panose="020B0609020204030204" pitchFamily="49" charset="0"/>
            </a:endParaRPr>
          </a:p>
        </p:txBody>
      </p:sp>
      <p:pic>
        <p:nvPicPr>
          <p:cNvPr id="8" name="Picture 7">
            <a:extLst>
              <a:ext uri="{FF2B5EF4-FFF2-40B4-BE49-F238E27FC236}">
                <a16:creationId xmlns:a16="http://schemas.microsoft.com/office/drawing/2014/main" id="{DED43A13-E957-D712-D7F1-C7DFF230F251}"/>
              </a:ext>
            </a:extLst>
          </p:cNvPr>
          <p:cNvPicPr>
            <a:picLocks noChangeAspect="1"/>
          </p:cNvPicPr>
          <p:nvPr/>
        </p:nvPicPr>
        <p:blipFill>
          <a:blip r:embed="rId3"/>
          <a:stretch>
            <a:fillRect/>
          </a:stretch>
        </p:blipFill>
        <p:spPr>
          <a:xfrm>
            <a:off x="4601939" y="2188667"/>
            <a:ext cx="4124772" cy="1044320"/>
          </a:xfrm>
          <a:prstGeom prst="rect">
            <a:avLst/>
          </a:prstGeom>
        </p:spPr>
      </p:pic>
      <p:pic>
        <p:nvPicPr>
          <p:cNvPr id="7" name="Picture 6">
            <a:extLst>
              <a:ext uri="{FF2B5EF4-FFF2-40B4-BE49-F238E27FC236}">
                <a16:creationId xmlns:a16="http://schemas.microsoft.com/office/drawing/2014/main" id="{ABF6CC4E-D7C6-F8C9-7FCC-73573A11053D}"/>
              </a:ext>
            </a:extLst>
          </p:cNvPr>
          <p:cNvPicPr>
            <a:picLocks noChangeAspect="1"/>
          </p:cNvPicPr>
          <p:nvPr/>
        </p:nvPicPr>
        <p:blipFill>
          <a:blip r:embed="rId4"/>
          <a:stretch>
            <a:fillRect/>
          </a:stretch>
        </p:blipFill>
        <p:spPr>
          <a:xfrm>
            <a:off x="3003550" y="4767583"/>
            <a:ext cx="6673850" cy="1576067"/>
          </a:xfrm>
          <a:prstGeom prst="rect">
            <a:avLst/>
          </a:prstGeom>
        </p:spPr>
      </p:pic>
      <p:sp>
        <p:nvSpPr>
          <p:cNvPr id="9" name="Arrow: Down 8">
            <a:extLst>
              <a:ext uri="{FF2B5EF4-FFF2-40B4-BE49-F238E27FC236}">
                <a16:creationId xmlns:a16="http://schemas.microsoft.com/office/drawing/2014/main" id="{693B64AE-DB08-D99D-5621-DF4D56980F0A}"/>
              </a:ext>
            </a:extLst>
          </p:cNvPr>
          <p:cNvSpPr/>
          <p:nvPr/>
        </p:nvSpPr>
        <p:spPr>
          <a:xfrm>
            <a:off x="6438900" y="3625850"/>
            <a:ext cx="711200" cy="946150"/>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5EDE898D-9C41-EE4F-84DD-59CE9B25AC8E}"/>
              </a:ext>
            </a:extLst>
          </p:cNvPr>
          <p:cNvSpPr txBox="1"/>
          <p:nvPr/>
        </p:nvSpPr>
        <p:spPr>
          <a:xfrm>
            <a:off x="374650" y="1329059"/>
            <a:ext cx="10055189" cy="369332"/>
          </a:xfrm>
          <a:prstGeom prst="rect">
            <a:avLst/>
          </a:prstGeom>
          <a:noFill/>
        </p:spPr>
        <p:txBody>
          <a:bodyPr wrap="none" rtlCol="0">
            <a:spAutoFit/>
          </a:bodyPr>
          <a:lstStyle/>
          <a:p>
            <a:r>
              <a:rPr lang="ru-RU" dirty="0"/>
              <a:t>Цель – преобразование функционального описания схемы в схему состоящую из реальных</a:t>
            </a:r>
            <a:r>
              <a:rPr lang="en-US" dirty="0"/>
              <a:t> </a:t>
            </a:r>
            <a:r>
              <a:rPr lang="ru-RU" dirty="0"/>
              <a:t>блоков.</a:t>
            </a:r>
            <a:endParaRPr lang="en-US" dirty="0"/>
          </a:p>
        </p:txBody>
      </p:sp>
    </p:spTree>
    <p:extLst>
      <p:ext uri="{BB962C8B-B14F-4D97-AF65-F5344CB8AC3E}">
        <p14:creationId xmlns:p14="http://schemas.microsoft.com/office/powerpoint/2010/main" val="148816849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0D19FB-92A6-686B-2BF2-7890C20907FB}"/>
            </a:ext>
          </a:extLst>
        </p:cNvPr>
        <p:cNvGrpSpPr/>
        <p:nvPr/>
      </p:nvGrpSpPr>
      <p:grpSpPr>
        <a:xfrm>
          <a:off x="0" y="0"/>
          <a:ext cx="0" cy="0"/>
          <a:chOff x="0" y="0"/>
          <a:chExt cx="0" cy="0"/>
        </a:xfrm>
      </p:grpSpPr>
      <p:sp>
        <p:nvSpPr>
          <p:cNvPr id="26" name="text_59">
            <a:extLst>
              <a:ext uri="{FF2B5EF4-FFF2-40B4-BE49-F238E27FC236}">
                <a16:creationId xmlns:a16="http://schemas.microsoft.com/office/drawing/2014/main" id="{88AB21AA-4C8E-9AD3-7069-F391D5D84850}"/>
              </a:ext>
            </a:extLst>
          </p:cNvPr>
          <p:cNvSpPr>
            <a:spLocks noGrp="1"/>
          </p:cNvSpPr>
          <p:nvPr/>
        </p:nvSpPr>
        <p:spPr>
          <a:xfrm>
            <a:off x="457200" y="333375"/>
            <a:ext cx="11277600" cy="762000"/>
          </a:xfrm>
          <a:prstGeom prst="rect">
            <a:avLst/>
          </a:prstGeom>
          <a:noFill/>
          <a:ln w="0">
            <a:noFill/>
          </a:ln>
        </p:spPr>
        <p:txBody>
          <a:bodyPr wrap="square" lIns="0" tIns="0" rIns="0" bIns="0">
            <a:noAutofit/>
          </a:bodyPr>
          <a:lstStyle/>
          <a:p>
            <a:pPr>
              <a:defRPr sz="3225" b="1">
                <a:solidFill>
                  <a:srgbClr val="182530"/>
                </a:solidFill>
                <a:latin typeface="Arial"/>
                <a:ea typeface="Arial"/>
                <a:cs typeface="Arial"/>
              </a:defRPr>
            </a:pPr>
            <a:r>
              <a:rPr lang="en-US" sz="3225" b="1" dirty="0">
                <a:solidFill>
                  <a:srgbClr val="182530"/>
                </a:solidFill>
                <a:latin typeface="Arial"/>
                <a:ea typeface="Arial"/>
                <a:cs typeface="Arial"/>
              </a:rPr>
              <a:t>Synthesis: Logic Elements</a:t>
            </a:r>
            <a:endParaRPr sz="3225" b="1" dirty="0">
              <a:solidFill>
                <a:srgbClr val="182530"/>
              </a:solidFill>
              <a:latin typeface="Arial"/>
              <a:ea typeface="Arial"/>
              <a:cs typeface="Arial"/>
            </a:endParaRPr>
          </a:p>
        </p:txBody>
      </p:sp>
      <p:sp>
        <p:nvSpPr>
          <p:cNvPr id="2" name="line_60">
            <a:extLst>
              <a:ext uri="{FF2B5EF4-FFF2-40B4-BE49-F238E27FC236}">
                <a16:creationId xmlns:a16="http://schemas.microsoft.com/office/drawing/2014/main" id="{86A4C821-FD89-1B60-5BB2-583B5B82CB54}"/>
              </a:ext>
            </a:extLst>
          </p:cNvPr>
          <p:cNvSpPr>
            <a:spLocks noGrp="1"/>
          </p:cNvSpPr>
          <p:nvPr/>
        </p:nvSpPr>
        <p:spPr>
          <a:xfrm>
            <a:off x="457200" y="1133475"/>
            <a:ext cx="11277600" cy="0"/>
          </a:xfrm>
          <a:prstGeom prst="line">
            <a:avLst/>
          </a:prstGeom>
          <a:noFill/>
          <a:ln w="9525">
            <a:solidFill>
              <a:srgbClr val="B9C4CC"/>
            </a:solidFill>
          </a:ln>
        </p:spPr>
        <p:txBody>
          <a:bodyPr/>
          <a:lstStyle/>
          <a:p>
            <a:endParaRPr lang="en-US"/>
          </a:p>
        </p:txBody>
      </p:sp>
      <p:sp>
        <p:nvSpPr>
          <p:cNvPr id="4" name="text_62">
            <a:extLst>
              <a:ext uri="{FF2B5EF4-FFF2-40B4-BE49-F238E27FC236}">
                <a16:creationId xmlns:a16="http://schemas.microsoft.com/office/drawing/2014/main" id="{ED2C9173-96ED-0C0F-43E9-70D8813CEED0}"/>
              </a:ext>
            </a:extLst>
          </p:cNvPr>
          <p:cNvSpPr>
            <a:spLocks noGrp="1"/>
          </p:cNvSpPr>
          <p:nvPr/>
        </p:nvSpPr>
        <p:spPr>
          <a:xfrm>
            <a:off x="11220450" y="6343650"/>
            <a:ext cx="514350" cy="304800"/>
          </a:xfrm>
          <a:prstGeom prst="rect">
            <a:avLst/>
          </a:prstGeom>
          <a:noFill/>
          <a:ln w="0">
            <a:noFill/>
          </a:ln>
        </p:spPr>
        <p:txBody>
          <a:bodyPr wrap="square" lIns="0" tIns="0" rIns="0" bIns="0">
            <a:noAutofit/>
          </a:bodyPr>
          <a:lstStyle/>
          <a:p>
            <a:pPr algn="r">
              <a:defRPr sz="1500">
                <a:solidFill>
                  <a:srgbClr val="56616A"/>
                </a:solidFill>
                <a:latin typeface="Arial"/>
                <a:ea typeface="Arial"/>
                <a:cs typeface="Arial"/>
              </a:defRPr>
            </a:pPr>
            <a:r>
              <a:rPr sz="1500">
                <a:solidFill>
                  <a:srgbClr val="56616A"/>
                </a:solidFill>
                <a:latin typeface="Arial"/>
                <a:ea typeface="Arial"/>
                <a:cs typeface="Arial"/>
              </a:rPr>
              <a:t>04</a:t>
            </a:r>
          </a:p>
        </p:txBody>
      </p:sp>
      <p:pic>
        <p:nvPicPr>
          <p:cNvPr id="5" name="Picture 4">
            <a:extLst>
              <a:ext uri="{FF2B5EF4-FFF2-40B4-BE49-F238E27FC236}">
                <a16:creationId xmlns:a16="http://schemas.microsoft.com/office/drawing/2014/main" id="{B974248B-2729-C0F2-BC68-CB736830F7CB}"/>
              </a:ext>
            </a:extLst>
          </p:cNvPr>
          <p:cNvPicPr>
            <a:picLocks noChangeAspect="1"/>
          </p:cNvPicPr>
          <p:nvPr/>
        </p:nvPicPr>
        <p:blipFill>
          <a:blip r:embed="rId3"/>
          <a:stretch>
            <a:fillRect/>
          </a:stretch>
        </p:blipFill>
        <p:spPr>
          <a:xfrm>
            <a:off x="5604494" y="2474659"/>
            <a:ext cx="5508006" cy="3751516"/>
          </a:xfrm>
          <a:prstGeom prst="rect">
            <a:avLst/>
          </a:prstGeom>
        </p:spPr>
      </p:pic>
      <p:pic>
        <p:nvPicPr>
          <p:cNvPr id="10" name="Picture 9" descr="Introduction to FIELD PROGRAMMABLE GATE ARRAYS (FPGA)">
            <a:extLst>
              <a:ext uri="{FF2B5EF4-FFF2-40B4-BE49-F238E27FC236}">
                <a16:creationId xmlns:a16="http://schemas.microsoft.com/office/drawing/2014/main" id="{2FB60D09-8F58-412E-576E-59C191A9204E}"/>
              </a:ext>
            </a:extLst>
          </p:cNvPr>
          <p:cNvPicPr>
            <a:picLocks noChangeAspect="1"/>
          </p:cNvPicPr>
          <p:nvPr/>
        </p:nvPicPr>
        <p:blipFill>
          <a:blip r:embed="rId4"/>
          <a:stretch>
            <a:fillRect/>
          </a:stretch>
        </p:blipFill>
        <p:spPr>
          <a:xfrm>
            <a:off x="969318" y="2405062"/>
            <a:ext cx="4039223" cy="2832099"/>
          </a:xfrm>
          <a:prstGeom prst="rect">
            <a:avLst/>
          </a:prstGeom>
        </p:spPr>
      </p:pic>
      <p:sp>
        <p:nvSpPr>
          <p:cNvPr id="13" name="TextBox 12">
            <a:extLst>
              <a:ext uri="{FF2B5EF4-FFF2-40B4-BE49-F238E27FC236}">
                <a16:creationId xmlns:a16="http://schemas.microsoft.com/office/drawing/2014/main" id="{67BC2338-C4CE-A6AD-A053-6D76E50B8B0C}"/>
              </a:ext>
            </a:extLst>
          </p:cNvPr>
          <p:cNvSpPr txBox="1"/>
          <p:nvPr/>
        </p:nvSpPr>
        <p:spPr>
          <a:xfrm>
            <a:off x="713404" y="1689100"/>
            <a:ext cx="4360553" cy="369332"/>
          </a:xfrm>
          <a:prstGeom prst="rect">
            <a:avLst/>
          </a:prstGeom>
          <a:noFill/>
        </p:spPr>
        <p:txBody>
          <a:bodyPr wrap="none" rtlCol="0">
            <a:spAutoFit/>
          </a:bodyPr>
          <a:lstStyle/>
          <a:p>
            <a:r>
              <a:rPr lang="ru-RU" b="1" dirty="0"/>
              <a:t>Упрощенная схема логического элемента</a:t>
            </a:r>
            <a:endParaRPr lang="en-US" b="1" dirty="0"/>
          </a:p>
        </p:txBody>
      </p:sp>
      <p:sp>
        <p:nvSpPr>
          <p:cNvPr id="14" name="TextBox 13">
            <a:extLst>
              <a:ext uri="{FF2B5EF4-FFF2-40B4-BE49-F238E27FC236}">
                <a16:creationId xmlns:a16="http://schemas.microsoft.com/office/drawing/2014/main" id="{48F9370B-CCBA-4380-E626-DF403F8E3340}"/>
              </a:ext>
            </a:extLst>
          </p:cNvPr>
          <p:cNvSpPr txBox="1"/>
          <p:nvPr/>
        </p:nvSpPr>
        <p:spPr>
          <a:xfrm>
            <a:off x="6096000" y="1689100"/>
            <a:ext cx="4320991" cy="369332"/>
          </a:xfrm>
          <a:prstGeom prst="rect">
            <a:avLst/>
          </a:prstGeom>
          <a:noFill/>
        </p:spPr>
        <p:txBody>
          <a:bodyPr wrap="none" rtlCol="0">
            <a:spAutoFit/>
          </a:bodyPr>
          <a:lstStyle/>
          <a:p>
            <a:r>
              <a:rPr lang="ru-RU" b="1" dirty="0"/>
              <a:t>Реальный логический элемент </a:t>
            </a:r>
            <a:r>
              <a:rPr lang="en-US" b="1" dirty="0"/>
              <a:t>Cyclone IV</a:t>
            </a:r>
          </a:p>
        </p:txBody>
      </p:sp>
    </p:spTree>
    <p:extLst>
      <p:ext uri="{BB962C8B-B14F-4D97-AF65-F5344CB8AC3E}">
        <p14:creationId xmlns:p14="http://schemas.microsoft.com/office/powerpoint/2010/main" val="299767417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25737B-8614-98D8-D120-A9AF42F0E5FB}"/>
            </a:ext>
          </a:extLst>
        </p:cNvPr>
        <p:cNvGrpSpPr/>
        <p:nvPr/>
      </p:nvGrpSpPr>
      <p:grpSpPr>
        <a:xfrm>
          <a:off x="0" y="0"/>
          <a:ext cx="0" cy="0"/>
          <a:chOff x="0" y="0"/>
          <a:chExt cx="0" cy="0"/>
        </a:xfrm>
      </p:grpSpPr>
      <p:sp>
        <p:nvSpPr>
          <p:cNvPr id="26" name="text_59">
            <a:extLst>
              <a:ext uri="{FF2B5EF4-FFF2-40B4-BE49-F238E27FC236}">
                <a16:creationId xmlns:a16="http://schemas.microsoft.com/office/drawing/2014/main" id="{B852E7CA-B975-084F-2FAF-2B80520E794F}"/>
              </a:ext>
            </a:extLst>
          </p:cNvPr>
          <p:cNvSpPr>
            <a:spLocks noGrp="1"/>
          </p:cNvSpPr>
          <p:nvPr/>
        </p:nvSpPr>
        <p:spPr>
          <a:xfrm>
            <a:off x="457200" y="333375"/>
            <a:ext cx="11277600" cy="762000"/>
          </a:xfrm>
          <a:prstGeom prst="rect">
            <a:avLst/>
          </a:prstGeom>
          <a:noFill/>
          <a:ln w="0">
            <a:noFill/>
          </a:ln>
        </p:spPr>
        <p:txBody>
          <a:bodyPr wrap="square" lIns="0" tIns="0" rIns="0" bIns="0">
            <a:noAutofit/>
          </a:bodyPr>
          <a:lstStyle/>
          <a:p>
            <a:pPr>
              <a:defRPr sz="3225" b="1">
                <a:solidFill>
                  <a:srgbClr val="182530"/>
                </a:solidFill>
                <a:latin typeface="Arial"/>
                <a:ea typeface="Arial"/>
                <a:cs typeface="Arial"/>
              </a:defRPr>
            </a:pPr>
            <a:r>
              <a:rPr lang="en-US" sz="3225" b="1" dirty="0">
                <a:solidFill>
                  <a:srgbClr val="182530"/>
                </a:solidFill>
                <a:latin typeface="Arial"/>
                <a:ea typeface="Arial"/>
                <a:cs typeface="Arial"/>
              </a:rPr>
              <a:t>Synthesis: Logic Elements</a:t>
            </a:r>
            <a:r>
              <a:rPr lang="ru-RU" sz="3225" b="1" dirty="0">
                <a:solidFill>
                  <a:srgbClr val="182530"/>
                </a:solidFill>
                <a:latin typeface="Arial"/>
                <a:ea typeface="Arial"/>
                <a:cs typeface="Arial"/>
              </a:rPr>
              <a:t> (</a:t>
            </a:r>
            <a:r>
              <a:rPr lang="en-US" sz="3225" b="1" dirty="0">
                <a:solidFill>
                  <a:srgbClr val="182530"/>
                </a:solidFill>
                <a:latin typeface="Arial"/>
                <a:ea typeface="Arial"/>
                <a:cs typeface="Arial"/>
              </a:rPr>
              <a:t>LUT)</a:t>
            </a:r>
            <a:endParaRPr sz="3225" b="1" dirty="0">
              <a:solidFill>
                <a:srgbClr val="182530"/>
              </a:solidFill>
              <a:latin typeface="Arial"/>
              <a:ea typeface="Arial"/>
              <a:cs typeface="Arial"/>
            </a:endParaRPr>
          </a:p>
        </p:txBody>
      </p:sp>
      <p:sp>
        <p:nvSpPr>
          <p:cNvPr id="2" name="line_60">
            <a:extLst>
              <a:ext uri="{FF2B5EF4-FFF2-40B4-BE49-F238E27FC236}">
                <a16:creationId xmlns:a16="http://schemas.microsoft.com/office/drawing/2014/main" id="{012C5EE3-D0F2-63F4-B697-0A0828242B01}"/>
              </a:ext>
            </a:extLst>
          </p:cNvPr>
          <p:cNvSpPr>
            <a:spLocks noGrp="1"/>
          </p:cNvSpPr>
          <p:nvPr/>
        </p:nvSpPr>
        <p:spPr>
          <a:xfrm>
            <a:off x="457200" y="1133475"/>
            <a:ext cx="11277600" cy="0"/>
          </a:xfrm>
          <a:prstGeom prst="line">
            <a:avLst/>
          </a:prstGeom>
          <a:noFill/>
          <a:ln w="9525">
            <a:solidFill>
              <a:srgbClr val="B9C4CC"/>
            </a:solidFill>
          </a:ln>
        </p:spPr>
        <p:txBody>
          <a:bodyPr/>
          <a:lstStyle/>
          <a:p>
            <a:endParaRPr lang="en-US"/>
          </a:p>
        </p:txBody>
      </p:sp>
      <p:sp>
        <p:nvSpPr>
          <p:cNvPr id="4" name="text_62">
            <a:extLst>
              <a:ext uri="{FF2B5EF4-FFF2-40B4-BE49-F238E27FC236}">
                <a16:creationId xmlns:a16="http://schemas.microsoft.com/office/drawing/2014/main" id="{EE6E7C2C-3C67-02EF-E35D-0F983C1FA84D}"/>
              </a:ext>
            </a:extLst>
          </p:cNvPr>
          <p:cNvSpPr>
            <a:spLocks noGrp="1"/>
          </p:cNvSpPr>
          <p:nvPr/>
        </p:nvSpPr>
        <p:spPr>
          <a:xfrm>
            <a:off x="11220450" y="6343650"/>
            <a:ext cx="514350" cy="304800"/>
          </a:xfrm>
          <a:prstGeom prst="rect">
            <a:avLst/>
          </a:prstGeom>
          <a:noFill/>
          <a:ln w="0">
            <a:noFill/>
          </a:ln>
        </p:spPr>
        <p:txBody>
          <a:bodyPr wrap="square" lIns="0" tIns="0" rIns="0" bIns="0">
            <a:noAutofit/>
          </a:bodyPr>
          <a:lstStyle/>
          <a:p>
            <a:pPr algn="r">
              <a:defRPr sz="1500">
                <a:solidFill>
                  <a:srgbClr val="56616A"/>
                </a:solidFill>
                <a:latin typeface="Arial"/>
                <a:ea typeface="Arial"/>
                <a:cs typeface="Arial"/>
              </a:defRPr>
            </a:pPr>
            <a:r>
              <a:rPr sz="1500">
                <a:solidFill>
                  <a:srgbClr val="56616A"/>
                </a:solidFill>
                <a:latin typeface="Arial"/>
                <a:ea typeface="Arial"/>
                <a:cs typeface="Arial"/>
              </a:rPr>
              <a:t>04</a:t>
            </a:r>
          </a:p>
        </p:txBody>
      </p:sp>
      <p:pic>
        <p:nvPicPr>
          <p:cNvPr id="10" name="Picture 9" descr="Introduction to FIELD PROGRAMMABLE GATE ARRAYS (FPGA)">
            <a:extLst>
              <a:ext uri="{FF2B5EF4-FFF2-40B4-BE49-F238E27FC236}">
                <a16:creationId xmlns:a16="http://schemas.microsoft.com/office/drawing/2014/main" id="{B74D875A-50F4-F3C1-F926-6EA8E26C6BCC}"/>
              </a:ext>
            </a:extLst>
          </p:cNvPr>
          <p:cNvPicPr>
            <a:picLocks noChangeAspect="1"/>
          </p:cNvPicPr>
          <p:nvPr/>
        </p:nvPicPr>
        <p:blipFill>
          <a:blip r:embed="rId3"/>
          <a:stretch>
            <a:fillRect/>
          </a:stretch>
        </p:blipFill>
        <p:spPr>
          <a:xfrm>
            <a:off x="932683" y="2860397"/>
            <a:ext cx="4039223" cy="2832099"/>
          </a:xfrm>
          <a:prstGeom prst="rect">
            <a:avLst/>
          </a:prstGeom>
        </p:spPr>
      </p:pic>
      <p:sp>
        <p:nvSpPr>
          <p:cNvPr id="13" name="TextBox 12">
            <a:extLst>
              <a:ext uri="{FF2B5EF4-FFF2-40B4-BE49-F238E27FC236}">
                <a16:creationId xmlns:a16="http://schemas.microsoft.com/office/drawing/2014/main" id="{D7E36B80-7B33-64A4-FA9E-75BC0C5C22AB}"/>
              </a:ext>
            </a:extLst>
          </p:cNvPr>
          <p:cNvSpPr txBox="1"/>
          <p:nvPr/>
        </p:nvSpPr>
        <p:spPr>
          <a:xfrm>
            <a:off x="772017" y="2366685"/>
            <a:ext cx="4360553" cy="369332"/>
          </a:xfrm>
          <a:prstGeom prst="rect">
            <a:avLst/>
          </a:prstGeom>
          <a:noFill/>
        </p:spPr>
        <p:txBody>
          <a:bodyPr wrap="none" rtlCol="0">
            <a:spAutoFit/>
          </a:bodyPr>
          <a:lstStyle/>
          <a:p>
            <a:r>
              <a:rPr lang="ru-RU" b="1" dirty="0"/>
              <a:t>Упрощенная схема логического элемента</a:t>
            </a:r>
            <a:endParaRPr lang="en-US" b="1" dirty="0"/>
          </a:p>
        </p:txBody>
      </p:sp>
      <p:pic>
        <p:nvPicPr>
          <p:cNvPr id="6" name="Picture 5">
            <a:extLst>
              <a:ext uri="{FF2B5EF4-FFF2-40B4-BE49-F238E27FC236}">
                <a16:creationId xmlns:a16="http://schemas.microsoft.com/office/drawing/2014/main" id="{4BDF8AC0-BD4C-311F-BF22-89B8CAAE3164}"/>
              </a:ext>
            </a:extLst>
          </p:cNvPr>
          <p:cNvPicPr>
            <a:picLocks noChangeAspect="1"/>
          </p:cNvPicPr>
          <p:nvPr/>
        </p:nvPicPr>
        <p:blipFill>
          <a:blip r:embed="rId4"/>
          <a:stretch>
            <a:fillRect/>
          </a:stretch>
        </p:blipFill>
        <p:spPr>
          <a:xfrm>
            <a:off x="6200207" y="3002040"/>
            <a:ext cx="5136007" cy="2548811"/>
          </a:xfrm>
          <a:prstGeom prst="rect">
            <a:avLst/>
          </a:prstGeom>
        </p:spPr>
      </p:pic>
      <p:sp>
        <p:nvSpPr>
          <p:cNvPr id="8" name="TextBox 7">
            <a:extLst>
              <a:ext uri="{FF2B5EF4-FFF2-40B4-BE49-F238E27FC236}">
                <a16:creationId xmlns:a16="http://schemas.microsoft.com/office/drawing/2014/main" id="{B53D04C6-D334-C570-EB78-1860B27C7D35}"/>
              </a:ext>
            </a:extLst>
          </p:cNvPr>
          <p:cNvSpPr txBox="1"/>
          <p:nvPr/>
        </p:nvSpPr>
        <p:spPr>
          <a:xfrm>
            <a:off x="7685536" y="2366685"/>
            <a:ext cx="2165350" cy="369332"/>
          </a:xfrm>
          <a:prstGeom prst="rect">
            <a:avLst/>
          </a:prstGeom>
          <a:noFill/>
        </p:spPr>
        <p:txBody>
          <a:bodyPr wrap="square">
            <a:spAutoFit/>
          </a:bodyPr>
          <a:lstStyle/>
          <a:p>
            <a:r>
              <a:rPr lang="en-US" sz="1800" b="1" dirty="0"/>
              <a:t>LUT (Look Up Table)</a:t>
            </a:r>
          </a:p>
        </p:txBody>
      </p:sp>
      <p:sp>
        <p:nvSpPr>
          <p:cNvPr id="9" name="TextBox 8">
            <a:extLst>
              <a:ext uri="{FF2B5EF4-FFF2-40B4-BE49-F238E27FC236}">
                <a16:creationId xmlns:a16="http://schemas.microsoft.com/office/drawing/2014/main" id="{AA2C29A1-F97C-44CA-001B-77BCC06A871C}"/>
              </a:ext>
            </a:extLst>
          </p:cNvPr>
          <p:cNvSpPr txBox="1"/>
          <p:nvPr/>
        </p:nvSpPr>
        <p:spPr>
          <a:xfrm>
            <a:off x="808652" y="1346200"/>
            <a:ext cx="10527562" cy="369332"/>
          </a:xfrm>
          <a:prstGeom prst="rect">
            <a:avLst/>
          </a:prstGeom>
          <a:noFill/>
        </p:spPr>
        <p:txBody>
          <a:bodyPr wrap="none" rtlCol="0">
            <a:spAutoFit/>
          </a:bodyPr>
          <a:lstStyle/>
          <a:p>
            <a:r>
              <a:rPr lang="en-US" b="1" dirty="0"/>
              <a:t>LUT</a:t>
            </a:r>
            <a:r>
              <a:rPr lang="en-US" dirty="0"/>
              <a:t> – </a:t>
            </a:r>
            <a:r>
              <a:rPr lang="ru-RU" dirty="0"/>
              <a:t>блок реализующий любую логическую функцию от своих входов (в зависимости от конфигурации). </a:t>
            </a:r>
            <a:endParaRPr lang="en-US" dirty="0"/>
          </a:p>
        </p:txBody>
      </p:sp>
    </p:spTree>
    <p:extLst>
      <p:ext uri="{BB962C8B-B14F-4D97-AF65-F5344CB8AC3E}">
        <p14:creationId xmlns:p14="http://schemas.microsoft.com/office/powerpoint/2010/main" val="67385574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4D6ADF-C654-9A12-9500-03B08125DBEF}"/>
            </a:ext>
          </a:extLst>
        </p:cNvPr>
        <p:cNvGrpSpPr/>
        <p:nvPr/>
      </p:nvGrpSpPr>
      <p:grpSpPr>
        <a:xfrm>
          <a:off x="0" y="0"/>
          <a:ext cx="0" cy="0"/>
          <a:chOff x="0" y="0"/>
          <a:chExt cx="0" cy="0"/>
        </a:xfrm>
      </p:grpSpPr>
      <p:sp>
        <p:nvSpPr>
          <p:cNvPr id="26" name="text_59">
            <a:extLst>
              <a:ext uri="{FF2B5EF4-FFF2-40B4-BE49-F238E27FC236}">
                <a16:creationId xmlns:a16="http://schemas.microsoft.com/office/drawing/2014/main" id="{19C45A5E-13ED-6C7B-50B2-DF8201A9C455}"/>
              </a:ext>
            </a:extLst>
          </p:cNvPr>
          <p:cNvSpPr>
            <a:spLocks noGrp="1"/>
          </p:cNvSpPr>
          <p:nvPr/>
        </p:nvSpPr>
        <p:spPr>
          <a:xfrm>
            <a:off x="457200" y="333375"/>
            <a:ext cx="11277600" cy="762000"/>
          </a:xfrm>
          <a:prstGeom prst="rect">
            <a:avLst/>
          </a:prstGeom>
          <a:noFill/>
          <a:ln w="0">
            <a:noFill/>
          </a:ln>
        </p:spPr>
        <p:txBody>
          <a:bodyPr wrap="square" lIns="0" tIns="0" rIns="0" bIns="0">
            <a:noAutofit/>
          </a:bodyPr>
          <a:lstStyle/>
          <a:p>
            <a:pPr>
              <a:defRPr sz="3225" b="1">
                <a:solidFill>
                  <a:srgbClr val="182530"/>
                </a:solidFill>
                <a:latin typeface="Arial"/>
                <a:ea typeface="Arial"/>
                <a:cs typeface="Arial"/>
              </a:defRPr>
            </a:pPr>
            <a:r>
              <a:rPr lang="en-US" sz="3225" b="1" dirty="0">
                <a:solidFill>
                  <a:srgbClr val="182530"/>
                </a:solidFill>
                <a:latin typeface="Arial"/>
                <a:ea typeface="Arial"/>
                <a:cs typeface="Arial"/>
              </a:rPr>
              <a:t>Place and Route</a:t>
            </a:r>
            <a:endParaRPr sz="3225" b="1" dirty="0">
              <a:solidFill>
                <a:srgbClr val="182530"/>
              </a:solidFill>
              <a:latin typeface="Arial"/>
              <a:ea typeface="Arial"/>
              <a:cs typeface="Arial"/>
            </a:endParaRPr>
          </a:p>
        </p:txBody>
      </p:sp>
      <p:sp>
        <p:nvSpPr>
          <p:cNvPr id="2" name="line_60">
            <a:extLst>
              <a:ext uri="{FF2B5EF4-FFF2-40B4-BE49-F238E27FC236}">
                <a16:creationId xmlns:a16="http://schemas.microsoft.com/office/drawing/2014/main" id="{120BFCE4-DAF8-D624-BDE6-04D2ACC0290D}"/>
              </a:ext>
            </a:extLst>
          </p:cNvPr>
          <p:cNvSpPr>
            <a:spLocks noGrp="1"/>
          </p:cNvSpPr>
          <p:nvPr/>
        </p:nvSpPr>
        <p:spPr>
          <a:xfrm>
            <a:off x="457200" y="1133475"/>
            <a:ext cx="11277600" cy="0"/>
          </a:xfrm>
          <a:prstGeom prst="line">
            <a:avLst/>
          </a:prstGeom>
          <a:noFill/>
          <a:ln w="9525">
            <a:solidFill>
              <a:srgbClr val="B9C4CC"/>
            </a:solidFill>
          </a:ln>
        </p:spPr>
        <p:txBody>
          <a:bodyPr/>
          <a:lstStyle/>
          <a:p>
            <a:endParaRPr lang="en-US"/>
          </a:p>
        </p:txBody>
      </p:sp>
      <p:sp>
        <p:nvSpPr>
          <p:cNvPr id="4" name="text_62">
            <a:extLst>
              <a:ext uri="{FF2B5EF4-FFF2-40B4-BE49-F238E27FC236}">
                <a16:creationId xmlns:a16="http://schemas.microsoft.com/office/drawing/2014/main" id="{7A2D51B6-24F6-7336-C52B-D90A6BA64705}"/>
              </a:ext>
            </a:extLst>
          </p:cNvPr>
          <p:cNvSpPr>
            <a:spLocks noGrp="1"/>
          </p:cNvSpPr>
          <p:nvPr/>
        </p:nvSpPr>
        <p:spPr>
          <a:xfrm>
            <a:off x="11220450" y="6343650"/>
            <a:ext cx="514350" cy="304800"/>
          </a:xfrm>
          <a:prstGeom prst="rect">
            <a:avLst/>
          </a:prstGeom>
          <a:noFill/>
          <a:ln w="0">
            <a:noFill/>
          </a:ln>
        </p:spPr>
        <p:txBody>
          <a:bodyPr wrap="square" lIns="0" tIns="0" rIns="0" bIns="0">
            <a:noAutofit/>
          </a:bodyPr>
          <a:lstStyle/>
          <a:p>
            <a:pPr algn="r">
              <a:defRPr sz="1500">
                <a:solidFill>
                  <a:srgbClr val="56616A"/>
                </a:solidFill>
                <a:latin typeface="Arial"/>
                <a:ea typeface="Arial"/>
                <a:cs typeface="Arial"/>
              </a:defRPr>
            </a:pPr>
            <a:r>
              <a:rPr sz="1500">
                <a:solidFill>
                  <a:srgbClr val="56616A"/>
                </a:solidFill>
                <a:latin typeface="Arial"/>
                <a:ea typeface="Arial"/>
                <a:cs typeface="Arial"/>
              </a:rPr>
              <a:t>04</a:t>
            </a:r>
          </a:p>
        </p:txBody>
      </p:sp>
      <p:pic>
        <p:nvPicPr>
          <p:cNvPr id="5" name="Picture 4">
            <a:extLst>
              <a:ext uri="{FF2B5EF4-FFF2-40B4-BE49-F238E27FC236}">
                <a16:creationId xmlns:a16="http://schemas.microsoft.com/office/drawing/2014/main" id="{2A671285-1AE1-6320-8AF8-CE491711A308}"/>
              </a:ext>
            </a:extLst>
          </p:cNvPr>
          <p:cNvPicPr>
            <a:picLocks noChangeAspect="1"/>
          </p:cNvPicPr>
          <p:nvPr/>
        </p:nvPicPr>
        <p:blipFill>
          <a:blip r:embed="rId3"/>
          <a:stretch>
            <a:fillRect/>
          </a:stretch>
        </p:blipFill>
        <p:spPr>
          <a:xfrm>
            <a:off x="527050" y="2109772"/>
            <a:ext cx="5760653" cy="3985357"/>
          </a:xfrm>
          <a:prstGeom prst="rect">
            <a:avLst/>
          </a:prstGeom>
        </p:spPr>
      </p:pic>
      <p:pic>
        <p:nvPicPr>
          <p:cNvPr id="11" name="Picture 10">
            <a:extLst>
              <a:ext uri="{FF2B5EF4-FFF2-40B4-BE49-F238E27FC236}">
                <a16:creationId xmlns:a16="http://schemas.microsoft.com/office/drawing/2014/main" id="{51D5217F-9FA1-36D2-2C3B-D87F72F39658}"/>
              </a:ext>
            </a:extLst>
          </p:cNvPr>
          <p:cNvPicPr>
            <a:picLocks noChangeAspect="1"/>
          </p:cNvPicPr>
          <p:nvPr/>
        </p:nvPicPr>
        <p:blipFill>
          <a:blip r:embed="rId4"/>
          <a:stretch>
            <a:fillRect/>
          </a:stretch>
        </p:blipFill>
        <p:spPr>
          <a:xfrm>
            <a:off x="7628256" y="2063750"/>
            <a:ext cx="2804793" cy="4031379"/>
          </a:xfrm>
          <a:prstGeom prst="rect">
            <a:avLst/>
          </a:prstGeom>
        </p:spPr>
      </p:pic>
      <p:sp>
        <p:nvSpPr>
          <p:cNvPr id="12" name="TextBox 11">
            <a:extLst>
              <a:ext uri="{FF2B5EF4-FFF2-40B4-BE49-F238E27FC236}">
                <a16:creationId xmlns:a16="http://schemas.microsoft.com/office/drawing/2014/main" id="{51CFF582-B922-4BB6-9B8E-0CC4D76852D9}"/>
              </a:ext>
            </a:extLst>
          </p:cNvPr>
          <p:cNvSpPr txBox="1"/>
          <p:nvPr/>
        </p:nvSpPr>
        <p:spPr>
          <a:xfrm>
            <a:off x="527050" y="1358900"/>
            <a:ext cx="6553076" cy="369332"/>
          </a:xfrm>
          <a:prstGeom prst="rect">
            <a:avLst/>
          </a:prstGeom>
          <a:noFill/>
        </p:spPr>
        <p:txBody>
          <a:bodyPr wrap="none" rtlCol="0">
            <a:spAutoFit/>
          </a:bodyPr>
          <a:lstStyle/>
          <a:p>
            <a:r>
              <a:rPr lang="ru-RU" dirty="0"/>
              <a:t>Цель – выбрать конкретные блоки внутри </a:t>
            </a:r>
            <a:r>
              <a:rPr lang="en-US" dirty="0"/>
              <a:t>FPGA </a:t>
            </a:r>
            <a:r>
              <a:rPr lang="ru-RU" dirty="0"/>
              <a:t>и их соединения.</a:t>
            </a:r>
            <a:endParaRPr lang="en-US" dirty="0"/>
          </a:p>
        </p:txBody>
      </p:sp>
    </p:spTree>
    <p:extLst>
      <p:ext uri="{BB962C8B-B14F-4D97-AF65-F5344CB8AC3E}">
        <p14:creationId xmlns:p14="http://schemas.microsoft.com/office/powerpoint/2010/main" val="3161161737"/>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621</TotalTime>
  <Words>3809</Words>
  <Application>Microsoft Office PowerPoint</Application>
  <DocSecurity>0</DocSecurity>
  <PresentationFormat>Widescreen</PresentationFormat>
  <Paragraphs>374</Paragraphs>
  <Slides>27</Slides>
  <Notes>21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27</vt:i4>
      </vt:variant>
    </vt:vector>
  </HeadingPairs>
  <TitlesOfParts>
    <vt:vector size="31" baseType="lpstr">
      <vt:lpstr>Arial</vt:lpstr>
      <vt:lpstr>Calibri</vt:lpstr>
      <vt:lpstr>Consolas</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саша буссе</cp:lastModifiedBy>
  <cp:revision>10</cp:revision>
  <dcterms:created xsi:type="dcterms:W3CDTF">2026-09-07T10:19:55Z</dcterms:created>
  <dcterms:modified xsi:type="dcterms:W3CDTF">2026-09-08T05:37:13Z</dcterms:modified>
</cp:coreProperties>
</file>