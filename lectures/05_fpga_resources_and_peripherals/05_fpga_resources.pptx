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83" r:id="rId16"/>
    <p:sldId id="284" r:id="rId17"/>
    <p:sldId id="285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6" r:id="rId29"/>
    <p:sldId id="287" r:id="rId30"/>
    <p:sldId id="288" r:id="rId31"/>
    <p:sldId id="289" r:id="rId32"/>
    <p:sldId id="28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CB18F-108A-484D-80B4-424261065E1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5AC995-DF02-435B-8A61-68F4F6A82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930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AC995-DF02-435B-8A61-68F4F6A8229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217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4C7C5-35B7-90C2-081B-4565A3E44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53DB04-D917-EB16-1498-C43915C10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EC6B0-5EC5-C02F-9983-228D82C17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C3401-8627-47CA-9079-5A68098C3DE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E7B2E-D65A-9682-292D-DB6CC28C3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B0AE7-4855-C08B-38D1-EFFB37A3D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FC68B-7D53-45A4-A922-17B6B14E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7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CED49-65A2-D39C-8E3D-001522274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2A81A-659E-0396-B6EC-184234C83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A16D3-0E22-1FD7-AF18-55CD0D451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C3401-8627-47CA-9079-5A68098C3DE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C740B-2091-0820-C6C1-0DD708633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E6352-4DA7-86F3-F460-EEDC74D61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FC68B-7D53-45A4-A922-17B6B14E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578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01D92-2293-E3C2-2E27-D1CDCB3A4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BB996-3FAA-9117-15C4-95AC18973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67883-FD94-F3EE-50DF-3F3356A20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C3401-8627-47CA-9079-5A68098C3DE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3C8D1-3446-8C15-5CF2-D421FB155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97C9A-9894-299D-1A3D-E637602D1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FC68B-7D53-45A4-A922-17B6B14E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676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4E1AE-92C0-61CA-4970-7C2A43DD0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8E0E6-30DC-204D-3FE7-2CE27B9218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E90E11-F298-6A3C-5359-264E8BB4B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9820DA-69BA-4331-408B-AF794FC82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C3401-8627-47CA-9079-5A68098C3DE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04B86-30A3-6F42-7402-5407659CB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25ED49-67C8-CA3B-D45E-781AF51DA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FC68B-7D53-45A4-A922-17B6B14E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255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A9BE2-DF92-9A38-0F07-BBB6A15DE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73C7-30AC-B520-49CC-447D71F98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930A8-D673-1895-674F-4E02F2EA23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0E9386-854B-97E3-CA1B-73E12F4C85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6ACD4B-8338-026C-0F10-1450B09956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8D424F-A6C5-D00E-6C15-4C6A16B8A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C3401-8627-47CA-9079-5A68098C3DE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115C4C-589D-6F7F-DA52-E880C2ED9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9BB7CE-4067-F4CC-BDCB-30E7BEBC4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FC68B-7D53-45A4-A922-17B6B14E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7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C273-5582-33F0-BB47-286A41EF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216807-53F2-8983-A1AC-4082BB921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C3401-8627-47CA-9079-5A68098C3DE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E0B516-8ED4-B0F7-51BF-E04A142FB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EC703-37AC-1A13-7AD1-9292CBF26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FC68B-7D53-45A4-A922-17B6B14E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710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453C90-5628-1409-6E31-6EC1AA69A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C3401-8627-47CA-9079-5A68098C3DE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E1524-1430-73B9-367E-16059DBE3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70088-516C-1FF3-293E-44BF7859C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FC68B-7D53-45A4-A922-17B6B14E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68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A0BB-1BC3-4A45-AEAD-A7D1157B3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6317E-D058-5578-9329-E9D119E79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C3C67D-7216-37FE-DBD2-746D5EF57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47F806-575A-F3A6-154C-F8E885F5E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C3401-8627-47CA-9079-5A68098C3DE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CD0A1-198E-7C5F-F51B-AE74801CF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7D3C0-9715-239B-FB9F-8E749DF5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FC68B-7D53-45A4-A922-17B6B14E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509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58F3F-A1BA-E26D-04AE-D1B6E8C70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D26DA8-D7E8-80F2-D27A-429F1A367E5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935D62-37E9-593E-3B41-12BD58D8A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902731-7962-4F43-8FD7-7CA167B83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C3401-8627-47CA-9079-5A68098C3DE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6C8261-0C2F-61B3-2726-EDA809F25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33BA6-14EC-32EA-0F2A-E2711BA8A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FC68B-7D53-45A4-A922-17B6B14E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71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AF2F5-0825-81D8-0906-46F528C2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A27181-6FB0-EC19-FFB7-C0B80A4F7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36AE9-A5F2-29B8-02C3-9ED53020D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C3401-8627-47CA-9079-5A68098C3DE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18E01-9AC6-0E83-E0E9-ACDB48A66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48266-DB18-6CEF-3BCB-C1A49B877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FC68B-7D53-45A4-A922-17B6B14E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696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8BBC47-0372-8633-4BDE-4C2357B772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B3AD5C-81A5-B256-BF3B-A86FA88907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B3EA6-5ED9-F327-46FB-6C3049588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C3401-8627-47CA-9079-5A68098C3DE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EC675-87E2-93F2-5BFC-76E4441D1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AF1E1-E60B-336A-F6AD-604F45B75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FC68B-7D53-45A4-A922-17B6B14E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494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8F1D81-DFB1-EFD9-A64F-44950621C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999CA-9278-AE71-CC4E-59F3DAB42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CFB0A-5C5D-B6E1-2CDD-5F84725E3C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C3401-8627-47CA-9079-5A68098C3DE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F1D51-C7A9-000E-EE11-775F392035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83D86-78FA-9AC6-8856-39DDD14C13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FC68B-7D53-45A4-A922-17B6B14E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170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2F457-DB7C-7AD7-862E-03795B161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еще есть в нашей </a:t>
            </a:r>
            <a:r>
              <a:rPr lang="en-US" dirty="0"/>
              <a:t>FPGA?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23701-E304-47AA-5102-5FCCDB50B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6775"/>
            <a:ext cx="5937250" cy="2206625"/>
          </a:xfrm>
        </p:spPr>
        <p:txBody>
          <a:bodyPr>
            <a:normAutofit/>
          </a:bodyPr>
          <a:lstStyle/>
          <a:p>
            <a:r>
              <a:rPr lang="ru-RU" sz="2400" dirty="0"/>
              <a:t>Блоки памяти</a:t>
            </a:r>
          </a:p>
          <a:p>
            <a:r>
              <a:rPr lang="ru-RU" sz="2400" dirty="0"/>
              <a:t>Аппаратные блоки умножителей</a:t>
            </a:r>
          </a:p>
          <a:p>
            <a:r>
              <a:rPr lang="en-US" sz="2400" dirty="0"/>
              <a:t>PLL (Phased Locked Loop)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0DFA20-5540-EBD5-3160-59C3AC9A0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7298" y="1910538"/>
            <a:ext cx="5864652" cy="354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019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DD0E70-682B-FAD2-0769-5843161F8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592000"/>
            <a:ext cx="10782300" cy="584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060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4744FC-E3C2-DDB3-0A24-19E94A37E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216895"/>
            <a:ext cx="10883900" cy="611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131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B6A3CA-865C-6302-5D93-3E4422C10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055" y="679450"/>
            <a:ext cx="10202198" cy="58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410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22A635-B447-63C0-D994-5587D56D5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17700"/>
            <a:ext cx="10185400" cy="385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974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5A95D9-ECD1-9660-C45D-C9B766AA2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" y="294651"/>
            <a:ext cx="11283950" cy="544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574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CA9FC2-133A-34C9-6414-9C6AC04EF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50" y="519549"/>
            <a:ext cx="10941050" cy="563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093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F55373-7F1F-C91A-D12B-A0676D80F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49" y="259554"/>
            <a:ext cx="11139651" cy="645239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1E94BDC-AE0C-F561-EDCA-A4A052CAAD7C}"/>
              </a:ext>
            </a:extLst>
          </p:cNvPr>
          <p:cNvCxnSpPr/>
          <p:nvPr/>
        </p:nvCxnSpPr>
        <p:spPr>
          <a:xfrm>
            <a:off x="8485632" y="3648456"/>
            <a:ext cx="0" cy="28712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76AA0E-F231-7513-5A24-66CE64D38C6D}"/>
              </a:ext>
            </a:extLst>
          </p:cNvPr>
          <p:cNvCxnSpPr/>
          <p:nvPr/>
        </p:nvCxnSpPr>
        <p:spPr>
          <a:xfrm>
            <a:off x="9058656" y="3648456"/>
            <a:ext cx="0" cy="28712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40B4A2-2C15-A33D-D3D5-85D5157E7D5C}"/>
              </a:ext>
            </a:extLst>
          </p:cNvPr>
          <p:cNvCxnSpPr/>
          <p:nvPr/>
        </p:nvCxnSpPr>
        <p:spPr>
          <a:xfrm>
            <a:off x="7903464" y="3648456"/>
            <a:ext cx="0" cy="28712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651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09C4F1-3BF8-9A5F-D7A8-4AA15A57E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22" y="666750"/>
            <a:ext cx="10888355" cy="592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041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8FF4D7-EE85-3141-94F4-5C0B38EEB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437053"/>
            <a:ext cx="10687050" cy="598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619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959D12-C657-C891-C48A-2B7CE890C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38" y="94100"/>
            <a:ext cx="10926324" cy="647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244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2F043D-3982-EF12-D7FF-1D3115851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745" y="286074"/>
            <a:ext cx="11038509" cy="6476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98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3C8AE8-D1D5-DCC0-5B8B-07654C4F8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75" y="587078"/>
            <a:ext cx="11017250" cy="597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491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D82FD9-4985-3EAB-77D3-F9F58250F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61" y="320068"/>
            <a:ext cx="11271489" cy="670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702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DC062-EB2B-150A-494B-21A804640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961"/>
            <a:ext cx="10515600" cy="890032"/>
          </a:xfrm>
        </p:spPr>
        <p:txBody>
          <a:bodyPr/>
          <a:lstStyle/>
          <a:p>
            <a:r>
              <a:rPr lang="ru-RU" dirty="0"/>
              <a:t>Что в итоге получаем</a:t>
            </a:r>
            <a:r>
              <a:rPr lang="en-US" dirty="0"/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E3A911-2EB5-B8F1-3595-F14A5532BBE2}"/>
              </a:ext>
            </a:extLst>
          </p:cNvPr>
          <p:cNvSpPr txBox="1"/>
          <p:nvPr/>
        </p:nvSpPr>
        <p:spPr>
          <a:xfrm>
            <a:off x="838200" y="1514523"/>
            <a:ext cx="6094476" cy="4829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synopsys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translate_off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`timescale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ps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synopsys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translate_on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sp_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ram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address,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clock,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data,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wren,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q);</a:t>
            </a:r>
          </a:p>
          <a:p>
            <a:pPr>
              <a:lnSpc>
                <a:spcPct val="113095"/>
              </a:lnSpc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 address;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clock;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 data;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wren;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 q;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ifndef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ALTERA_RESERVED_QIS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synopsys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translate_off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`endif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tri1      clock;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ifndef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ALTERA_RESERVED_QIS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synopsys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translate_on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`endif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609540-ACDA-A020-531B-03249EE1E0FF}"/>
              </a:ext>
            </a:extLst>
          </p:cNvPr>
          <p:cNvSpPr txBox="1"/>
          <p:nvPr/>
        </p:nvSpPr>
        <p:spPr>
          <a:xfrm>
            <a:off x="4491990" y="1514523"/>
            <a:ext cx="6094476" cy="3916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wire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7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sub_wire0;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wire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7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q = sub_wire0[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7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altsyncram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altsyncram_component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address_a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(address),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.clock0 (clock),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data_a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(data),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wren_a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(wren),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q_a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(sub_wire0),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…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defparam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altsyncram_component.clock_enable_input_a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"BYPASS"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altsyncram_component.clock_enable_output_a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"BYPASS"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altsyncram_component.intended_device_family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"Cyclone IV E"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altsyncram_component.lpm_hint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"ENABLE_RUNTIME_MOD=NO"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altsyncram_component.lpm_type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altsyncram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…</a:t>
            </a:r>
            <a:b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b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endmodule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3D59B8-D732-71F2-F2C8-99B416AF7C7A}"/>
              </a:ext>
            </a:extLst>
          </p:cNvPr>
          <p:cNvSpPr txBox="1"/>
          <p:nvPr/>
        </p:nvSpPr>
        <p:spPr>
          <a:xfrm>
            <a:off x="838200" y="1024130"/>
            <a:ext cx="1131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sp_ram.v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00B3C6-1857-AED8-8C4D-FCDC690D6358}"/>
              </a:ext>
            </a:extLst>
          </p:cNvPr>
          <p:cNvSpPr txBox="1"/>
          <p:nvPr/>
        </p:nvSpPr>
        <p:spPr>
          <a:xfrm>
            <a:off x="834020" y="6064745"/>
            <a:ext cx="9502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Так же </a:t>
            </a:r>
            <a:r>
              <a:rPr lang="ru-RU" dirty="0" err="1"/>
              <a:t>сдегерируется</a:t>
            </a:r>
            <a:r>
              <a:rPr lang="ru-RU" dirty="0"/>
              <a:t> </a:t>
            </a:r>
            <a:r>
              <a:rPr lang="en-US" dirty="0"/>
              <a:t>.</a:t>
            </a:r>
            <a:r>
              <a:rPr lang="en-US" dirty="0" err="1"/>
              <a:t>qip</a:t>
            </a:r>
            <a:r>
              <a:rPr lang="en-US" dirty="0"/>
              <a:t> </a:t>
            </a:r>
            <a:r>
              <a:rPr lang="ru-RU" dirty="0"/>
              <a:t>файл, который содержит дополнительную информацию для синтеза.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34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1981B-7F51-8500-25E1-17A00BE9E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8459"/>
          </a:xfrm>
        </p:spPr>
        <p:txBody>
          <a:bodyPr/>
          <a:lstStyle/>
          <a:p>
            <a:r>
              <a:rPr lang="ru-RU" dirty="0"/>
              <a:t>Симуляция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E5CC67-1A27-E311-E536-DDA85E9F45F4}"/>
              </a:ext>
            </a:extLst>
          </p:cNvPr>
          <p:cNvSpPr txBox="1"/>
          <p:nvPr/>
        </p:nvSpPr>
        <p:spPr>
          <a:xfrm>
            <a:off x="838200" y="1243584"/>
            <a:ext cx="10631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 нашем проекте появился модуль </a:t>
            </a:r>
            <a:r>
              <a:rPr lang="en-US" dirty="0" err="1">
                <a:solidFill>
                  <a:srgbClr val="800000"/>
                </a:solidFill>
                <a:latin typeface="Consolas" panose="020B0609020204030204" pitchFamily="49" charset="0"/>
              </a:rPr>
              <a:t>altsyncram</a:t>
            </a:r>
            <a:r>
              <a:rPr lang="ru-RU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и нам необходимо описание для этого модуля</a:t>
            </a:r>
            <a:r>
              <a:rPr lang="en-US" dirty="0">
                <a:latin typeface="Consolas" panose="020B0609020204030204" pitchFamily="49" charset="0"/>
              </a:rPr>
              <a:t>!!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767EA2-61B2-6797-2746-E810E74E0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48" y="1615172"/>
            <a:ext cx="4667901" cy="36962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83E3F8-34A6-272B-A7B6-CB067DDAB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942" y="1612916"/>
            <a:ext cx="4706007" cy="20005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8750A39-EDA3-B8A1-6967-C2E966ABE3C7}"/>
              </a:ext>
            </a:extLst>
          </p:cNvPr>
          <p:cNvSpPr txBox="1"/>
          <p:nvPr/>
        </p:nvSpPr>
        <p:spPr>
          <a:xfrm>
            <a:off x="838200" y="5983748"/>
            <a:ext cx="10631500" cy="263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iverilog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-g2012 -s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tb_ram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-o build/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ram.vvp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tb_ram.sv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your_design.v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ram_ip.v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“&lt;Quartus 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path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&gt;/20.1/quartus/eda/sim_lib/altera_mf.v"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107B91-BDCB-EDDD-EE61-96584F740171}"/>
              </a:ext>
            </a:extLst>
          </p:cNvPr>
          <p:cNvSpPr txBox="1"/>
          <p:nvPr/>
        </p:nvSpPr>
        <p:spPr>
          <a:xfrm>
            <a:off x="838200" y="5614416"/>
            <a:ext cx="274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Для пользователей </a:t>
            </a:r>
            <a:r>
              <a:rPr lang="en-US" dirty="0"/>
              <a:t>Icarus: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BA8B3C1-A361-2BC7-6214-EAD5093FA5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3225" y="3825281"/>
            <a:ext cx="6811326" cy="148610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28D80F6-6F91-25BB-7E1B-376944E6AC27}"/>
              </a:ext>
            </a:extLst>
          </p:cNvPr>
          <p:cNvSpPr/>
          <p:nvPr/>
        </p:nvSpPr>
        <p:spPr>
          <a:xfrm>
            <a:off x="1755648" y="2066544"/>
            <a:ext cx="640080" cy="2187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9BB92B-22ED-8FF5-E284-4C9FA8BE3931}"/>
              </a:ext>
            </a:extLst>
          </p:cNvPr>
          <p:cNvSpPr/>
          <p:nvPr/>
        </p:nvSpPr>
        <p:spPr>
          <a:xfrm>
            <a:off x="5620512" y="2609732"/>
            <a:ext cx="4172712" cy="2249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5B59BAB-858B-2852-5ED4-302297193C8F}"/>
              </a:ext>
            </a:extLst>
          </p:cNvPr>
          <p:cNvSpPr/>
          <p:nvPr/>
        </p:nvSpPr>
        <p:spPr>
          <a:xfrm>
            <a:off x="7947593" y="4497807"/>
            <a:ext cx="4172712" cy="2249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475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FC017-1B4D-B5B8-7425-3B32D79CA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209621"/>
            <a:ext cx="10515600" cy="1325563"/>
          </a:xfrm>
        </p:spPr>
        <p:txBody>
          <a:bodyPr/>
          <a:lstStyle/>
          <a:p>
            <a:r>
              <a:rPr lang="ru-RU" dirty="0"/>
              <a:t>Небольшой пример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08AFFF-164D-DCA8-0F3C-CE9C55E9F4F7}"/>
              </a:ext>
            </a:extLst>
          </p:cNvPr>
          <p:cNvSpPr txBox="1"/>
          <p:nvPr/>
        </p:nvSpPr>
        <p:spPr>
          <a:xfrm>
            <a:off x="3638550" y="1535184"/>
            <a:ext cx="6096000" cy="3526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dp_ram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memory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.clock     (clk),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.data      (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wr_data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wraddress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wr_address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.wren      (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wr_en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rdaddress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rd_address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.q         (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ram_q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@*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wr_address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5'd0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   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wr_data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8'h48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H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5'd1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   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wr_data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8'h65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e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5'd2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   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wr_data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8'h6C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l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5'd3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   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wr_data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8'h6C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l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5'd4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   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wr_data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8'h6F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wr_data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8'h00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endcase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6F0997-CBA9-F245-6002-CE3603F09194}"/>
              </a:ext>
            </a:extLst>
          </p:cNvPr>
          <p:cNvSpPr txBox="1"/>
          <p:nvPr/>
        </p:nvSpPr>
        <p:spPr>
          <a:xfrm>
            <a:off x="381000" y="1455638"/>
            <a:ext cx="3810000" cy="4465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module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hello_ram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input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wire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     clk,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input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wire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     reset,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output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reg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[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7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data_out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output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reg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      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data_valid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output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wire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     done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localparam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WRITE        =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3'd0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 READ_REQUEST =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3'd1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 READ_WAIT    =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3'd2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 READ_CAPTURE =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3'd3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 FINISHED     =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3'd4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reg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state;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reg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wr_address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reg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rd_address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reg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7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wr_data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wire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    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wr_en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wire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7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ram_q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assign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wr_en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(state == WRITE) &amp;&amp; !reset;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assign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done = (state == FINISHED);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22CF35-4593-5C79-8150-A30B8E5FFDC7}"/>
              </a:ext>
            </a:extLst>
          </p:cNvPr>
          <p:cNvSpPr txBox="1"/>
          <p:nvPr/>
        </p:nvSpPr>
        <p:spPr>
          <a:xfrm>
            <a:off x="7029450" y="0"/>
            <a:ext cx="4248150" cy="6901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always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posedge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clk)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(reset)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state      &lt;= WRITE;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wr_address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&lt;=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5'd0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rd_address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&lt;=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5'd0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data_out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 &lt;=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8'd0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data_valid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&lt;=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1'b0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data_valid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&lt;=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1'b0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case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(state)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WRITE: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wr_address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==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5'd4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    state &lt;= READ_REQUEST;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   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wr_address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&lt;=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wr_address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+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5'd1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READ_REQUEST: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state &lt;= READ_WAIT;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READ_WAIT: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state &lt;= READ_CAPTURE;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READ_CAPTURE: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data_out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 &lt;=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ram_q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data_valid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&lt;=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1'b1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rd_address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==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5'd4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    state &lt;= FINISHED;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   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rd_address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&lt;=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rd_address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+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5'd1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    state &lt;= READ_REQUEST;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FINISHED: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default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state &lt;= FINISHED;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endcase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endmodule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478D23D-A6AA-9663-5892-71EADB9EA64A}"/>
              </a:ext>
            </a:extLst>
          </p:cNvPr>
          <p:cNvCxnSpPr/>
          <p:nvPr/>
        </p:nvCxnSpPr>
        <p:spPr>
          <a:xfrm>
            <a:off x="381000" y="1535184"/>
            <a:ext cx="0" cy="43858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79EF651-C849-A0C7-5D0E-BE060B9B3563}"/>
              </a:ext>
            </a:extLst>
          </p:cNvPr>
          <p:cNvCxnSpPr/>
          <p:nvPr/>
        </p:nvCxnSpPr>
        <p:spPr>
          <a:xfrm>
            <a:off x="3667125" y="1495411"/>
            <a:ext cx="0" cy="43858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339BFC-9B65-E6EE-5E2D-6E6A768E9EDE}"/>
              </a:ext>
            </a:extLst>
          </p:cNvPr>
          <p:cNvCxnSpPr>
            <a:cxnSpLocks/>
          </p:cNvCxnSpPr>
          <p:nvPr/>
        </p:nvCxnSpPr>
        <p:spPr>
          <a:xfrm>
            <a:off x="7058025" y="142875"/>
            <a:ext cx="0" cy="6643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4181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8F62CF-6BA6-31ED-9CD1-653D2E0DE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547" y="565150"/>
            <a:ext cx="10622186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49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770F78-463D-2DC0-884D-B02ACFD92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914399"/>
            <a:ext cx="10674892" cy="513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124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B10FE6-522A-13AB-89E9-D4CD14093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50" y="427767"/>
            <a:ext cx="11036300" cy="6002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791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6422A4-C28A-DC0E-C50A-5007953E6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560" y="277244"/>
            <a:ext cx="9974090" cy="630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8333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1341E7-2D9D-A097-036B-24BA407D2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431427"/>
            <a:ext cx="11544300" cy="631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1469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042A23-C585-4E58-F86C-B705EDBCF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50" y="579741"/>
            <a:ext cx="11582400" cy="586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058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7782C9-1AB5-3F32-3941-DDA30CC6A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0" y="279400"/>
            <a:ext cx="11646985" cy="575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0664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D63758-38EC-3E87-0B14-B23303A78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50" y="762107"/>
            <a:ext cx="11264900" cy="533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9303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C1EA8A-C5CB-223B-A198-B4374E32A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25" y="482752"/>
            <a:ext cx="11817350" cy="600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2607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99C59A-5EC2-56D7-8C98-0E87BEDDE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37" y="429260"/>
            <a:ext cx="11083253" cy="5166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5597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183E8-B5CC-6AF6-7530-A509277F5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0308"/>
            <a:ext cx="10515600" cy="1325563"/>
          </a:xfrm>
        </p:spPr>
        <p:txBody>
          <a:bodyPr/>
          <a:lstStyle/>
          <a:p>
            <a:r>
              <a:rPr lang="en-US" dirty="0"/>
              <a:t>IO </a:t>
            </a:r>
            <a:r>
              <a:rPr lang="ru-RU" dirty="0"/>
              <a:t>вход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CA1708-9812-1FC8-106E-B903589D8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589" y="472693"/>
            <a:ext cx="6975589" cy="582333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EC877BC-5775-75B9-7686-629905C639B5}"/>
              </a:ext>
            </a:extLst>
          </p:cNvPr>
          <p:cNvCxnSpPr/>
          <p:nvPr/>
        </p:nvCxnSpPr>
        <p:spPr>
          <a:xfrm flipH="1">
            <a:off x="9994900" y="3797300"/>
            <a:ext cx="14224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592E788-7510-BAA6-7223-8D763230E5A1}"/>
              </a:ext>
            </a:extLst>
          </p:cNvPr>
          <p:cNvCxnSpPr>
            <a:cxnSpLocks/>
          </p:cNvCxnSpPr>
          <p:nvPr/>
        </p:nvCxnSpPr>
        <p:spPr>
          <a:xfrm>
            <a:off x="9994900" y="3848100"/>
            <a:ext cx="0" cy="1346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82FECC2-E805-B9DF-D833-E30FE6E0167F}"/>
              </a:ext>
            </a:extLst>
          </p:cNvPr>
          <p:cNvCxnSpPr>
            <a:cxnSpLocks/>
          </p:cNvCxnSpPr>
          <p:nvPr/>
        </p:nvCxnSpPr>
        <p:spPr>
          <a:xfrm flipH="1">
            <a:off x="7156450" y="5137150"/>
            <a:ext cx="19113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D2EEB55-A145-BDE7-7CD0-D4C130D07313}"/>
              </a:ext>
            </a:extLst>
          </p:cNvPr>
          <p:cNvCxnSpPr>
            <a:cxnSpLocks/>
          </p:cNvCxnSpPr>
          <p:nvPr/>
        </p:nvCxnSpPr>
        <p:spPr>
          <a:xfrm>
            <a:off x="6800850" y="5302250"/>
            <a:ext cx="131127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E79BD3E-9040-72BC-8AD9-A0DEE04E61BC}"/>
              </a:ext>
            </a:extLst>
          </p:cNvPr>
          <p:cNvCxnSpPr>
            <a:cxnSpLocks/>
          </p:cNvCxnSpPr>
          <p:nvPr/>
        </p:nvCxnSpPr>
        <p:spPr>
          <a:xfrm flipH="1">
            <a:off x="5476875" y="4940300"/>
            <a:ext cx="32067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21F3950-2246-B7DE-D8E2-7C2EFAD4DDD4}"/>
              </a:ext>
            </a:extLst>
          </p:cNvPr>
          <p:cNvSpPr txBox="1"/>
          <p:nvPr/>
        </p:nvSpPr>
        <p:spPr>
          <a:xfrm>
            <a:off x="457200" y="1515871"/>
            <a:ext cx="4025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 вход значения могут поступать как напрямую так и через регистр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8717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16B76-C084-CF79-7AF6-9368576E8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 </a:t>
            </a:r>
            <a:r>
              <a:rPr lang="ru-RU" dirty="0"/>
              <a:t>выход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29F9CE-609E-4FFA-2F91-FB0C3C254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539" y="517334"/>
            <a:ext cx="6975589" cy="582333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13C5BDD-3010-E6A5-C8A0-026DB6B26994}"/>
              </a:ext>
            </a:extLst>
          </p:cNvPr>
          <p:cNvCxnSpPr>
            <a:cxnSpLocks/>
          </p:cNvCxnSpPr>
          <p:nvPr/>
        </p:nvCxnSpPr>
        <p:spPr>
          <a:xfrm>
            <a:off x="4679950" y="3873500"/>
            <a:ext cx="131127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BB2392F-CAB0-E774-73A8-7D4010F9E08A}"/>
              </a:ext>
            </a:extLst>
          </p:cNvPr>
          <p:cNvCxnSpPr>
            <a:cxnSpLocks/>
          </p:cNvCxnSpPr>
          <p:nvPr/>
        </p:nvCxnSpPr>
        <p:spPr>
          <a:xfrm>
            <a:off x="6242050" y="3638550"/>
            <a:ext cx="16764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993FC2A-BE37-3192-9112-407331BC950B}"/>
              </a:ext>
            </a:extLst>
          </p:cNvPr>
          <p:cNvCxnSpPr>
            <a:cxnSpLocks/>
          </p:cNvCxnSpPr>
          <p:nvPr/>
        </p:nvCxnSpPr>
        <p:spPr>
          <a:xfrm>
            <a:off x="6521450" y="4032250"/>
            <a:ext cx="4953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0EF5DF9-CAD5-EA28-E0F8-082DDA57E0DF}"/>
              </a:ext>
            </a:extLst>
          </p:cNvPr>
          <p:cNvCxnSpPr>
            <a:cxnSpLocks/>
          </p:cNvCxnSpPr>
          <p:nvPr/>
        </p:nvCxnSpPr>
        <p:spPr>
          <a:xfrm>
            <a:off x="7442200" y="3867150"/>
            <a:ext cx="4762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24302FF-279C-2564-110D-3E86AE85FB22}"/>
              </a:ext>
            </a:extLst>
          </p:cNvPr>
          <p:cNvCxnSpPr>
            <a:cxnSpLocks/>
          </p:cNvCxnSpPr>
          <p:nvPr/>
        </p:nvCxnSpPr>
        <p:spPr>
          <a:xfrm>
            <a:off x="8191500" y="3765550"/>
            <a:ext cx="21145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EBDBA81-2E0C-EA7A-8C27-0893779C0EC9}"/>
              </a:ext>
            </a:extLst>
          </p:cNvPr>
          <p:cNvSpPr txBox="1"/>
          <p:nvPr/>
        </p:nvSpPr>
        <p:spPr>
          <a:xfrm>
            <a:off x="838200" y="1496823"/>
            <a:ext cx="32173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Аналогично на выход значение может идти через регистр или напрямую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4035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D9C8F-FC41-DF37-A3BA-AB916845E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Standards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FA178F-5DAA-89A1-AEB6-C3FD4EC87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8232" y="1911350"/>
            <a:ext cx="7076918" cy="3778429"/>
          </a:xfrm>
          <a:prstGeom prst="rect">
            <a:avLst/>
          </a:prstGeom>
        </p:spPr>
      </p:pic>
      <p:pic>
        <p:nvPicPr>
          <p:cNvPr id="6" name="Picture 5" descr="The Basics of LVTTL: Logic Levels and Specifications">
            <a:extLst>
              <a:ext uri="{FF2B5EF4-FFF2-40B4-BE49-F238E27FC236}">
                <a16:creationId xmlns:a16="http://schemas.microsoft.com/office/drawing/2014/main" id="{66641171-0B9D-0511-E6D9-AB73FA241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44" y="1911350"/>
            <a:ext cx="4382112" cy="3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6089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42446E-F3E2-99BF-E086-7CAEE8C4C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861" y="517334"/>
            <a:ext cx="6975589" cy="58233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73C072-CF25-5B56-D18B-0D09DD209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314325"/>
            <a:ext cx="4203700" cy="1325563"/>
          </a:xfrm>
        </p:spPr>
        <p:txBody>
          <a:bodyPr/>
          <a:lstStyle/>
          <a:p>
            <a:r>
              <a:rPr lang="en-US" dirty="0"/>
              <a:t>Pull-up resistor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2BCE08-9FF2-A566-5EAC-A0A3BD804AD4}"/>
              </a:ext>
            </a:extLst>
          </p:cNvPr>
          <p:cNvSpPr/>
          <p:nvPr/>
        </p:nvSpPr>
        <p:spPr>
          <a:xfrm>
            <a:off x="9956800" y="2546350"/>
            <a:ext cx="641350" cy="11811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What does open-drain &amp; push-pull mean? - Electrical Engineering - Hardware  FYI">
            <a:extLst>
              <a:ext uri="{FF2B5EF4-FFF2-40B4-BE49-F238E27FC236}">
                <a16:creationId xmlns:a16="http://schemas.microsoft.com/office/drawing/2014/main" id="{09E12659-B891-FF87-7D30-C66BA2F59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1493139"/>
            <a:ext cx="3884393" cy="2370138"/>
          </a:xfrm>
          <a:prstGeom prst="rect">
            <a:avLst/>
          </a:prstGeom>
        </p:spPr>
      </p:pic>
      <p:pic>
        <p:nvPicPr>
          <p:cNvPr id="10" name="Picture 9" descr="Staccato Signals: Pull-up resistor calculator">
            <a:extLst>
              <a:ext uri="{FF2B5EF4-FFF2-40B4-BE49-F238E27FC236}">
                <a16:creationId xmlns:a16="http://schemas.microsoft.com/office/drawing/2014/main" id="{E53528C5-7307-D5E3-B310-208C5D059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745" y="4062335"/>
            <a:ext cx="2893955" cy="248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5371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7BD27-BF14-81EF-CD74-1D368A8FC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</a:t>
            </a:r>
            <a:r>
              <a:rPr lang="en-US" dirty="0"/>
              <a:t>/</a:t>
            </a:r>
            <a:r>
              <a:rPr lang="ru-RU" dirty="0"/>
              <a:t>З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F755D-9BD0-42D0-B005-8AF873122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Создайте блок памяти</a:t>
            </a:r>
            <a:r>
              <a:rPr lang="en-US" dirty="0"/>
              <a:t> </a:t>
            </a:r>
            <a:r>
              <a:rPr lang="ru-RU" dirty="0"/>
              <a:t>из </a:t>
            </a:r>
            <a:r>
              <a:rPr lang="en-US" dirty="0"/>
              <a:t>5</a:t>
            </a:r>
            <a:r>
              <a:rPr lang="ru-RU" dirty="0"/>
              <a:t> байт инициализированных</a:t>
            </a:r>
            <a:r>
              <a:rPr lang="en-US" dirty="0"/>
              <a:t> “Hello”.</a:t>
            </a:r>
            <a:r>
              <a:rPr lang="ru-RU" dirty="0"/>
              <a:t> </a:t>
            </a:r>
            <a:endParaRPr lang="en-US" dirty="0"/>
          </a:p>
          <a:p>
            <a:r>
              <a:rPr lang="ru-RU" dirty="0"/>
              <a:t>При принятии байта по </a:t>
            </a:r>
            <a:r>
              <a:rPr lang="en-US" dirty="0" err="1"/>
              <a:t>uart</a:t>
            </a:r>
            <a:r>
              <a:rPr lang="en-US" dirty="0"/>
              <a:t> </a:t>
            </a:r>
            <a:r>
              <a:rPr lang="ru-RU" dirty="0"/>
              <a:t>перепишите очередной байт в памяти (сначала первый, затем второй и т.д.)</a:t>
            </a:r>
          </a:p>
          <a:p>
            <a:r>
              <a:rPr lang="ru-RU" dirty="0"/>
              <a:t>При нажатии на кнопку – отправьте содержимое памяти через </a:t>
            </a:r>
            <a:r>
              <a:rPr lang="en-US" dirty="0" err="1"/>
              <a:t>uart</a:t>
            </a:r>
            <a:r>
              <a:rPr lang="en-US" dirty="0"/>
              <a:t> </a:t>
            </a:r>
            <a:r>
              <a:rPr lang="ru-RU" dirty="0"/>
              <a:t>в терминал.</a:t>
            </a:r>
          </a:p>
        </p:txBody>
      </p:sp>
    </p:spTree>
    <p:extLst>
      <p:ext uri="{BB962C8B-B14F-4D97-AF65-F5344CB8AC3E}">
        <p14:creationId xmlns:p14="http://schemas.microsoft.com/office/powerpoint/2010/main" val="2343302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943</Words>
  <Application>Microsoft Office PowerPoint</Application>
  <PresentationFormat>Widescreen</PresentationFormat>
  <Paragraphs>155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Consolas</vt:lpstr>
      <vt:lpstr>Office Theme</vt:lpstr>
      <vt:lpstr>Что еще есть в нашей FPGA?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Что в итоге получаем?</vt:lpstr>
      <vt:lpstr>Симуляция</vt:lpstr>
      <vt:lpstr>Небольшой пример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IO вход</vt:lpstr>
      <vt:lpstr>IO выход</vt:lpstr>
      <vt:lpstr>I/O Standards</vt:lpstr>
      <vt:lpstr>Pull-up resistor</vt:lpstr>
      <vt:lpstr>Д/З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саша буссе</dc:creator>
  <cp:lastModifiedBy>саша буссе</cp:lastModifiedBy>
  <cp:revision>9</cp:revision>
  <dcterms:created xsi:type="dcterms:W3CDTF">2026-10-19T20:07:21Z</dcterms:created>
  <dcterms:modified xsi:type="dcterms:W3CDTF">2026-10-19T23:39:57Z</dcterms:modified>
</cp:coreProperties>
</file>