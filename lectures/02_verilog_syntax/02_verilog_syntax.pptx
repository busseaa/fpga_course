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9" r:id="rId3"/>
    <p:sldId id="260" r:id="rId4"/>
    <p:sldId id="263" r:id="rId5"/>
    <p:sldId id="313" r:id="rId6"/>
    <p:sldId id="292" r:id="rId7"/>
    <p:sldId id="299" r:id="rId8"/>
    <p:sldId id="301" r:id="rId9"/>
    <p:sldId id="30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5" r:id="rId21"/>
    <p:sldId id="312" r:id="rId22"/>
    <p:sldId id="314" r:id="rId23"/>
    <p:sldId id="316" r:id="rId24"/>
    <p:sldId id="31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E71E8-3C03-4698-8A5F-D437D8EB43B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331FB-1429-4FBE-9E02-B700F3C8ED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11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4A0EA-ADE9-1664-56B8-31DBEE478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1F187-F9E4-D017-C89D-DD478D590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C645F-AA2D-9118-9833-9ADF377F4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F04 · Пара 1, 22–30, 8 мин</a:t>
            </a:r>
          </a:p>
          <a:p>
            <a:endParaRPr/>
          </a:p>
          <a:p>
            <a:r>
              <a:t>ПЛИС — программируемая логическая интегральная схема. FPGA — Field-Programmable Gate Array. Кристалл уже изготовлен; конфигурация задаёт функции логических блоков и соединения.</a:t>
            </a:r>
          </a:p>
          <a:p>
            <a:r>
              <a:t>Кратко вспомнить логический элемент, мультиплексор и триггер: функция, выбор, хранение. LUT реализует таблицу логической функции, триггер хранит бит между фронтами. Сейчас достаточно ролей. На рисунке общая архитектура FPGA, не физический план Cyclone IV. CLB и PSM — подписи исходной иллюстрации. Два сумматора справа являются концептуальным примером, не отчётом синтеза.</a:t>
            </a:r>
          </a:p>
          <a:p>
            <a:r>
              <a:t>Изменение схемы ограничено ресурсами и интерфейсами имеющегося кристалла.</a:t>
            </a:r>
          </a:p>
          <a:p>
            <a:endParaRPr/>
          </a:p>
          <a:p>
            <a:r>
              <a:t>Источники и материалы: FPGA — Field-Programmable Gate Array · Общая архитектура: старый курс, lecture_1.pdf, с. 7</a:t>
            </a:r>
          </a:p>
          <a:p>
            <a:r>
              <a:t>Сопроводительные ссылки и происхождение изображений: README.md.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1DD8F-A71F-C002-4FBF-29C015BDDD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1794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9BBFF-885D-44DD-5ECD-CC3D8529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2609D-FFBF-9811-5A3D-F1111AE87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3984A-B1BC-82CC-A1CC-A2937972A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F04 · Пара 1, 22–30, 8 мин</a:t>
            </a:r>
          </a:p>
          <a:p>
            <a:endParaRPr/>
          </a:p>
          <a:p>
            <a:r>
              <a:t>ПЛИС — программируемая логическая интегральная схема. FPGA — Field-Programmable Gate Array. Кристалл уже изготовлен; конфигурация задаёт функции логических блоков и соединения.</a:t>
            </a:r>
          </a:p>
          <a:p>
            <a:r>
              <a:t>Кратко вспомнить логический элемент, мультиплексор и триггер: функция, выбор, хранение. LUT реализует таблицу логической функции, триггер хранит бит между фронтами. Сейчас достаточно ролей. На рисунке общая архитектура FPGA, не физический план Cyclone IV. CLB и PSM — подписи исходной иллюстрации. Два сумматора справа являются концептуальным примером, не отчётом синтеза.</a:t>
            </a:r>
          </a:p>
          <a:p>
            <a:r>
              <a:t>Изменение схемы ограничено ресурсами и интерфейсами имеющегося кристалла.</a:t>
            </a:r>
          </a:p>
          <a:p>
            <a:endParaRPr/>
          </a:p>
          <a:p>
            <a:r>
              <a:t>Источники и материалы: FPGA — Field-Programmable Gate Array · Общая архитектура: старый курс, lecture_1.pdf, с. 7</a:t>
            </a:r>
          </a:p>
          <a:p>
            <a:r>
              <a:t>Сопроводительные ссылки и происхождение изображений: README.md.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30F2B-595A-D526-5307-C20A0EA507D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6898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4C7D-B0AB-4B3D-1192-FF0A2F547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02C7C-699A-CB53-0FDA-116EEA92F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29891-55BE-2783-5230-B82011CFB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F1B59-5C91-5D6B-539F-43DC14B17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42F2D-0F3D-30EF-B217-A7B1A04F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3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D74C-7BD6-DBA2-33E2-8DA41EDE6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74F53-B056-7B98-2F0C-90D284E26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C7354-3001-BC8C-792C-BE0189B3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BA1CD-940A-A358-51BC-CB4B9EE8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B9612-9B25-1459-D451-90EA7A64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B63B-1B27-41FC-7661-6967FF4C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822D0-629C-8D5D-3D4D-867C56FFC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0CBEB-C779-7636-35A7-D67966E8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C3C36-F129-0AA6-3AA9-9D3861CE1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49B31-06E3-CF1D-4F85-A9FBC56F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0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E09F-82FD-3224-C05F-518CB5A4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25646-5B8D-E98F-64A6-7887AF565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C4967-00DA-6EF8-C489-DA8C425EB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D72AF-E436-4E69-03B6-4138A8A76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FBF81-E7E5-6824-ACFB-C3867B2CB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DD77C-7B3F-4B81-5B04-4665CB607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1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BB8F-1BDF-70CC-57FA-15A812CE0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0D018-B195-E5D3-0150-5AABA2824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9F82F-BF18-61CB-56B3-24429A3F7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88985-8059-C8DD-D6C5-172677AB3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3348F-D79B-A46A-50DF-FB8AB26D7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6C6881-960D-B988-0D4E-A74343EC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AE59C6-0DDE-7C4D-A345-B79F09BF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9E8145-249F-B4C4-8096-0C87E6B1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9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F7BD4-FAC3-2BC3-DC90-00E8FFD57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2D193-0DF6-9916-04F1-C3235158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C302C-4ABF-FF51-23F3-2A6935FE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87FC7-EEAF-8724-C402-D25250ED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76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90B19-9658-9521-6472-60A90187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F63067-56E4-B1B7-FE59-51F48DC29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4E7DD-F0FB-ADCA-EA98-1FF699EE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1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8CB2-EA58-87DE-82E8-C58E04732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90A61-737B-C06B-9526-456086066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46B16-7C04-CE80-054B-F12B921F1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559B5-640F-1B53-7DA7-CE593320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E95CB-87A6-7B21-7605-BD5995B9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A46CA-3F1B-0ADA-75BD-6DDCFBB9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01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4138-CA55-3EC8-2406-28840418E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EC3BE9-74CA-DD02-D605-C9B057685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F976E-9D23-D9C7-58AD-F79253310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E68F3-BD45-C342-54D3-A33FEE91D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57242-0E25-E9B4-A922-58996A85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FA587-ACA9-66DB-1B50-D7B3AE77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67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D7E-624E-A91D-232C-C3D108A0B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E098F-EA3F-4284-3A08-E8AEF0F29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3084F-E69E-2D35-C1C9-12A18990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AC0C3-D166-1CD6-D4DC-AAAE1A162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53001-D067-8CBD-C30E-1DD191C0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6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EB9E4-7492-3BD2-9B01-AEFC7AA5CB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CDF78-5172-40CE-CFC8-CA435B88D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75CF3-79F5-B580-F4DD-43C0F2F6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1A240-6BFB-DDF9-B9A6-EFD6FFD8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EC98A-78EA-15C9-8520-301459B8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68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27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393DB6-3859-565E-F26E-F300F6D93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B8B6B-041C-2456-8E29-6EF598A63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F3FF-13BB-1118-40C0-234226913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B4DCA-CCFC-4F13-9F4C-80EFD7DB991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13061-C592-EF60-E15C-B6E6481F6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19A3D-E48A-A24A-CEC9-2704D62F0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C51C0-103C-4CB5-BCED-BBE729ABF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7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6507-EC3D-715E-07BF-514930DFF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43163"/>
            <a:ext cx="9144000" cy="985837"/>
          </a:xfrm>
        </p:spPr>
        <p:txBody>
          <a:bodyPr/>
          <a:lstStyle/>
          <a:p>
            <a:r>
              <a:rPr lang="en-US" dirty="0"/>
              <a:t>Verilog syntax</a:t>
            </a:r>
          </a:p>
        </p:txBody>
      </p:sp>
    </p:spTree>
    <p:extLst>
      <p:ext uri="{BB962C8B-B14F-4D97-AF65-F5344CB8AC3E}">
        <p14:creationId xmlns:p14="http://schemas.microsoft.com/office/powerpoint/2010/main" val="1840384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23EFB-4EAC-DF1C-C783-1A01BCDA3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Языки описания аппаратуры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412A1-B1D9-5B42-6C13-F897A8EF5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383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rgbClr val="FF0000"/>
                </a:solidFill>
              </a:rPr>
              <a:t>Мы не описываем последовательность операций.</a:t>
            </a:r>
          </a:p>
          <a:p>
            <a:r>
              <a:rPr lang="ru-RU" sz="2400" dirty="0">
                <a:solidFill>
                  <a:srgbClr val="00B050"/>
                </a:solidFill>
              </a:rPr>
              <a:t>Мы описываем цифровую схему, то какие логические элементы нам нужны, в каком количестве и как они должны быть подключены. 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9BEB0-4F8B-4084-7ED0-9272F65A0318}"/>
              </a:ext>
            </a:extLst>
          </p:cNvPr>
          <p:cNvSpPr txBox="1"/>
          <p:nvPr/>
        </p:nvSpPr>
        <p:spPr>
          <a:xfrm>
            <a:off x="1136650" y="4348552"/>
            <a:ext cx="3200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summator (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clk,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a, b,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sum &lt;=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a+b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222222-0EAD-685A-C6D6-FEEBE78509D0}"/>
              </a:ext>
            </a:extLst>
          </p:cNvPr>
          <p:cNvSpPr txBox="1"/>
          <p:nvPr/>
        </p:nvSpPr>
        <p:spPr>
          <a:xfrm>
            <a:off x="1581150" y="3519037"/>
            <a:ext cx="1052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Verilog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45C962-B47A-90D9-0CF1-744DADB61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954" y="4070433"/>
            <a:ext cx="3469346" cy="23105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DDE9D6-F088-66EA-2438-52224BC8D1F8}"/>
              </a:ext>
            </a:extLst>
          </p:cNvPr>
          <p:cNvSpPr txBox="1"/>
          <p:nvPr/>
        </p:nvSpPr>
        <p:spPr>
          <a:xfrm>
            <a:off x="6804954" y="3519037"/>
            <a:ext cx="3031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Цифровое устройство</a:t>
            </a:r>
            <a:endParaRPr lang="en-US" sz="24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EEB2B9F-9202-BF82-F073-E6B14A0F109B}"/>
              </a:ext>
            </a:extLst>
          </p:cNvPr>
          <p:cNvSpPr/>
          <p:nvPr/>
        </p:nvSpPr>
        <p:spPr>
          <a:xfrm>
            <a:off x="4478997" y="4629150"/>
            <a:ext cx="1816100" cy="7937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5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6C4F-4996-A7A5-CBC4-D70B5D22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Литералы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B0950-7037-6EDC-58D8-3F4DF828F20D}"/>
              </a:ext>
            </a:extLst>
          </p:cNvPr>
          <p:cNvSpPr txBox="1"/>
          <p:nvPr/>
        </p:nvSpPr>
        <p:spPr>
          <a:xfrm>
            <a:off x="838200" y="1585620"/>
            <a:ext cx="27527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&lt;size&gt;’&lt;base&gt;&lt;number&gt;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AE4DDB-B2CA-8857-FEFF-EF58B5B80182}"/>
              </a:ext>
            </a:extLst>
          </p:cNvPr>
          <p:cNvSpPr txBox="1"/>
          <p:nvPr/>
        </p:nvSpPr>
        <p:spPr>
          <a:xfrm>
            <a:off x="838200" y="2066837"/>
            <a:ext cx="86119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 err="1"/>
              <a:t>Size</a:t>
            </a:r>
            <a:r>
              <a:rPr lang="en-US" sz="2000" dirty="0"/>
              <a:t> </a:t>
            </a:r>
            <a:r>
              <a:rPr lang="ru-RU" sz="2000" dirty="0"/>
              <a:t>– количество бит в представлении числа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Base</a:t>
            </a:r>
            <a:r>
              <a:rPr lang="en-US" sz="2000" dirty="0"/>
              <a:t> </a:t>
            </a:r>
            <a:r>
              <a:rPr lang="ru-RU" sz="2000" dirty="0"/>
              <a:t>–</a:t>
            </a:r>
            <a:r>
              <a:rPr lang="en-US" sz="2000" dirty="0"/>
              <a:t> </a:t>
            </a:r>
            <a:r>
              <a:rPr lang="ru-RU" sz="2000" dirty="0"/>
              <a:t>основание представления (b/B - </a:t>
            </a:r>
            <a:r>
              <a:rPr lang="ru-RU" sz="2000" dirty="0" err="1"/>
              <a:t>binary</a:t>
            </a:r>
            <a:r>
              <a:rPr lang="ru-RU" sz="2000" dirty="0"/>
              <a:t>), (d/D – </a:t>
            </a:r>
            <a:r>
              <a:rPr lang="ru-RU" sz="2000" dirty="0" err="1"/>
              <a:t>decimal</a:t>
            </a:r>
            <a:r>
              <a:rPr lang="ru-RU" sz="2000" dirty="0"/>
              <a:t>), (h/H – </a:t>
            </a:r>
            <a:r>
              <a:rPr lang="ru-RU" sz="2000" dirty="0" err="1"/>
              <a:t>hex</a:t>
            </a:r>
            <a:r>
              <a:rPr lang="ru-RU" sz="2000" dirty="0"/>
              <a:t>)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/>
              <a:t>Number</a:t>
            </a:r>
            <a:r>
              <a:rPr lang="en-US" sz="2000" dirty="0"/>
              <a:t> </a:t>
            </a:r>
            <a:r>
              <a:rPr lang="ru-RU" sz="2000" dirty="0"/>
              <a:t>–</a:t>
            </a:r>
            <a:r>
              <a:rPr lang="en-US" sz="2000" dirty="0"/>
              <a:t> </a:t>
            </a:r>
            <a:r>
              <a:rPr lang="ru-RU" sz="2000" dirty="0"/>
              <a:t>число в соответствии с выбранным основанием.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3D6978-8571-F937-0BE8-011F7F64FC5A}"/>
              </a:ext>
            </a:extLst>
          </p:cNvPr>
          <p:cNvSpPr txBox="1"/>
          <p:nvPr/>
        </p:nvSpPr>
        <p:spPr>
          <a:xfrm>
            <a:off x="838200" y="328042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Примеры (12 c разными основаниями): </a:t>
            </a:r>
            <a:endParaRPr lang="en-US" sz="2000" dirty="0"/>
          </a:p>
          <a:p>
            <a:r>
              <a:rPr lang="ru-RU" sz="2000" dirty="0"/>
              <a:t>• 4’b1100 </a:t>
            </a:r>
            <a:endParaRPr lang="en-US" sz="2000" dirty="0"/>
          </a:p>
          <a:p>
            <a:r>
              <a:rPr lang="ru-RU" sz="2000" dirty="0"/>
              <a:t>• 4’d12 </a:t>
            </a:r>
            <a:endParaRPr lang="en-US" sz="2000" dirty="0"/>
          </a:p>
          <a:p>
            <a:r>
              <a:rPr lang="ru-RU" sz="2000" dirty="0"/>
              <a:t>• 4’hC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720525-6BB1-4401-7714-69EEA3E05BBA}"/>
              </a:ext>
            </a:extLst>
          </p:cNvPr>
          <p:cNvSpPr txBox="1"/>
          <p:nvPr/>
        </p:nvSpPr>
        <p:spPr>
          <a:xfrm>
            <a:off x="838200" y="4810715"/>
            <a:ext cx="90143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Если не указать основание и размер, то будет автоматически установлено</a:t>
            </a:r>
            <a:r>
              <a:rPr lang="en-US" dirty="0"/>
              <a:t> size=32, base=d</a:t>
            </a:r>
          </a:p>
          <a:p>
            <a:r>
              <a:rPr lang="ru-RU" dirty="0"/>
              <a:t>Пример</a:t>
            </a:r>
            <a:r>
              <a:rPr lang="en-US" dirty="0"/>
              <a:t>:</a:t>
            </a:r>
          </a:p>
          <a:p>
            <a:r>
              <a:rPr lang="ru-RU" dirty="0"/>
              <a:t>156 эквивалентно </a:t>
            </a:r>
            <a:r>
              <a:rPr lang="en-US" dirty="0"/>
              <a:t>32’d156</a:t>
            </a:r>
          </a:p>
        </p:txBody>
      </p:sp>
    </p:spTree>
    <p:extLst>
      <p:ext uri="{BB962C8B-B14F-4D97-AF65-F5344CB8AC3E}">
        <p14:creationId xmlns:p14="http://schemas.microsoft.com/office/powerpoint/2010/main" val="117030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729F-C79B-1EF3-F7A6-177F9938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Переменные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39FB5A-D375-B581-E00E-6192403B9372}"/>
              </a:ext>
            </a:extLst>
          </p:cNvPr>
          <p:cNvSpPr txBox="1"/>
          <p:nvPr/>
        </p:nvSpPr>
        <p:spPr>
          <a:xfrm>
            <a:off x="393700" y="2065050"/>
            <a:ext cx="116268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&lt;type&gt; </a:t>
            </a:r>
            <a:r>
              <a:rPr lang="en-US" dirty="0">
                <a:latin typeface="Consolas" panose="020B0609020204030204" pitchFamily="49" charset="0"/>
              </a:rPr>
              <a:t>[MSB: LSB] &lt;name&gt;;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// MSB/LSB – Most/Least significant bit.</a:t>
            </a:r>
          </a:p>
          <a:p>
            <a:pPr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// Examples:</a:t>
            </a: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ire </a:t>
            </a:r>
            <a:r>
              <a:rPr lang="en-US" b="0" dirty="0">
                <a:effectLst/>
                <a:latin typeface="Consolas" panose="020B0609020204030204" pitchFamily="49" charset="0"/>
              </a:rPr>
              <a:t>[3: 0]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a; </a:t>
            </a:r>
            <a:r>
              <a:rPr lang="en-US" b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// 4 bit variable 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[15: 0] b; </a:t>
            </a:r>
            <a:r>
              <a:rPr lang="en-US" b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// 16 bit variable </a:t>
            </a:r>
          </a:p>
          <a:p>
            <a:pPr>
              <a:buNone/>
            </a:pPr>
            <a:r>
              <a:rPr lang="en-US" b="0" dirty="0">
                <a:solidFill>
                  <a:schemeClr val="accent6"/>
                </a:solidFill>
                <a:effectLst/>
                <a:latin typeface="Consolas" panose="020B0609020204030204" pitchFamily="49" charset="0"/>
              </a:rPr>
              <a:t>// You can do something like this</a:t>
            </a: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wire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[15: 12] c;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// 4 bits where c[15] is most significant and c[12] is least significant</a:t>
            </a:r>
          </a:p>
          <a:p>
            <a:pPr>
              <a:buNone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wire </a:t>
            </a:r>
            <a:r>
              <a:rPr lang="en-US" dirty="0">
                <a:latin typeface="Consolas" panose="020B0609020204030204" pitchFamily="49" charset="0"/>
              </a:rPr>
              <a:t>[0: 3] d;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4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bits where c[0] is most significant and c[3] is least significant</a:t>
            </a:r>
            <a:endParaRPr lang="en-US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5065CA-FAEF-C26D-F7C9-7E9FEAA21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72" y="4695596"/>
            <a:ext cx="2068928" cy="9434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FD743F-5C72-16EC-1685-25AC9C9F2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155" y="4728550"/>
            <a:ext cx="2068928" cy="8775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01720E-5D64-2C98-2B6C-52EEA2880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438" y="4781838"/>
            <a:ext cx="2068928" cy="82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49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E21F1-9D02-3BB8-BE13-3F09BF9A8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Конкатенация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FB3B2E-A3D7-79F5-F5C6-1267D06026EE}"/>
              </a:ext>
            </a:extLst>
          </p:cNvPr>
          <p:cNvSpPr txBox="1"/>
          <p:nvPr/>
        </p:nvSpPr>
        <p:spPr>
          <a:xfrm>
            <a:off x="838200" y="1617370"/>
            <a:ext cx="1289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{a, b, c ….}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6FA2B6-3316-5D9E-1A04-9BC9825E73FA}"/>
              </a:ext>
            </a:extLst>
          </p:cNvPr>
          <p:cNvSpPr txBox="1"/>
          <p:nvPr/>
        </p:nvSpPr>
        <p:spPr>
          <a:xfrm>
            <a:off x="838200" y="2164733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Примеры : </a:t>
            </a:r>
            <a:endParaRPr lang="en-US" sz="2000" dirty="0"/>
          </a:p>
          <a:p>
            <a:endParaRPr lang="ru-RU" sz="2000" dirty="0"/>
          </a:p>
          <a:p>
            <a:r>
              <a:rPr lang="ru-RU" sz="2000" dirty="0"/>
              <a:t>• </a:t>
            </a:r>
            <a:r>
              <a:rPr lang="en-US" sz="2000" dirty="0"/>
              <a:t>{</a:t>
            </a:r>
            <a:r>
              <a:rPr lang="en-US" sz="2000" dirty="0">
                <a:solidFill>
                  <a:schemeClr val="accent1"/>
                </a:solidFill>
              </a:rPr>
              <a:t>a</a:t>
            </a:r>
            <a:r>
              <a:rPr lang="en-US" sz="2000" dirty="0"/>
              <a:t>, </a:t>
            </a:r>
            <a:r>
              <a:rPr lang="en-US" sz="2000" dirty="0">
                <a:solidFill>
                  <a:schemeClr val="accent6"/>
                </a:solidFill>
              </a:rPr>
              <a:t>b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C00000"/>
                </a:solidFill>
              </a:rPr>
              <a:t>c</a:t>
            </a:r>
            <a:r>
              <a:rPr lang="en-US" sz="2000" dirty="0"/>
              <a:t>, …}</a:t>
            </a:r>
            <a:r>
              <a:rPr lang="ru-RU" sz="2000" dirty="0"/>
              <a:t> 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ru-RU" sz="2000" dirty="0"/>
              <a:t>• </a:t>
            </a:r>
            <a:r>
              <a:rPr lang="en-US" sz="2000" dirty="0"/>
              <a:t>{</a:t>
            </a:r>
            <a:r>
              <a:rPr lang="en-US" sz="2000" dirty="0">
                <a:solidFill>
                  <a:srgbClr val="0070C0"/>
                </a:solidFill>
              </a:rPr>
              <a:t>4’b1011</a:t>
            </a:r>
            <a:r>
              <a:rPr lang="en-US" sz="2000" dirty="0"/>
              <a:t>, </a:t>
            </a:r>
            <a:r>
              <a:rPr lang="en-US" sz="2000" dirty="0">
                <a:solidFill>
                  <a:schemeClr val="accent6"/>
                </a:solidFill>
              </a:rPr>
              <a:t>b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C00000"/>
                </a:solidFill>
              </a:rPr>
              <a:t>c[3:2]</a:t>
            </a:r>
            <a:r>
              <a:rPr lang="en-US" sz="2000" dirty="0"/>
              <a:t>}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ru-RU" sz="2000" dirty="0"/>
              <a:t>•</a:t>
            </a:r>
            <a:r>
              <a:rPr lang="en-US" sz="2000" dirty="0"/>
              <a:t>{</a:t>
            </a:r>
            <a:r>
              <a:rPr lang="en-US" sz="2000" dirty="0">
                <a:solidFill>
                  <a:schemeClr val="accent1"/>
                </a:solidFill>
              </a:rPr>
              <a:t>WIDTH</a:t>
            </a:r>
            <a:r>
              <a:rPr lang="en-US" sz="2000" dirty="0"/>
              <a:t>{</a:t>
            </a:r>
            <a:r>
              <a:rPr lang="en-US" sz="2000" dirty="0">
                <a:solidFill>
                  <a:schemeClr val="accent6"/>
                </a:solidFill>
              </a:rPr>
              <a:t>1’b0</a:t>
            </a:r>
            <a:r>
              <a:rPr lang="en-US" sz="2000" dirty="0"/>
              <a:t>}}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ru-RU" sz="2000" dirty="0"/>
              <a:t>• </a:t>
            </a:r>
            <a:r>
              <a:rPr lang="en-US" sz="2000" dirty="0"/>
              <a:t>{</a:t>
            </a:r>
            <a:r>
              <a:rPr lang="en-US" sz="2000" dirty="0">
                <a:solidFill>
                  <a:schemeClr val="accent1"/>
                </a:solidFill>
              </a:rPr>
              <a:t>{2{1’b0}}</a:t>
            </a:r>
            <a:r>
              <a:rPr lang="en-US" sz="2000" dirty="0"/>
              <a:t>, </a:t>
            </a:r>
            <a:r>
              <a:rPr lang="en-US" sz="2000" dirty="0">
                <a:solidFill>
                  <a:schemeClr val="accent6"/>
                </a:solidFill>
              </a:rPr>
              <a:t>{2{a}}</a:t>
            </a:r>
            <a:r>
              <a:rPr lang="en-US" sz="2000" dirty="0"/>
              <a:t>}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FFD283-CD82-B38E-3D83-1A3A61332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451" y="2594478"/>
            <a:ext cx="2946549" cy="739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B12E6F-8FA3-B7EA-9A98-918D6AF70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439" y="3334346"/>
            <a:ext cx="3635861" cy="9593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AB71C8-3168-FCC4-7405-0B2F3FF17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439" y="4167310"/>
            <a:ext cx="1324035" cy="9141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B49ABD-AC30-B286-1DC4-917DCD5CC9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1817" y="5307405"/>
            <a:ext cx="2743314" cy="60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70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7D48E-1AE2-0D94-4874-D92085F7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_59">
            <a:extLst>
              <a:ext uri="{FF2B5EF4-FFF2-40B4-BE49-F238E27FC236}">
                <a16:creationId xmlns:a16="http://schemas.microsoft.com/office/drawing/2014/main" id="{C6A66DD0-822C-5D96-FF58-6DE5395A1864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277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en-US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Verilog: wire (</a:t>
            </a:r>
            <a:r>
              <a:rPr lang="ru-RU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комбинационная логика)</a:t>
            </a:r>
            <a:endParaRPr sz="3225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line_60">
            <a:extLst>
              <a:ext uri="{FF2B5EF4-FFF2-40B4-BE49-F238E27FC236}">
                <a16:creationId xmlns:a16="http://schemas.microsoft.com/office/drawing/2014/main" id="{09D2A66B-1E1A-6588-49F8-E03377169275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11277600" cy="0"/>
          </a:xfrm>
          <a:prstGeom prst="line">
            <a:avLst/>
          </a:prstGeom>
          <a:noFill/>
          <a:ln w="9525">
            <a:solidFill>
              <a:srgbClr val="B9C4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B6B7F4-3E2A-BB34-5FD3-3D3FB140F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5985"/>
            <a:ext cx="10232136" cy="48338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AB0420-75B5-FD5C-D1F7-F5862A3E9F3D}"/>
              </a:ext>
            </a:extLst>
          </p:cNvPr>
          <p:cNvSpPr txBox="1"/>
          <p:nvPr/>
        </p:nvSpPr>
        <p:spPr>
          <a:xfrm>
            <a:off x="82296" y="5029200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(непрерывное присваивание)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076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3E5DE-15E9-32D5-484C-A12AB8A1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_59">
            <a:extLst>
              <a:ext uri="{FF2B5EF4-FFF2-40B4-BE49-F238E27FC236}">
                <a16:creationId xmlns:a16="http://schemas.microsoft.com/office/drawing/2014/main" id="{07A25876-4C6C-1871-3FE9-B507009DAB89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277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en-US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Verilog: reg (</a:t>
            </a:r>
            <a:r>
              <a:rPr lang="ru-RU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последовательная логика)</a:t>
            </a:r>
            <a:endParaRPr sz="3225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line_60">
            <a:extLst>
              <a:ext uri="{FF2B5EF4-FFF2-40B4-BE49-F238E27FC236}">
                <a16:creationId xmlns:a16="http://schemas.microsoft.com/office/drawing/2014/main" id="{E0B2D1E2-6CF4-49F8-0709-53E7F54AD9D2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11277600" cy="0"/>
          </a:xfrm>
          <a:prstGeom prst="line">
            <a:avLst/>
          </a:prstGeom>
          <a:noFill/>
          <a:ln w="9525">
            <a:solidFill>
              <a:srgbClr val="B9C4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1C181-FA64-A906-925F-4F103BB3000D}"/>
              </a:ext>
            </a:extLst>
          </p:cNvPr>
          <p:cNvSpPr txBox="1"/>
          <p:nvPr/>
        </p:nvSpPr>
        <p:spPr>
          <a:xfrm>
            <a:off x="457200" y="1304214"/>
            <a:ext cx="93557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Переменные </a:t>
            </a:r>
            <a:r>
              <a:rPr lang="en-US" sz="2400" dirty="0">
                <a:solidFill>
                  <a:srgbClr val="0070C0"/>
                </a:solidFill>
              </a:rPr>
              <a:t>reg</a:t>
            </a:r>
            <a:r>
              <a:rPr lang="en-US" sz="2400" dirty="0"/>
              <a:t> </a:t>
            </a:r>
            <a:r>
              <a:rPr lang="ru-RU" sz="2400" dirty="0"/>
              <a:t>в большинстве случаев представляют собой регистр.</a:t>
            </a: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FC2E92-8563-4E8F-FF4F-563D9E523460}"/>
              </a:ext>
            </a:extLst>
          </p:cNvPr>
          <p:cNvSpPr txBox="1"/>
          <p:nvPr/>
        </p:nvSpPr>
        <p:spPr>
          <a:xfrm>
            <a:off x="959792" y="1995091"/>
            <a:ext cx="3408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Non-blocking assignment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0D3049-8BCC-7C3B-70CF-8F98C85D3193}"/>
              </a:ext>
            </a:extLst>
          </p:cNvPr>
          <p:cNvSpPr txBox="1"/>
          <p:nvPr/>
        </p:nvSpPr>
        <p:spPr>
          <a:xfrm>
            <a:off x="6759846" y="1995091"/>
            <a:ext cx="2789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Blocking assignment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4CCC215-D39A-405A-62F0-3038CBA7D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70" y="5903232"/>
            <a:ext cx="5727135" cy="66149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089DA6-A0E2-02BC-FAA9-E689E3A02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186" y="5903232"/>
            <a:ext cx="5695950" cy="72057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D586FAC-2C72-CE3A-E451-A939104A61A9}"/>
              </a:ext>
            </a:extLst>
          </p:cNvPr>
          <p:cNvSpPr txBox="1"/>
          <p:nvPr/>
        </p:nvSpPr>
        <p:spPr>
          <a:xfrm>
            <a:off x="959792" y="2475245"/>
            <a:ext cx="3310873" cy="1294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4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4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a;</a:t>
            </a:r>
            <a:endParaRPr lang="en-US" sz="1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b;</a:t>
            </a:r>
            <a:endParaRPr lang="en-US" sz="1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805492-4F14-F726-45B5-58D6D2A155C7}"/>
              </a:ext>
            </a:extLst>
          </p:cNvPr>
          <p:cNvSpPr txBox="1"/>
          <p:nvPr/>
        </p:nvSpPr>
        <p:spPr>
          <a:xfrm>
            <a:off x="6765728" y="2475245"/>
            <a:ext cx="6094476" cy="1294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, 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4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4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b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a;</a:t>
            </a:r>
            <a:endParaRPr lang="en-US" sz="1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c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b;</a:t>
            </a:r>
            <a:endParaRPr lang="en-US" sz="1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4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B2F709D-2CFD-F261-DE60-553D893D1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02" y="4098724"/>
            <a:ext cx="4102311" cy="149232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28BC564-30AF-EBFE-E0F4-B1D2AE42E4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417" y="3933351"/>
            <a:ext cx="3544703" cy="162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03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34D5B-FA3F-7844-6DDE-D353B7FE8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Неблокирующее присваивание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9529C-0CA4-531D-4971-F337D6B512C3}"/>
              </a:ext>
            </a:extLst>
          </p:cNvPr>
          <p:cNvSpPr txBox="1"/>
          <p:nvPr/>
        </p:nvSpPr>
        <p:spPr>
          <a:xfrm>
            <a:off x="838200" y="2763827"/>
            <a:ext cx="41856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b, c;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 &lt;= c;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&lt;= a | b;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&lt;= b | a;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8C9A64-19BD-507F-7B02-2EE557B54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866" y="1868384"/>
            <a:ext cx="6186678" cy="455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17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B24C4-5A94-4080-E2AD-2588BDB8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Блокирующее присваивание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2B8F40-763C-4CF5-33DB-2934B01A7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941" y="1865609"/>
            <a:ext cx="7436819" cy="45350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FB9164-183D-3CFE-3856-4C53E3264FBA}"/>
              </a:ext>
            </a:extLst>
          </p:cNvPr>
          <p:cNvSpPr txBox="1"/>
          <p:nvPr/>
        </p:nvSpPr>
        <p:spPr>
          <a:xfrm>
            <a:off x="569214" y="2029016"/>
            <a:ext cx="39204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b, c;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 = c;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b = a | b;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 = b | a;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918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_59">
            <a:extLst>
              <a:ext uri="{FF2B5EF4-FFF2-40B4-BE49-F238E27FC236}">
                <a16:creationId xmlns:a16="http://schemas.microsoft.com/office/drawing/2014/main" id="{848C956B-CDEB-73B3-565D-17F356984436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277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en-US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Verilog: reg (</a:t>
            </a:r>
            <a:r>
              <a:rPr lang="ru-RU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комбинационная логика)</a:t>
            </a:r>
            <a:endParaRPr sz="3225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line_60">
            <a:extLst>
              <a:ext uri="{FF2B5EF4-FFF2-40B4-BE49-F238E27FC236}">
                <a16:creationId xmlns:a16="http://schemas.microsoft.com/office/drawing/2014/main" id="{980F1AE1-D38D-367E-5253-4190B81FD0EC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11277600" cy="0"/>
          </a:xfrm>
          <a:prstGeom prst="line">
            <a:avLst/>
          </a:prstGeom>
          <a:noFill/>
          <a:ln w="9525">
            <a:solidFill>
              <a:srgbClr val="B9C4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4D8863-DD33-0CC9-4F57-97F4DBBB0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3297"/>
            <a:ext cx="11277600" cy="468050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46F39C-A784-F530-3F42-31D3679C6AB5}"/>
              </a:ext>
            </a:extLst>
          </p:cNvPr>
          <p:cNvSpPr/>
          <p:nvPr/>
        </p:nvSpPr>
        <p:spPr>
          <a:xfrm>
            <a:off x="7207250" y="2190750"/>
            <a:ext cx="2260600" cy="2984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04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_59">
            <a:extLst>
              <a:ext uri="{FF2B5EF4-FFF2-40B4-BE49-F238E27FC236}">
                <a16:creationId xmlns:a16="http://schemas.microsoft.com/office/drawing/2014/main" id="{CD54BA30-66A2-130A-09FB-617F70A783D1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277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en-US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always @(*) </a:t>
            </a:r>
            <a:r>
              <a:rPr lang="ru-RU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или</a:t>
            </a:r>
            <a:r>
              <a:rPr lang="en-US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 assign?</a:t>
            </a:r>
            <a:endParaRPr sz="3225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line_60">
            <a:extLst>
              <a:ext uri="{FF2B5EF4-FFF2-40B4-BE49-F238E27FC236}">
                <a16:creationId xmlns:a16="http://schemas.microsoft.com/office/drawing/2014/main" id="{BF207CA6-2DC7-6350-1C51-10BC90C70204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11277600" cy="0"/>
          </a:xfrm>
          <a:prstGeom prst="line">
            <a:avLst/>
          </a:prstGeom>
          <a:noFill/>
          <a:ln w="9525">
            <a:solidFill>
              <a:srgbClr val="B9C4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809006-19C0-CF81-718A-E8EA855B7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407252"/>
            <a:ext cx="11277600" cy="455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95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4B89-D062-E267-5417-493B619B3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Условия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0BE2F-EC69-AB63-2427-78D51003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01850"/>
            <a:ext cx="10069704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90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_59">
            <a:extLst>
              <a:ext uri="{FF2B5EF4-FFF2-40B4-BE49-F238E27FC236}">
                <a16:creationId xmlns:a16="http://schemas.microsoft.com/office/drawing/2014/main" id="{74FC718E-F25E-4785-3B7F-9482D763BF8C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277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ru-RU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Мультиплексор</a:t>
            </a:r>
            <a:endParaRPr sz="3225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line_60">
            <a:extLst>
              <a:ext uri="{FF2B5EF4-FFF2-40B4-BE49-F238E27FC236}">
                <a16:creationId xmlns:a16="http://schemas.microsoft.com/office/drawing/2014/main" id="{C0F22F25-8A7C-F93C-4C28-859731E51A9B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11277600" cy="0"/>
          </a:xfrm>
          <a:prstGeom prst="line">
            <a:avLst/>
          </a:prstGeom>
          <a:noFill/>
          <a:ln w="9525">
            <a:solidFill>
              <a:srgbClr val="B9C4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 descr="Multiplexing">
            <a:extLst>
              <a:ext uri="{FF2B5EF4-FFF2-40B4-BE49-F238E27FC236}">
                <a16:creationId xmlns:a16="http://schemas.microsoft.com/office/drawing/2014/main" id="{16EFC055-A8B0-249E-CA72-FE86B1889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362" y="1359461"/>
            <a:ext cx="3992563" cy="1559467"/>
          </a:xfrm>
          <a:prstGeom prst="rect">
            <a:avLst/>
          </a:prstGeom>
        </p:spPr>
      </p:pic>
      <p:pic>
        <p:nvPicPr>
          <p:cNvPr id="14" name="Picture 13" descr="Multiplexer">
            <a:extLst>
              <a:ext uri="{FF2B5EF4-FFF2-40B4-BE49-F238E27FC236}">
                <a16:creationId xmlns:a16="http://schemas.microsoft.com/office/drawing/2014/main" id="{EC5101C1-206D-5B18-1AF6-F350DC858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362" y="3302509"/>
            <a:ext cx="4154488" cy="31141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14BCC87-D19C-A8E1-B836-67D5D008EB3F}"/>
              </a:ext>
            </a:extLst>
          </p:cNvPr>
          <p:cNvSpPr txBox="1"/>
          <p:nvPr/>
        </p:nvSpPr>
        <p:spPr>
          <a:xfrm>
            <a:off x="1117600" y="1785535"/>
            <a:ext cx="2692400" cy="195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b,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 &lt;= a;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 &lt;= b;</a:t>
            </a: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AD3AF8-52FC-D4BF-1C94-D3A726E97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733" y="3924299"/>
            <a:ext cx="2110614" cy="227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552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3AD9DA-726B-4724-7613-19F4F6880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2403838"/>
            <a:ext cx="11106150" cy="3300072"/>
          </a:xfrm>
          <a:prstGeom prst="rect">
            <a:avLst/>
          </a:prstGeom>
        </p:spPr>
      </p:pic>
      <p:sp>
        <p:nvSpPr>
          <p:cNvPr id="7" name="text_59">
            <a:extLst>
              <a:ext uri="{FF2B5EF4-FFF2-40B4-BE49-F238E27FC236}">
                <a16:creationId xmlns:a16="http://schemas.microsoft.com/office/drawing/2014/main" id="{07A2089F-9CB5-B4C4-4B97-3E0178C3FAB6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277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ru-RU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Условия</a:t>
            </a:r>
            <a:r>
              <a:rPr lang="en-US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: case</a:t>
            </a:r>
            <a:endParaRPr sz="3225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line_60">
            <a:extLst>
              <a:ext uri="{FF2B5EF4-FFF2-40B4-BE49-F238E27FC236}">
                <a16:creationId xmlns:a16="http://schemas.microsoft.com/office/drawing/2014/main" id="{DB25D769-55CF-3BEB-C38E-D8DEBD594634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11277600" cy="0"/>
          </a:xfrm>
          <a:prstGeom prst="line">
            <a:avLst/>
          </a:prstGeom>
          <a:noFill/>
          <a:ln w="9525">
            <a:solidFill>
              <a:srgbClr val="B9C4CC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8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683DB4-6096-4820-1DCA-81FE3556D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655" y="1475587"/>
            <a:ext cx="9903646" cy="5024053"/>
          </a:xfrm>
          <a:prstGeom prst="rect">
            <a:avLst/>
          </a:prstGeom>
        </p:spPr>
      </p:pic>
      <p:sp>
        <p:nvSpPr>
          <p:cNvPr id="7" name="text_59">
            <a:extLst>
              <a:ext uri="{FF2B5EF4-FFF2-40B4-BE49-F238E27FC236}">
                <a16:creationId xmlns:a16="http://schemas.microsoft.com/office/drawing/2014/main" id="{8FED87AD-1102-E61C-9325-08B6E7EB07F2}"/>
              </a:ext>
            </a:extLst>
          </p:cNvPr>
          <p:cNvSpPr>
            <a:spLocks noGrp="1"/>
          </p:cNvSpPr>
          <p:nvPr/>
        </p:nvSpPr>
        <p:spPr>
          <a:xfrm>
            <a:off x="514350" y="381000"/>
            <a:ext cx="11277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ru-RU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Условия</a:t>
            </a:r>
            <a:r>
              <a:rPr lang="en-US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: </a:t>
            </a:r>
            <a:r>
              <a:rPr lang="ru-RU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тернарный оператор</a:t>
            </a:r>
            <a:endParaRPr sz="3225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line_60">
            <a:extLst>
              <a:ext uri="{FF2B5EF4-FFF2-40B4-BE49-F238E27FC236}">
                <a16:creationId xmlns:a16="http://schemas.microsoft.com/office/drawing/2014/main" id="{617744A7-099C-939D-0458-D997DD1BC2C3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11277600" cy="0"/>
          </a:xfrm>
          <a:prstGeom prst="line">
            <a:avLst/>
          </a:prstGeom>
          <a:noFill/>
          <a:ln w="9525">
            <a:solidFill>
              <a:srgbClr val="B9C4CC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70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_59">
            <a:extLst>
              <a:ext uri="{FF2B5EF4-FFF2-40B4-BE49-F238E27FC236}">
                <a16:creationId xmlns:a16="http://schemas.microsoft.com/office/drawing/2014/main" id="{83C46B83-65AC-7C3E-BC20-F2C3C69CA14F}"/>
              </a:ext>
            </a:extLst>
          </p:cNvPr>
          <p:cNvSpPr>
            <a:spLocks noGrp="1"/>
          </p:cNvSpPr>
          <p:nvPr/>
        </p:nvSpPr>
        <p:spPr>
          <a:xfrm>
            <a:off x="501650" y="187327"/>
            <a:ext cx="112776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ru-RU" sz="3225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Модули</a:t>
            </a:r>
            <a:endParaRPr sz="3225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line_60">
            <a:extLst>
              <a:ext uri="{FF2B5EF4-FFF2-40B4-BE49-F238E27FC236}">
                <a16:creationId xmlns:a16="http://schemas.microsoft.com/office/drawing/2014/main" id="{FA52A4E1-96BE-2566-4DE7-2C9F3AF06D49}"/>
              </a:ext>
            </a:extLst>
          </p:cNvPr>
          <p:cNvSpPr>
            <a:spLocks noGrp="1"/>
          </p:cNvSpPr>
          <p:nvPr/>
        </p:nvSpPr>
        <p:spPr>
          <a:xfrm>
            <a:off x="444500" y="939802"/>
            <a:ext cx="11277600" cy="0"/>
          </a:xfrm>
          <a:prstGeom prst="line">
            <a:avLst/>
          </a:prstGeom>
          <a:noFill/>
          <a:ln w="9525">
            <a:solidFill>
              <a:srgbClr val="B9C4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5C972E-5D2E-1BEF-210F-BF8BED4FE768}"/>
              </a:ext>
            </a:extLst>
          </p:cNvPr>
          <p:cNvSpPr txBox="1"/>
          <p:nvPr/>
        </p:nvSpPr>
        <p:spPr>
          <a:xfrm>
            <a:off x="457200" y="1634005"/>
            <a:ext cx="2292350" cy="141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module_name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(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&lt;port_0&gt;,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&lt;port_1&gt;,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US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module_description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_59">
            <a:extLst>
              <a:ext uri="{FF2B5EF4-FFF2-40B4-BE49-F238E27FC236}">
                <a16:creationId xmlns:a16="http://schemas.microsoft.com/office/drawing/2014/main" id="{CEB384F0-F55C-3E7C-E8C9-ABD3CBE45363}"/>
              </a:ext>
            </a:extLst>
          </p:cNvPr>
          <p:cNvSpPr>
            <a:spLocks noGrp="1"/>
          </p:cNvSpPr>
          <p:nvPr/>
        </p:nvSpPr>
        <p:spPr>
          <a:xfrm>
            <a:off x="501650" y="1208144"/>
            <a:ext cx="2755900" cy="4261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ru-RU" sz="1600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Определение модуля</a:t>
            </a:r>
            <a:endParaRPr sz="1600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_59">
            <a:extLst>
              <a:ext uri="{FF2B5EF4-FFF2-40B4-BE49-F238E27FC236}">
                <a16:creationId xmlns:a16="http://schemas.microsoft.com/office/drawing/2014/main" id="{DEC03D5F-B00F-8B53-103A-FBD42E4C4F61}"/>
              </a:ext>
            </a:extLst>
          </p:cNvPr>
          <p:cNvSpPr>
            <a:spLocks noGrp="1"/>
          </p:cNvSpPr>
          <p:nvPr/>
        </p:nvSpPr>
        <p:spPr>
          <a:xfrm>
            <a:off x="3594100" y="1208144"/>
            <a:ext cx="2755900" cy="4261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ru-RU" sz="1600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Пример 1</a:t>
            </a:r>
            <a:r>
              <a:rPr lang="en-US" sz="1600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: Non-ANSI style</a:t>
            </a:r>
            <a:endParaRPr sz="1600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C29D91-886E-BD79-F6F9-E849A433FDFB}"/>
              </a:ext>
            </a:extLst>
          </p:cNvPr>
          <p:cNvSpPr txBox="1"/>
          <p:nvPr/>
        </p:nvSpPr>
        <p:spPr>
          <a:xfrm>
            <a:off x="3559175" y="1634005"/>
            <a:ext cx="2825750" cy="141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adder(a, b, sum);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 </a:t>
            </a:r>
            <a:r>
              <a:rPr lang="en-US" sz="1100" b="0" dirty="0">
                <a:effectLst/>
                <a:latin typeface="Consolas" panose="020B0609020204030204" pitchFamily="49" charset="0"/>
              </a:rPr>
              <a:t>[5:0]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b;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[6:0]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sum;</a:t>
            </a:r>
          </a:p>
          <a:p>
            <a:pPr>
              <a:lnSpc>
                <a:spcPct val="113095"/>
              </a:lnSpc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a + b;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E8A6EB-A963-C565-8211-03D4723EEE0B}"/>
              </a:ext>
            </a:extLst>
          </p:cNvPr>
          <p:cNvSpPr txBox="1"/>
          <p:nvPr/>
        </p:nvSpPr>
        <p:spPr>
          <a:xfrm>
            <a:off x="7135812" y="1634005"/>
            <a:ext cx="2873375" cy="141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adder(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[5:0]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a,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[5:0]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b,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[6:0]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a + b;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_59">
            <a:extLst>
              <a:ext uri="{FF2B5EF4-FFF2-40B4-BE49-F238E27FC236}">
                <a16:creationId xmlns:a16="http://schemas.microsoft.com/office/drawing/2014/main" id="{AAFDEDF0-71A9-EECF-C9B0-F10432D5F961}"/>
              </a:ext>
            </a:extLst>
          </p:cNvPr>
          <p:cNvSpPr>
            <a:spLocks noGrp="1"/>
          </p:cNvSpPr>
          <p:nvPr/>
        </p:nvSpPr>
        <p:spPr>
          <a:xfrm>
            <a:off x="7194550" y="1207882"/>
            <a:ext cx="2755900" cy="4261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ru-RU" sz="1600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Пример </a:t>
            </a:r>
            <a:r>
              <a:rPr lang="en-US" sz="1600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2: ANSI style</a:t>
            </a:r>
            <a:endParaRPr sz="1600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_59">
            <a:extLst>
              <a:ext uri="{FF2B5EF4-FFF2-40B4-BE49-F238E27FC236}">
                <a16:creationId xmlns:a16="http://schemas.microsoft.com/office/drawing/2014/main" id="{4140CBEC-D2A4-1717-1E08-CECC3D9083E1}"/>
              </a:ext>
            </a:extLst>
          </p:cNvPr>
          <p:cNvSpPr>
            <a:spLocks noGrp="1"/>
          </p:cNvSpPr>
          <p:nvPr/>
        </p:nvSpPr>
        <p:spPr>
          <a:xfrm>
            <a:off x="444500" y="3525369"/>
            <a:ext cx="2755900" cy="42612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lang="ru-RU" sz="1600" b="1" dirty="0">
                <a:solidFill>
                  <a:srgbClr val="182530"/>
                </a:solidFill>
                <a:latin typeface="Arial"/>
                <a:ea typeface="Arial"/>
                <a:cs typeface="Arial"/>
              </a:rPr>
              <a:t>Создание экземпляра</a:t>
            </a:r>
            <a:endParaRPr sz="1600" b="1" dirty="0">
              <a:solidFill>
                <a:srgbClr val="1825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A82C1A-CE8C-4ADA-DD5A-37180FAC5F4C}"/>
              </a:ext>
            </a:extLst>
          </p:cNvPr>
          <p:cNvSpPr txBox="1"/>
          <p:nvPr/>
        </p:nvSpPr>
        <p:spPr>
          <a:xfrm>
            <a:off x="444500" y="3951492"/>
            <a:ext cx="1987550" cy="2184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top;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 </a:t>
            </a:r>
            <a:r>
              <a:rPr lang="en-US" sz="1100" dirty="0">
                <a:latin typeface="Consolas" panose="020B0609020204030204" pitchFamily="49" charset="0"/>
              </a:rPr>
              <a:t>[5:0]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b;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[6:0]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sum;</a:t>
            </a:r>
          </a:p>
          <a:p>
            <a:pPr>
              <a:lnSpc>
                <a:spcPct val="113095"/>
              </a:lnSpc>
              <a:buNone/>
            </a:pPr>
            <a:b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adder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u1</a:t>
            </a: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.a(a),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.b(b),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.sum(sum)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r>
              <a:rPr lang="en-US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7C3561-573C-E041-9469-76ED37C840B0}"/>
              </a:ext>
            </a:extLst>
          </p:cNvPr>
          <p:cNvSpPr txBox="1"/>
          <p:nvPr/>
        </p:nvSpPr>
        <p:spPr>
          <a:xfrm>
            <a:off x="2832100" y="3951492"/>
            <a:ext cx="2266950" cy="1359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top;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dirty="0">
                <a:latin typeface="Consolas" panose="020B0609020204030204" pitchFamily="49" charset="0"/>
              </a:rPr>
              <a:t> [5:0]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a, b;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dirty="0">
                <a:latin typeface="Consolas" panose="020B0609020204030204" pitchFamily="49" charset="0"/>
              </a:rPr>
              <a:t>[6:0]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sum;</a:t>
            </a: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adder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(a, b, sum);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E867C0-ADB9-F771-D41C-20369E194A69}"/>
              </a:ext>
            </a:extLst>
          </p:cNvPr>
          <p:cNvSpPr txBox="1"/>
          <p:nvPr/>
        </p:nvSpPr>
        <p:spPr>
          <a:xfrm>
            <a:off x="5499100" y="3884412"/>
            <a:ext cx="5094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Обратите внимание что драйверов входов могут быть как переменные </a:t>
            </a:r>
            <a:r>
              <a:rPr lang="en-US" dirty="0"/>
              <a:t>reg, </a:t>
            </a:r>
            <a:r>
              <a:rPr lang="ru-RU" dirty="0"/>
              <a:t>так и</a:t>
            </a:r>
            <a:r>
              <a:rPr lang="en-US" dirty="0"/>
              <a:t> wire, </a:t>
            </a:r>
            <a:r>
              <a:rPr lang="ru-RU" dirty="0"/>
              <a:t>но выходы могут быть подключены только к </a:t>
            </a:r>
            <a:r>
              <a:rPr lang="en-US" dirty="0"/>
              <a:t>wire.</a:t>
            </a:r>
          </a:p>
        </p:txBody>
      </p:sp>
    </p:spTree>
    <p:extLst>
      <p:ext uri="{BB962C8B-B14F-4D97-AF65-F5344CB8AC3E}">
        <p14:creationId xmlns:p14="http://schemas.microsoft.com/office/powerpoint/2010/main" val="2683311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9A4DB6-1DF2-5B3C-0D35-21B3B5800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50" y="621405"/>
            <a:ext cx="10358907" cy="61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72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820A5B-7BC4-F4CA-22E8-634B38EF2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76" y="542387"/>
            <a:ext cx="10611647" cy="631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78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0998A-4187-AED0-19E2-66F95C584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23" y="209919"/>
            <a:ext cx="10128328" cy="643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5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66D9-DE1A-5093-AF9A-998FCB5D2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860"/>
            <a:ext cx="10515600" cy="1325563"/>
          </a:xfrm>
        </p:spPr>
        <p:txBody>
          <a:bodyPr/>
          <a:lstStyle/>
          <a:p>
            <a:r>
              <a:rPr lang="ru-RU" dirty="0"/>
              <a:t>Инициализация регистров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872549-F2F3-6CFC-8F1D-B8F49A9BD8C1}"/>
              </a:ext>
            </a:extLst>
          </p:cNvPr>
          <p:cNvSpPr txBox="1"/>
          <p:nvPr/>
        </p:nvSpPr>
        <p:spPr>
          <a:xfrm>
            <a:off x="838200" y="1861755"/>
            <a:ext cx="2863850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[PW_A-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a = {PW_A{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02059-25D2-2FC6-4747-C27095BFE063}"/>
              </a:ext>
            </a:extLst>
          </p:cNvPr>
          <p:cNvSpPr txBox="1"/>
          <p:nvPr/>
        </p:nvSpPr>
        <p:spPr>
          <a:xfrm>
            <a:off x="838200" y="2780016"/>
            <a:ext cx="2863850" cy="44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[PW_A-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a;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{PW_A{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B88130-4D7C-5C82-70BF-688C5D2DF65F}"/>
              </a:ext>
            </a:extLst>
          </p:cNvPr>
          <p:cNvSpPr txBox="1"/>
          <p:nvPr/>
        </p:nvSpPr>
        <p:spPr>
          <a:xfrm>
            <a:off x="838200" y="1492423"/>
            <a:ext cx="2939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статическая инициализация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EAB02-C633-5C7A-71AB-CB526E97C512}"/>
              </a:ext>
            </a:extLst>
          </p:cNvPr>
          <p:cNvSpPr txBox="1"/>
          <p:nvPr/>
        </p:nvSpPr>
        <p:spPr>
          <a:xfrm>
            <a:off x="838200" y="2410684"/>
            <a:ext cx="12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блок </a:t>
            </a:r>
            <a:r>
              <a:rPr lang="en-US" dirty="0"/>
              <a:t>initial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02FB3A-7190-D1BC-86E3-53D009DAFA7D}"/>
              </a:ext>
            </a:extLst>
          </p:cNvPr>
          <p:cNvSpPr txBox="1"/>
          <p:nvPr/>
        </p:nvSpPr>
        <p:spPr>
          <a:xfrm>
            <a:off x="838200" y="3478809"/>
            <a:ext cx="304165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FF0000"/>
                </a:solidFill>
              </a:rPr>
              <a:t>Для FPGA </a:t>
            </a:r>
            <a:r>
              <a:rPr lang="ru-RU" sz="1050" dirty="0">
                <a:solidFill>
                  <a:srgbClr val="FF0000"/>
                </a:solidFill>
              </a:rPr>
              <a:t>данные инициализации будут включены в прошивку и загружены во время конфигурации </a:t>
            </a:r>
            <a:r>
              <a:rPr lang="en-US" sz="1050" dirty="0">
                <a:solidFill>
                  <a:srgbClr val="FF0000"/>
                </a:solidFill>
              </a:rPr>
              <a:t>FPGA.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FF0000"/>
                </a:solidFill>
              </a:rPr>
              <a:t>Реализация данного механизма зависит от производителя и серии плат. Например в </a:t>
            </a:r>
            <a:r>
              <a:rPr lang="en-US" sz="1050" dirty="0">
                <a:solidFill>
                  <a:srgbClr val="FF0000"/>
                </a:solidFill>
              </a:rPr>
              <a:t>Cyclone IV </a:t>
            </a:r>
            <a:r>
              <a:rPr lang="ru-RU" sz="1050" dirty="0">
                <a:solidFill>
                  <a:srgbClr val="FF0000"/>
                </a:solidFill>
              </a:rPr>
              <a:t>все регистры изначально выставляются в 0, но некоторые входы</a:t>
            </a:r>
            <a:r>
              <a:rPr lang="en-US" sz="1050" dirty="0">
                <a:solidFill>
                  <a:srgbClr val="FF0000"/>
                </a:solidFill>
              </a:rPr>
              <a:t>/</a:t>
            </a:r>
            <a:r>
              <a:rPr lang="ru-RU" sz="1050" dirty="0">
                <a:solidFill>
                  <a:srgbClr val="FF0000"/>
                </a:solidFill>
              </a:rPr>
              <a:t>выходы инвертируются так что бы функционально соответствовать коду.</a:t>
            </a:r>
            <a:endParaRPr lang="en-US" sz="1050" dirty="0">
              <a:solidFill>
                <a:srgbClr val="FF0000"/>
              </a:solidFill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050" dirty="0">
                <a:solidFill>
                  <a:srgbClr val="FF0000"/>
                </a:solidFill>
              </a:rPr>
              <a:t>При проектировании </a:t>
            </a:r>
            <a:r>
              <a:rPr lang="en-US" sz="1050" dirty="0">
                <a:solidFill>
                  <a:srgbClr val="FF0000"/>
                </a:solidFill>
              </a:rPr>
              <a:t>ASIC </a:t>
            </a:r>
            <a:r>
              <a:rPr lang="ru-RU" sz="1050" dirty="0">
                <a:solidFill>
                  <a:srgbClr val="FF0000"/>
                </a:solidFill>
              </a:rPr>
              <a:t>подобная инициализация работает только в симуляции и не переносится в реальную схему.</a:t>
            </a:r>
            <a:endParaRPr lang="en-US" sz="105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201C0A-560F-8BE3-700F-973C2B27452A}"/>
              </a:ext>
            </a:extLst>
          </p:cNvPr>
          <p:cNvSpPr txBox="1"/>
          <p:nvPr/>
        </p:nvSpPr>
        <p:spPr>
          <a:xfrm>
            <a:off x="5045752" y="1492423"/>
            <a:ext cx="206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Синхронный </a:t>
            </a:r>
            <a:r>
              <a:rPr lang="en-US" dirty="0"/>
              <a:t>reset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C4F9F1-1B01-72BE-3F54-4A9214367EAD}"/>
              </a:ext>
            </a:extLst>
          </p:cNvPr>
          <p:cNvSpPr txBox="1"/>
          <p:nvPr/>
        </p:nvSpPr>
        <p:spPr>
          <a:xfrm>
            <a:off x="8392117" y="1492423"/>
            <a:ext cx="206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Асинхронный </a:t>
            </a:r>
            <a:r>
              <a:rPr lang="en-US" dirty="0"/>
              <a:t>reset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6616D6-34E3-80B0-1963-8A5EF5BF6A05}"/>
              </a:ext>
            </a:extLst>
          </p:cNvPr>
          <p:cNvSpPr txBox="1"/>
          <p:nvPr/>
        </p:nvSpPr>
        <p:spPr>
          <a:xfrm>
            <a:off x="5063490" y="1915548"/>
            <a:ext cx="2546350" cy="1359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q;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(reset)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q &lt;=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q &lt;= d;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899C3E-24F1-1040-B60C-D2B68D01DF6F}"/>
              </a:ext>
            </a:extLst>
          </p:cNvPr>
          <p:cNvSpPr txBox="1"/>
          <p:nvPr/>
        </p:nvSpPr>
        <p:spPr>
          <a:xfrm>
            <a:off x="8358785" y="1915548"/>
            <a:ext cx="3833215" cy="1176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negedge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reset_n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reset_n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q &lt;=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q &lt;= d;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3757940-909A-7EDC-418E-3446D62EA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46" y="3375671"/>
            <a:ext cx="2501025" cy="155561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5546CD8-4A24-11DD-45DC-773BE84A5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111" y="3275151"/>
            <a:ext cx="1952751" cy="121380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988267-D8F9-0A70-80A6-A114BB800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983" y="4931283"/>
            <a:ext cx="2228555" cy="160050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A37DB7A-DFED-4D01-BBA2-2FCEDC0C1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111" y="4931283"/>
            <a:ext cx="2244829" cy="162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222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C39FF-1962-CEE3-2AA5-7BD1A7772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0"/>
            <a:ext cx="10515600" cy="1325563"/>
          </a:xfrm>
        </p:spPr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ru-RU" dirty="0"/>
              <a:t>счетчик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2047D5-EE8F-B5EF-590D-74512B130D6F}"/>
              </a:ext>
            </a:extLst>
          </p:cNvPr>
          <p:cNvSpPr txBox="1"/>
          <p:nvPr/>
        </p:nvSpPr>
        <p:spPr>
          <a:xfrm>
            <a:off x="565150" y="1272873"/>
            <a:ext cx="6096000" cy="4829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 (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rst_i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cnt_o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P_PERIOD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PW_CNT = $clog2(P_PERIOD);</a:t>
            </a: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rst_i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[PW_CNT-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cnt_o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[PW_CNT-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{PW_CNT{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rst_i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{PW_CNT{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P_PERIOD-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{PW_CNT{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cnt_o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1800C7-3CC7-DB51-33E3-C648A8327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138" y="2717800"/>
            <a:ext cx="6532124" cy="222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22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9CF39-FF11-45C8-6263-919B4600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42875"/>
            <a:ext cx="10515600" cy="1325563"/>
          </a:xfrm>
        </p:spPr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ru-RU" dirty="0"/>
              <a:t>счетчик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5C822-B2C9-609A-DC13-D56C0809BA67}"/>
              </a:ext>
            </a:extLst>
          </p:cNvPr>
          <p:cNvSpPr txBox="1"/>
          <p:nvPr/>
        </p:nvSpPr>
        <p:spPr>
          <a:xfrm>
            <a:off x="692150" y="1533223"/>
            <a:ext cx="6096000" cy="4829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counter (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rst_i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cnt_o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P_PERIOD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localparam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PW_CNT = $clog2(P_PERIOD);</a:t>
            </a: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rst_i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[PW_CNT-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cnt_o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[PW_CNT-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{PW_CNT{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rst_i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{PW_CNT{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P_PERIOD-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{PW_CNT{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cnt_o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cnt_r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2B1FF3-47F4-08BF-14BB-95E3292FF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00" y="2057723"/>
            <a:ext cx="7071916" cy="326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73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4DD63-5EA5-56A1-28C1-CB6822EA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/>
          <a:lstStyle/>
          <a:p>
            <a:r>
              <a:rPr lang="ru-RU" dirty="0"/>
              <a:t>Пример поморгать диодом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5FDFF-E989-8346-F18A-C8C264231305}"/>
              </a:ext>
            </a:extLst>
          </p:cNvPr>
          <p:cNvSpPr txBox="1"/>
          <p:nvPr/>
        </p:nvSpPr>
        <p:spPr>
          <a:xfrm>
            <a:off x="838200" y="2116138"/>
            <a:ext cx="6096000" cy="3733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module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led_blink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led1,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led2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PERIOD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0000FF"/>
                </a:solidFill>
                <a:latin typeface="Consolas" panose="020B0609020204030204" pitchFamily="49" charset="0"/>
              </a:rPr>
              <a:t>localparam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BW_CNT = $clog2(PERIOD);</a:t>
            </a: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[BW_CNT: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{BW_CNT{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==PERIOD-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{BW_CNT{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}};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BAD16-5581-E401-AB50-6A2B962B4A0B}"/>
              </a:ext>
            </a:extLst>
          </p:cNvPr>
          <p:cNvSpPr txBox="1"/>
          <p:nvPr/>
        </p:nvSpPr>
        <p:spPr>
          <a:xfrm>
            <a:off x="6096000" y="2433638"/>
            <a:ext cx="6096000" cy="282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wire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clk_en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clk_en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cnt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==PERIOD-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led1_state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1'b0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reg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led2_state = </a:t>
            </a:r>
            <a:r>
              <a:rPr lang="en-US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1'b1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always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@(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posedge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clk)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clk_en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begin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led1_state &lt;= ~led1_state;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led2_state &lt;= ~led2_state;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led1 = led1_state;</a:t>
            </a: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assign</a:t>
            </a:r>
            <a: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led2 = led2_state;</a:t>
            </a:r>
          </a:p>
          <a:p>
            <a:pPr>
              <a:lnSpc>
                <a:spcPct val="113095"/>
              </a:lnSpc>
              <a:buNone/>
            </a:pP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endmodule</a:t>
            </a: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61AC7-58C0-E621-9C35-44053BAA120E}"/>
              </a:ext>
            </a:extLst>
          </p:cNvPr>
          <p:cNvSpPr txBox="1"/>
          <p:nvPr/>
        </p:nvSpPr>
        <p:spPr>
          <a:xfrm>
            <a:off x="838200" y="5772492"/>
            <a:ext cx="2721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Генерируем сигнал </a:t>
            </a:r>
            <a:r>
              <a:rPr lang="en-US" dirty="0" err="1"/>
              <a:t>clk_en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273B4-344C-EBF9-1B3B-374F3AD44BE9}"/>
              </a:ext>
            </a:extLst>
          </p:cNvPr>
          <p:cNvSpPr txBox="1"/>
          <p:nvPr/>
        </p:nvSpPr>
        <p:spPr>
          <a:xfrm>
            <a:off x="6096000" y="5679088"/>
            <a:ext cx="448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Переключаемся только если </a:t>
            </a:r>
            <a:r>
              <a:rPr lang="en-US" dirty="0" err="1"/>
              <a:t>clk_en</a:t>
            </a:r>
            <a:r>
              <a:rPr lang="en-US" dirty="0"/>
              <a:t> </a:t>
            </a:r>
            <a:r>
              <a:rPr lang="ru-RU" dirty="0"/>
              <a:t>активен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7F7043-4F48-7C43-C911-E84289A2B063}"/>
              </a:ext>
            </a:extLst>
          </p:cNvPr>
          <p:cNvSpPr txBox="1"/>
          <p:nvPr/>
        </p:nvSpPr>
        <p:spPr>
          <a:xfrm>
            <a:off x="838200" y="1254423"/>
            <a:ext cx="551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Задача</a:t>
            </a:r>
            <a:r>
              <a:rPr lang="en-US" dirty="0"/>
              <a:t>: </a:t>
            </a:r>
            <a:r>
              <a:rPr lang="ru-RU" dirty="0"/>
              <a:t>включать</a:t>
            </a:r>
            <a:r>
              <a:rPr lang="en-US" dirty="0"/>
              <a:t>/</a:t>
            </a:r>
            <a:r>
              <a:rPr lang="ru-RU" dirty="0"/>
              <a:t>выключать светодиод раз в секунду.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171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084E-1F80-5D3F-6AE7-872ECD15C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Избегайте непреднамеренного использования защелок (</a:t>
            </a:r>
            <a:r>
              <a:rPr lang="en-US" sz="3600" dirty="0"/>
              <a:t>latches)</a:t>
            </a:r>
          </a:p>
        </p:txBody>
      </p:sp>
    </p:spTree>
    <p:extLst>
      <p:ext uri="{BB962C8B-B14F-4D97-AF65-F5344CB8AC3E}">
        <p14:creationId xmlns:p14="http://schemas.microsoft.com/office/powerpoint/2010/main" val="3331334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1752</Words>
  <Application>Microsoft Office PowerPoint</Application>
  <PresentationFormat>Widescreen</PresentationFormat>
  <Paragraphs>265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Office Theme</vt:lpstr>
      <vt:lpstr>Verilog syntax</vt:lpstr>
      <vt:lpstr>Языки описания аппаратуры</vt:lpstr>
      <vt:lpstr>Литералы</vt:lpstr>
      <vt:lpstr>Переменные</vt:lpstr>
      <vt:lpstr>Конкатенация</vt:lpstr>
      <vt:lpstr>PowerPoint Presentation</vt:lpstr>
      <vt:lpstr>PowerPoint Presentation</vt:lpstr>
      <vt:lpstr>Неблокирующее присваивание</vt:lpstr>
      <vt:lpstr>Блокирующее присваивание</vt:lpstr>
      <vt:lpstr>PowerPoint Presentation</vt:lpstr>
      <vt:lpstr>PowerPoint Presentation</vt:lpstr>
      <vt:lpstr>Условия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Инициализация регистров</vt:lpstr>
      <vt:lpstr>Пример: счетчик</vt:lpstr>
      <vt:lpstr>Пример: счетчик</vt:lpstr>
      <vt:lpstr>Пример поморгать диодом</vt:lpstr>
      <vt:lpstr>Избегайте непреднамеренного использования защелок (latches)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саша буссе</dc:creator>
  <cp:lastModifiedBy>саша буссе</cp:lastModifiedBy>
  <cp:revision>51</cp:revision>
  <dcterms:created xsi:type="dcterms:W3CDTF">2025-10-31T18:28:41Z</dcterms:created>
  <dcterms:modified xsi:type="dcterms:W3CDTF">2026-10-05T22:14:02Z</dcterms:modified>
</cp:coreProperties>
</file>